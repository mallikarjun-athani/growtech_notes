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outcome, not the syllabus. Say: 'By the end of this session you will be able to explain exactly what happens between pressing Enter and a page appearing. Everything we build for the next eight weeks is a variation on that one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60 seconds. It tells the room this session has a destination, which settles the anxious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the map before the details. Say: 'Whenever you are confused in the next eight weeks, come back to this picture and ask — which of these three boxes am I working on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name three clients they used this morning. Someone will say WhatsApp — good, a mobile app is a client too. Emphasise: the client runs on the USER's device, which is why we can never fully trust it (comes back on the responsibilities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with no technical words first. Then ask THEM to tell you which part is the client. Do not move on until someone in the room says it back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question: 'Is a server a special machine?' No — any computer can be a server. What makes it one is that it sits there waiting to answer requests. Your own laptop becomes a server the moment you run node server.js.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security lesson hiding inside a friendly analogy. If customers could walk into the store room, they could take anything. Same with a database exposed to the browser. Say it plainly — they will remember the kitchen long after they forget the word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F12 demo here — it takes 90 seconds and converts the abstraction into something they have seen with their own eyes. Click one row and show the URL, the method, the status code and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go deeper than the phonebook analogy on Day 1. Recursive resolvers, root servers and TTLs are week-seven material and will only cloud the picture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Stateless is the hard idea here. Analogy that works: it is like a shop assistant with no memory at all. Every time you walk up, you must say who you are again. That is why apps send a login token with every single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repeat test is the one they will actually remember. Ask: 'What happens if you refresh a page twice? Nothing. What happens if you submit a payment twice?' That lands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twice: 4xx is YOUR fault, 5xx is the SERVER's fault. When their code breaks in week three, this single distinction will tell them which file to open. It saves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₹120 question here: 'If the price lives in the frontend, what stops someone editing it to ₹1 before pressing Buy?' Nothing does. That is why the backend recalculates every price it is told. This single idea separates a student project from a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slowly, left to right, then follow the blue line back. Then say: 'That is it. That is the web. For the next eight weeks we are only learning how to write each of these boxes — starting with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capability, not on 'see you tomorrow'. Say: 'An hour ago some of you had never heard the word DNS. You can now explain the whole journey. That is the pace we keep.'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233"/>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7364D"/>
          </a:solidFill>
          <a:ln/>
        </p:spPr>
      </p:sp>
      <p:sp>
        <p:nvSpPr>
          <p:cNvPr id="3" name="Shape 1"/>
          <p:cNvSpPr/>
          <p:nvPr/>
        </p:nvSpPr>
        <p:spPr>
          <a:xfrm>
            <a:off x="10881360" y="4206240"/>
            <a:ext cx="3108960" cy="3108960"/>
          </a:xfrm>
          <a:prstGeom prst="ellipse">
            <a:avLst/>
          </a:prstGeom>
          <a:solidFill>
            <a:srgbClr val="17364D"/>
          </a:solidFill>
          <a:ln/>
        </p:spPr>
      </p:sp>
      <p:sp>
        <p:nvSpPr>
          <p:cNvPr id="4" name="Text 2"/>
          <p:cNvSpPr txBox="1"/>
          <p:nvPr/>
        </p:nvSpPr>
        <p:spPr>
          <a:xfrm>
            <a:off x="594360" y="1600200"/>
            <a:ext cx="8229600" cy="274320"/>
          </a:xfrm>
          <a:prstGeom prst="rect">
            <a:avLst/>
          </a:prstGeom>
          <a:noFill/>
          <a:ln/>
        </p:spPr>
        <p:txBody>
          <a:bodyPr wrap="square" lIns="0" tIns="0" rIns="0" bIns="0" rtlCol="0" anchor="ctr"/>
          <a:lstStyle/>
          <a:p>
            <a:pPr indent="0" marL="0">
              <a:buNone/>
            </a:pPr>
            <a:r>
              <a:rPr lang="en-US" sz="1200" b="1" spc="260" kern="0" dirty="0">
                <a:solidFill>
                  <a:srgbClr val="D97B29"/>
                </a:solidFill>
                <a:latin typeface="Calibri" pitchFamily="34" charset="0"/>
                <a:ea typeface="Calibri" pitchFamily="34" charset="-122"/>
                <a:cs typeface="Calibri" pitchFamily="34" charset="-120"/>
              </a:rPr>
              <a:t>DAY 1  ·  FOUNDATION SESSION</a:t>
            </a:r>
            <a:endParaRPr lang="en-US" sz="1200" dirty="0"/>
          </a:p>
        </p:txBody>
      </p:sp>
      <p:sp>
        <p:nvSpPr>
          <p:cNvPr id="5" name="Text 3"/>
          <p:cNvSpPr txBox="1"/>
          <p:nvPr/>
        </p:nvSpPr>
        <p:spPr>
          <a:xfrm>
            <a:off x="594360" y="1965960"/>
            <a:ext cx="877824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How the Web Works</a:t>
            </a:r>
            <a:endParaRPr lang="en-US" sz="6000" dirty="0"/>
          </a:p>
        </p:txBody>
      </p:sp>
      <p:sp>
        <p:nvSpPr>
          <p:cNvPr id="6" name="Text 4"/>
          <p:cNvSpPr txBox="1"/>
          <p:nvPr/>
        </p:nvSpPr>
        <p:spPr>
          <a:xfrm>
            <a:off x="594360" y="3401568"/>
            <a:ext cx="7863840" cy="457200"/>
          </a:xfrm>
          <a:prstGeom prst="rect">
            <a:avLst/>
          </a:prstGeom>
          <a:noFill/>
          <a:ln/>
        </p:spPr>
        <p:txBody>
          <a:bodyPr wrap="square" lIns="0" tIns="0" rIns="0" bIns="0" rtlCol="0" anchor="ctr"/>
          <a:lstStyle/>
          <a:p>
            <a:pPr indent="0" marL="0">
              <a:buNone/>
            </a:pPr>
            <a:r>
              <a:rPr lang="en-US" sz="1700" dirty="0">
                <a:solidFill>
                  <a:srgbClr val="AEC4D1"/>
                </a:solidFill>
                <a:latin typeface="Calibri" pitchFamily="34" charset="0"/>
                <a:ea typeface="Calibri" pitchFamily="34" charset="-122"/>
                <a:cs typeface="Calibri" pitchFamily="34" charset="-120"/>
              </a:rPr>
              <a:t>Understand the journey before you write a single line of code.</a:t>
            </a:r>
            <a:endParaRPr lang="en-US" sz="1700" dirty="0"/>
          </a:p>
        </p:txBody>
      </p:sp>
      <p:sp>
        <p:nvSpPr>
          <p:cNvPr id="7" name="Shape 5"/>
          <p:cNvSpPr/>
          <p:nvPr/>
        </p:nvSpPr>
        <p:spPr>
          <a:xfrm>
            <a:off x="594360" y="4224528"/>
            <a:ext cx="1783080" cy="475488"/>
          </a:xfrm>
          <a:prstGeom prst="roundRect">
            <a:avLst>
              <a:gd name="adj" fmla="val 50000"/>
            </a:avLst>
          </a:prstGeom>
          <a:solidFill>
            <a:srgbClr val="17364D"/>
          </a:solidFill>
          <a:ln w="15875">
            <a:solidFill>
              <a:srgbClr val="2E7DD1"/>
            </a:solidFill>
            <a:prstDash val="solid"/>
          </a:ln>
        </p:spPr>
      </p:sp>
      <p:sp>
        <p:nvSpPr>
          <p:cNvPr id="8" name="Text 6"/>
          <p:cNvSpPr txBox="1"/>
          <p:nvPr/>
        </p:nvSpPr>
        <p:spPr>
          <a:xfrm>
            <a:off x="594360" y="4224528"/>
            <a:ext cx="1783080" cy="475488"/>
          </a:xfrm>
          <a:prstGeom prst="rect">
            <a:avLst/>
          </a:prstGeom>
          <a:noFill/>
          <a:ln/>
        </p:spPr>
        <p:txBody>
          <a:bodyPr wrap="square" lIns="0" tIns="0" rIns="0" bIns="0" rtlCol="0" anchor="ctr"/>
          <a:lstStyle/>
          <a:p>
            <a:pPr algn="ctr" indent="0" marL="0">
              <a:buNone/>
            </a:pPr>
            <a:r>
              <a:rPr lang="en-US" sz="1300" b="1" dirty="0">
                <a:solidFill>
                  <a:srgbClr val="2E7DD1"/>
                </a:solidFill>
                <a:latin typeface="Calibri" pitchFamily="34" charset="0"/>
                <a:ea typeface="Calibri" pitchFamily="34" charset="-122"/>
                <a:cs typeface="Calibri" pitchFamily="34" charset="-120"/>
              </a:rPr>
              <a:t>Client</a:t>
            </a:r>
            <a:endParaRPr lang="en-US" sz="1300" dirty="0"/>
          </a:p>
        </p:txBody>
      </p:sp>
      <p:sp>
        <p:nvSpPr>
          <p:cNvPr id="9" name="Shape 7"/>
          <p:cNvSpPr/>
          <p:nvPr/>
        </p:nvSpPr>
        <p:spPr>
          <a:xfrm>
            <a:off x="2560320" y="4224528"/>
            <a:ext cx="1783080" cy="475488"/>
          </a:xfrm>
          <a:prstGeom prst="roundRect">
            <a:avLst>
              <a:gd name="adj" fmla="val 50000"/>
            </a:avLst>
          </a:prstGeom>
          <a:solidFill>
            <a:srgbClr val="17364D"/>
          </a:solidFill>
          <a:ln w="15875">
            <a:solidFill>
              <a:srgbClr val="D97B29"/>
            </a:solidFill>
            <a:prstDash val="solid"/>
          </a:ln>
        </p:spPr>
      </p:sp>
      <p:sp>
        <p:nvSpPr>
          <p:cNvPr id="10" name="Text 8"/>
          <p:cNvSpPr txBox="1"/>
          <p:nvPr/>
        </p:nvSpPr>
        <p:spPr>
          <a:xfrm>
            <a:off x="2560320" y="4224528"/>
            <a:ext cx="1783080" cy="475488"/>
          </a:xfrm>
          <a:prstGeom prst="rect">
            <a:avLst/>
          </a:prstGeom>
          <a:noFill/>
          <a:ln/>
        </p:spPr>
        <p:txBody>
          <a:bodyPr wrap="square" lIns="0" tIns="0" rIns="0" bIns="0" rtlCol="0" anchor="ctr"/>
          <a:lstStyle/>
          <a:p>
            <a:pPr algn="ctr" indent="0" marL="0">
              <a:buNone/>
            </a:pPr>
            <a:r>
              <a:rPr lang="en-US" sz="1300" b="1" dirty="0">
                <a:solidFill>
                  <a:srgbClr val="D97B29"/>
                </a:solidFill>
                <a:latin typeface="Calibri" pitchFamily="34" charset="0"/>
                <a:ea typeface="Calibri" pitchFamily="34" charset="-122"/>
                <a:cs typeface="Calibri" pitchFamily="34" charset="-120"/>
              </a:rPr>
              <a:t>Internet</a:t>
            </a:r>
            <a:endParaRPr lang="en-US" sz="1300" dirty="0"/>
          </a:p>
        </p:txBody>
      </p:sp>
      <p:sp>
        <p:nvSpPr>
          <p:cNvPr id="11" name="Shape 9"/>
          <p:cNvSpPr/>
          <p:nvPr/>
        </p:nvSpPr>
        <p:spPr>
          <a:xfrm>
            <a:off x="4526280" y="4224528"/>
            <a:ext cx="1783080" cy="475488"/>
          </a:xfrm>
          <a:prstGeom prst="roundRect">
            <a:avLst>
              <a:gd name="adj" fmla="val 50000"/>
            </a:avLst>
          </a:prstGeom>
          <a:solidFill>
            <a:srgbClr val="17364D"/>
          </a:solidFill>
          <a:ln w="15875">
            <a:solidFill>
              <a:srgbClr val="0E9594"/>
            </a:solidFill>
            <a:prstDash val="solid"/>
          </a:ln>
        </p:spPr>
      </p:sp>
      <p:sp>
        <p:nvSpPr>
          <p:cNvPr id="12" name="Text 10"/>
          <p:cNvSpPr txBox="1"/>
          <p:nvPr/>
        </p:nvSpPr>
        <p:spPr>
          <a:xfrm>
            <a:off x="4526280" y="4224528"/>
            <a:ext cx="1783080" cy="475488"/>
          </a:xfrm>
          <a:prstGeom prst="rect">
            <a:avLst/>
          </a:prstGeom>
          <a:noFill/>
          <a:ln/>
        </p:spPr>
        <p:txBody>
          <a:bodyPr wrap="square" lIns="0" tIns="0" rIns="0" bIns="0" rtlCol="0" anchor="ctr"/>
          <a:lstStyle/>
          <a:p>
            <a:pPr algn="ctr" indent="0" marL="0">
              <a:buNone/>
            </a:pPr>
            <a:r>
              <a:rPr lang="en-US" sz="1300" b="1" dirty="0">
                <a:solidFill>
                  <a:srgbClr val="0E9594"/>
                </a:solidFill>
                <a:latin typeface="Calibri" pitchFamily="34" charset="0"/>
                <a:ea typeface="Calibri" pitchFamily="34" charset="-122"/>
                <a:cs typeface="Calibri" pitchFamily="34" charset="-120"/>
              </a:rPr>
              <a:t>Server</a:t>
            </a:r>
            <a:endParaRPr lang="en-US" sz="1300" dirty="0"/>
          </a:p>
        </p:txBody>
      </p:sp>
      <p:sp>
        <p:nvSpPr>
          <p:cNvPr id="13" name="Shape 11"/>
          <p:cNvSpPr/>
          <p:nvPr/>
        </p:nvSpPr>
        <p:spPr>
          <a:xfrm>
            <a:off x="594360" y="5623560"/>
            <a:ext cx="5029200" cy="0"/>
          </a:xfrm>
          <a:prstGeom prst="line">
            <a:avLst/>
          </a:prstGeom>
          <a:noFill/>
          <a:ln w="12700">
            <a:solidFill>
              <a:srgbClr val="2C4A61"/>
            </a:solidFill>
            <a:prstDash val="solid"/>
          </a:ln>
        </p:spPr>
      </p:sp>
      <p:sp>
        <p:nvSpPr>
          <p:cNvPr id="14" name="Text 12"/>
          <p:cNvSpPr txBox="1"/>
          <p:nvPr/>
        </p:nvSpPr>
        <p:spPr>
          <a:xfrm>
            <a:off x="594360" y="5806440"/>
            <a:ext cx="8229600" cy="274320"/>
          </a:xfrm>
          <a:prstGeom prst="rect">
            <a:avLst/>
          </a:prstGeom>
          <a:noFill/>
          <a:ln/>
        </p:spPr>
        <p:txBody>
          <a:bodyPr wrap="square" lIns="0" tIns="0" rIns="0" bIns="0" rtlCol="0" anchor="ctr"/>
          <a:lstStyle/>
          <a:p>
            <a:pPr indent="0" marL="0">
              <a:buNone/>
            </a:pPr>
            <a:r>
              <a:rPr lang="en-US" sz="1200" dirty="0">
                <a:solidFill>
                  <a:srgbClr val="7E9AAB"/>
                </a:solidFill>
                <a:latin typeface="Calibri" pitchFamily="34" charset="0"/>
                <a:ea typeface="Calibri" pitchFamily="34" charset="-122"/>
                <a:cs typeface="Calibri" pitchFamily="34" charset="-120"/>
              </a:rPr>
              <a:t>MERN Full Stack Programme   |   Dr. Reddy's Foundation, Indore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058400" cy="256032"/>
          </a:xfrm>
          <a:prstGeom prst="rect">
            <a:avLst/>
          </a:prstGeom>
          <a:noFill/>
          <a:ln/>
        </p:spPr>
        <p:txBody>
          <a:bodyPr wrap="square" lIns="0" tIns="0" rIns="0" bIns="0" rtlCol="0" anchor="ctr"/>
          <a:lstStyle/>
          <a:p>
            <a:pPr indent="0" marL="0">
              <a:buNone/>
            </a:pPr>
            <a:r>
              <a:rPr lang="en-US" sz="1100" b="1" spc="220" kern="0" dirty="0">
                <a:solidFill>
                  <a:srgbClr val="D97B29"/>
                </a:solidFill>
                <a:latin typeface="Calibri" pitchFamily="34" charset="0"/>
                <a:ea typeface="Calibri" pitchFamily="34" charset="-122"/>
                <a:cs typeface="Calibri" pitchFamily="34" charset="-120"/>
              </a:rPr>
              <a:t>BEFORE WE BEGIN</a:t>
            </a:r>
            <a:endParaRPr lang="en-US" sz="1100" dirty="0"/>
          </a:p>
        </p:txBody>
      </p:sp>
      <p:sp>
        <p:nvSpPr>
          <p:cNvPr id="3" name="Text 1"/>
          <p:cNvSpPr txBox="1"/>
          <p:nvPr/>
        </p:nvSpPr>
        <p:spPr>
          <a:xfrm>
            <a:off x="594360" y="658368"/>
            <a:ext cx="10972800" cy="777240"/>
          </a:xfrm>
          <a:prstGeom prst="rect">
            <a:avLst/>
          </a:prstGeom>
          <a:noFill/>
          <a:ln/>
        </p:spPr>
        <p:txBody>
          <a:bodyPr wrap="square" lIns="0" tIns="0" rIns="0" bIns="0" rtlCol="0" anchor="t"/>
          <a:lstStyle/>
          <a:p>
            <a:pPr indent="0" marL="0">
              <a:buNone/>
            </a:pPr>
            <a:r>
              <a:rPr lang="en-US" sz="3400" b="1" dirty="0">
                <a:solidFill>
                  <a:srgbClr val="0E2233"/>
                </a:solidFill>
                <a:latin typeface="Cambria" pitchFamily="34" charset="0"/>
                <a:ea typeface="Cambria" pitchFamily="34" charset="-122"/>
                <a:cs typeface="Cambria" pitchFamily="34" charset="-120"/>
              </a:rPr>
              <a:t>By the end of this session you will be able to…</a:t>
            </a:r>
            <a:endParaRPr lang="en-US" sz="3400" dirty="0"/>
          </a:p>
        </p:txBody>
      </p:sp>
      <p:sp>
        <p:nvSpPr>
          <p:cNvPr id="4" name="Shape 2"/>
          <p:cNvSpPr/>
          <p:nvPr/>
        </p:nvSpPr>
        <p:spPr>
          <a:xfrm>
            <a:off x="594360" y="1874520"/>
            <a:ext cx="11018520" cy="1207008"/>
          </a:xfrm>
          <a:prstGeom prst="roundRect">
            <a:avLst>
              <a:gd name="adj" fmla="val 6818"/>
            </a:avLst>
          </a:prstGeom>
          <a:solidFill>
            <a:srgbClr val="F1F5F7"/>
          </a:solidFill>
          <a:ln/>
        </p:spPr>
      </p:sp>
      <p:sp>
        <p:nvSpPr>
          <p:cNvPr id="5" name="Shape 3"/>
          <p:cNvSpPr/>
          <p:nvPr/>
        </p:nvSpPr>
        <p:spPr>
          <a:xfrm>
            <a:off x="923544" y="2157984"/>
            <a:ext cx="640080" cy="640080"/>
          </a:xfrm>
          <a:prstGeom prst="ellipse">
            <a:avLst/>
          </a:prstGeom>
          <a:solidFill>
            <a:srgbClr val="2E7DD1"/>
          </a:solidFill>
          <a:ln/>
        </p:spPr>
      </p:sp>
      <p:sp>
        <p:nvSpPr>
          <p:cNvPr id="6" name="Text 4"/>
          <p:cNvSpPr txBox="1"/>
          <p:nvPr/>
        </p:nvSpPr>
        <p:spPr>
          <a:xfrm>
            <a:off x="923544" y="2157984"/>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828800" y="2093976"/>
            <a:ext cx="9418320" cy="365760"/>
          </a:xfrm>
          <a:prstGeom prst="rect">
            <a:avLst/>
          </a:prstGeom>
          <a:noFill/>
          <a:ln/>
        </p:spPr>
        <p:txBody>
          <a:bodyPr wrap="square" lIns="0" tIns="0" rIns="0" bIns="0" rtlCol="0" anchor="ctr"/>
          <a:lstStyle/>
          <a:p>
            <a:pPr indent="0" marL="0">
              <a:buNone/>
            </a:pPr>
            <a:r>
              <a:rPr lang="en-US" sz="2000" b="1" dirty="0">
                <a:solidFill>
                  <a:srgbClr val="0E2233"/>
                </a:solidFill>
                <a:latin typeface="Cambria" pitchFamily="34" charset="0"/>
                <a:ea typeface="Cambria" pitchFamily="34" charset="-122"/>
                <a:cs typeface="Cambria" pitchFamily="34" charset="-120"/>
              </a:rPr>
              <a:t>Explain the journey</a:t>
            </a:r>
            <a:endParaRPr lang="en-US" sz="2000" dirty="0"/>
          </a:p>
        </p:txBody>
      </p:sp>
      <p:sp>
        <p:nvSpPr>
          <p:cNvPr id="8" name="Text 6"/>
          <p:cNvSpPr txBox="1"/>
          <p:nvPr/>
        </p:nvSpPr>
        <p:spPr>
          <a:xfrm>
            <a:off x="1828800" y="2496312"/>
            <a:ext cx="9418320" cy="457200"/>
          </a:xfrm>
          <a:prstGeom prst="rect">
            <a:avLst/>
          </a:prstGeom>
          <a:noFill/>
          <a:ln/>
        </p:spPr>
        <p:txBody>
          <a:bodyPr wrap="square" lIns="0" tIns="0" rIns="0" bIns="0" rtlCol="0" anchor="ctr"/>
          <a:lstStyle/>
          <a:p>
            <a:pPr indent="0" marL="0">
              <a:buNone/>
            </a:pPr>
            <a:r>
              <a:rPr lang="en-US" sz="1450" dirty="0">
                <a:solidFill>
                  <a:srgbClr val="6B8394"/>
                </a:solidFill>
                <a:latin typeface="Calibri" pitchFamily="34" charset="0"/>
                <a:ea typeface="Calibri" pitchFamily="34" charset="-122"/>
                <a:cs typeface="Calibri" pitchFamily="34" charset="-120"/>
              </a:rPr>
              <a:t>Describe every step between pressing Enter and seeing a page — in your own words, to someone non-technical.</a:t>
            </a:r>
            <a:endParaRPr lang="en-US" sz="1450" dirty="0"/>
          </a:p>
        </p:txBody>
      </p:sp>
      <p:sp>
        <p:nvSpPr>
          <p:cNvPr id="9" name="Shape 7"/>
          <p:cNvSpPr/>
          <p:nvPr/>
        </p:nvSpPr>
        <p:spPr>
          <a:xfrm>
            <a:off x="594360" y="3291840"/>
            <a:ext cx="11018520" cy="1207008"/>
          </a:xfrm>
          <a:prstGeom prst="roundRect">
            <a:avLst>
              <a:gd name="adj" fmla="val 6818"/>
            </a:avLst>
          </a:prstGeom>
          <a:solidFill>
            <a:srgbClr val="F1F5F7"/>
          </a:solidFill>
          <a:ln/>
        </p:spPr>
      </p:sp>
      <p:sp>
        <p:nvSpPr>
          <p:cNvPr id="10" name="Shape 8"/>
          <p:cNvSpPr/>
          <p:nvPr/>
        </p:nvSpPr>
        <p:spPr>
          <a:xfrm>
            <a:off x="923544" y="3575304"/>
            <a:ext cx="640080" cy="640080"/>
          </a:xfrm>
          <a:prstGeom prst="ellipse">
            <a:avLst/>
          </a:prstGeom>
          <a:solidFill>
            <a:srgbClr val="0E9594"/>
          </a:solidFill>
          <a:ln/>
        </p:spPr>
      </p:sp>
      <p:sp>
        <p:nvSpPr>
          <p:cNvPr id="11" name="Text 9"/>
          <p:cNvSpPr txBox="1"/>
          <p:nvPr/>
        </p:nvSpPr>
        <p:spPr>
          <a:xfrm>
            <a:off x="923544" y="3575304"/>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1828800" y="3511296"/>
            <a:ext cx="9418320" cy="365760"/>
          </a:xfrm>
          <a:prstGeom prst="rect">
            <a:avLst/>
          </a:prstGeom>
          <a:noFill/>
          <a:ln/>
        </p:spPr>
        <p:txBody>
          <a:bodyPr wrap="square" lIns="0" tIns="0" rIns="0" bIns="0" rtlCol="0" anchor="ctr"/>
          <a:lstStyle/>
          <a:p>
            <a:pPr indent="0" marL="0">
              <a:buNone/>
            </a:pPr>
            <a:r>
              <a:rPr lang="en-US" sz="2000" b="1" dirty="0">
                <a:solidFill>
                  <a:srgbClr val="0E2233"/>
                </a:solidFill>
                <a:latin typeface="Cambria" pitchFamily="34" charset="0"/>
                <a:ea typeface="Cambria" pitchFamily="34" charset="-122"/>
                <a:cs typeface="Cambria" pitchFamily="34" charset="-120"/>
              </a:rPr>
              <a:t>Name who does what</a:t>
            </a:r>
            <a:endParaRPr lang="en-US" sz="2000" dirty="0"/>
          </a:p>
        </p:txBody>
      </p:sp>
      <p:sp>
        <p:nvSpPr>
          <p:cNvPr id="13" name="Text 11"/>
          <p:cNvSpPr txBox="1"/>
          <p:nvPr/>
        </p:nvSpPr>
        <p:spPr>
          <a:xfrm>
            <a:off x="1828800" y="3913632"/>
            <a:ext cx="9418320" cy="457200"/>
          </a:xfrm>
          <a:prstGeom prst="rect">
            <a:avLst/>
          </a:prstGeom>
          <a:noFill/>
          <a:ln/>
        </p:spPr>
        <p:txBody>
          <a:bodyPr wrap="square" lIns="0" tIns="0" rIns="0" bIns="0" rtlCol="0" anchor="ctr"/>
          <a:lstStyle/>
          <a:p>
            <a:pPr indent="0" marL="0">
              <a:buNone/>
            </a:pPr>
            <a:r>
              <a:rPr lang="en-US" sz="1450" dirty="0">
                <a:solidFill>
                  <a:srgbClr val="6B8394"/>
                </a:solidFill>
                <a:latin typeface="Calibri" pitchFamily="34" charset="0"/>
                <a:ea typeface="Calibri" pitchFamily="34" charset="-122"/>
                <a:cs typeface="Calibri" pitchFamily="34" charset="-120"/>
              </a:rPr>
              <a:t>Say which job belongs to the frontend, which belongs to the backend, and why it cannot be the other way round.</a:t>
            </a:r>
            <a:endParaRPr lang="en-US" sz="1450" dirty="0"/>
          </a:p>
        </p:txBody>
      </p:sp>
      <p:sp>
        <p:nvSpPr>
          <p:cNvPr id="14" name="Shape 12"/>
          <p:cNvSpPr/>
          <p:nvPr/>
        </p:nvSpPr>
        <p:spPr>
          <a:xfrm>
            <a:off x="594360" y="4709160"/>
            <a:ext cx="11018520" cy="1207008"/>
          </a:xfrm>
          <a:prstGeom prst="roundRect">
            <a:avLst>
              <a:gd name="adj" fmla="val 6818"/>
            </a:avLst>
          </a:prstGeom>
          <a:solidFill>
            <a:srgbClr val="F1F5F7"/>
          </a:solidFill>
          <a:ln/>
        </p:spPr>
      </p:sp>
      <p:sp>
        <p:nvSpPr>
          <p:cNvPr id="15" name="Shape 13"/>
          <p:cNvSpPr/>
          <p:nvPr/>
        </p:nvSpPr>
        <p:spPr>
          <a:xfrm>
            <a:off x="923544" y="4992624"/>
            <a:ext cx="640080" cy="640080"/>
          </a:xfrm>
          <a:prstGeom prst="ellipse">
            <a:avLst/>
          </a:prstGeom>
          <a:solidFill>
            <a:srgbClr val="D97B29"/>
          </a:solidFill>
          <a:ln/>
        </p:spPr>
      </p:sp>
      <p:sp>
        <p:nvSpPr>
          <p:cNvPr id="16" name="Text 14"/>
          <p:cNvSpPr txBox="1"/>
          <p:nvPr/>
        </p:nvSpPr>
        <p:spPr>
          <a:xfrm>
            <a:off x="923544" y="4992624"/>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1828800" y="4928616"/>
            <a:ext cx="9418320" cy="365760"/>
          </a:xfrm>
          <a:prstGeom prst="rect">
            <a:avLst/>
          </a:prstGeom>
          <a:noFill/>
          <a:ln/>
        </p:spPr>
        <p:txBody>
          <a:bodyPr wrap="square" lIns="0" tIns="0" rIns="0" bIns="0" rtlCol="0" anchor="ctr"/>
          <a:lstStyle/>
          <a:p>
            <a:pPr indent="0" marL="0">
              <a:buNone/>
            </a:pPr>
            <a:r>
              <a:rPr lang="en-US" sz="2000" b="1" dirty="0">
                <a:solidFill>
                  <a:srgbClr val="0E2233"/>
                </a:solidFill>
                <a:latin typeface="Cambria" pitchFamily="34" charset="0"/>
                <a:ea typeface="Cambria" pitchFamily="34" charset="-122"/>
                <a:cs typeface="Cambria" pitchFamily="34" charset="-120"/>
              </a:rPr>
              <a:t>Read what the web says</a:t>
            </a:r>
            <a:endParaRPr lang="en-US" sz="2000" dirty="0"/>
          </a:p>
        </p:txBody>
      </p:sp>
      <p:sp>
        <p:nvSpPr>
          <p:cNvPr id="18" name="Text 16"/>
          <p:cNvSpPr txBox="1"/>
          <p:nvPr/>
        </p:nvSpPr>
        <p:spPr>
          <a:xfrm>
            <a:off x="1828800" y="5330952"/>
            <a:ext cx="9418320" cy="457200"/>
          </a:xfrm>
          <a:prstGeom prst="rect">
            <a:avLst/>
          </a:prstGeom>
          <a:noFill/>
          <a:ln/>
        </p:spPr>
        <p:txBody>
          <a:bodyPr wrap="square" lIns="0" tIns="0" rIns="0" bIns="0" rtlCol="0" anchor="ctr"/>
          <a:lstStyle/>
          <a:p>
            <a:pPr indent="0" marL="0">
              <a:buNone/>
            </a:pPr>
            <a:r>
              <a:rPr lang="en-US" sz="1450" dirty="0">
                <a:solidFill>
                  <a:srgbClr val="6B8394"/>
                </a:solidFill>
                <a:latin typeface="Calibri" pitchFamily="34" charset="0"/>
                <a:ea typeface="Calibri" pitchFamily="34" charset="-122"/>
                <a:cs typeface="Calibri" pitchFamily="34" charset="-120"/>
              </a:rPr>
              <a:t>Understand a request, a response, and what 200, 404 and 500 are telling you.</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058400" cy="256032"/>
          </a:xfrm>
          <a:prstGeom prst="rect">
            <a:avLst/>
          </a:prstGeom>
          <a:noFill/>
          <a:ln/>
        </p:spPr>
        <p:txBody>
          <a:bodyPr wrap="square" lIns="0" tIns="0" rIns="0" bIns="0" rtlCol="0" anchor="ctr"/>
          <a:lstStyle/>
          <a:p>
            <a:pPr indent="0" marL="0">
              <a:buNone/>
            </a:pPr>
            <a:r>
              <a:rPr lang="en-US" sz="1100" b="1" spc="220" kern="0" dirty="0">
                <a:solidFill>
                  <a:srgbClr val="D97B29"/>
                </a:solidFill>
                <a:latin typeface="Calibri" pitchFamily="34" charset="0"/>
                <a:ea typeface="Calibri" pitchFamily="34" charset="-122"/>
                <a:cs typeface="Calibri" pitchFamily="34" charset="-120"/>
              </a:rPr>
              <a:t>THE WHOLE PICTURE</a:t>
            </a:r>
            <a:endParaRPr lang="en-US" sz="1100" dirty="0"/>
          </a:p>
        </p:txBody>
      </p:sp>
      <p:sp>
        <p:nvSpPr>
          <p:cNvPr id="3" name="Text 1"/>
          <p:cNvSpPr txBox="1"/>
          <p:nvPr/>
        </p:nvSpPr>
        <p:spPr>
          <a:xfrm>
            <a:off x="594360" y="658368"/>
            <a:ext cx="10972800" cy="777240"/>
          </a:xfrm>
          <a:prstGeom prst="rect">
            <a:avLst/>
          </a:prstGeom>
          <a:noFill/>
          <a:ln/>
        </p:spPr>
        <p:txBody>
          <a:bodyPr wrap="square" lIns="0" tIns="0" rIns="0" bIns="0" rtlCol="0" anchor="t"/>
          <a:lstStyle/>
          <a:p>
            <a:pPr indent="0" marL="0">
              <a:buNone/>
            </a:pPr>
            <a:r>
              <a:rPr lang="en-US" sz="3400" b="1" dirty="0">
                <a:solidFill>
                  <a:srgbClr val="0E2233"/>
                </a:solidFill>
                <a:latin typeface="Cambria" pitchFamily="34" charset="0"/>
                <a:ea typeface="Cambria" pitchFamily="34" charset="-122"/>
                <a:cs typeface="Cambria" pitchFamily="34" charset="-120"/>
              </a:rPr>
              <a:t>Three parts. That is the entire web.</a:t>
            </a:r>
            <a:endParaRPr lang="en-US" sz="3400" dirty="0"/>
          </a:p>
        </p:txBody>
      </p:sp>
      <p:sp>
        <p:nvSpPr>
          <p:cNvPr id="4" name="Shape 2"/>
          <p:cNvSpPr/>
          <p:nvPr/>
        </p:nvSpPr>
        <p:spPr>
          <a:xfrm>
            <a:off x="685800" y="2148840"/>
            <a:ext cx="3017520" cy="2331720"/>
          </a:xfrm>
          <a:prstGeom prst="roundRect">
            <a:avLst>
              <a:gd name="adj" fmla="val 3529"/>
            </a:avLst>
          </a:prstGeom>
          <a:solidFill>
            <a:srgbClr val="E2EDF9"/>
          </a:solidFill>
          <a:ln w="15875">
            <a:solidFill>
              <a:srgbClr val="2E7DD1"/>
            </a:solidFill>
            <a:prstDash val="solid"/>
          </a:ln>
        </p:spPr>
      </p:sp>
      <p:sp>
        <p:nvSpPr>
          <p:cNvPr id="5" name="Text 3"/>
          <p:cNvSpPr txBox="1"/>
          <p:nvPr/>
        </p:nvSpPr>
        <p:spPr>
          <a:xfrm>
            <a:off x="685800" y="2395728"/>
            <a:ext cx="3017520" cy="274320"/>
          </a:xfrm>
          <a:prstGeom prst="rect">
            <a:avLst/>
          </a:prstGeom>
          <a:noFill/>
          <a:ln/>
        </p:spPr>
        <p:txBody>
          <a:bodyPr wrap="square" lIns="0" tIns="0" rIns="0" bIns="0" rtlCol="0" anchor="ctr"/>
          <a:lstStyle/>
          <a:p>
            <a:pPr algn="ctr" indent="0" marL="0">
              <a:buNone/>
            </a:pPr>
            <a:r>
              <a:rPr lang="en-US" sz="1150" b="1" spc="200" kern="0" dirty="0">
                <a:solidFill>
                  <a:srgbClr val="2E7DD1"/>
                </a:solidFill>
                <a:latin typeface="Calibri" pitchFamily="34" charset="0"/>
                <a:ea typeface="Calibri" pitchFamily="34" charset="-122"/>
                <a:cs typeface="Calibri" pitchFamily="34" charset="-120"/>
              </a:rPr>
              <a:t>CLIENT</a:t>
            </a:r>
            <a:endParaRPr lang="en-US" sz="1150" dirty="0"/>
          </a:p>
        </p:txBody>
      </p:sp>
      <p:sp>
        <p:nvSpPr>
          <p:cNvPr id="6" name="Text 4"/>
          <p:cNvSpPr txBox="1"/>
          <p:nvPr/>
        </p:nvSpPr>
        <p:spPr>
          <a:xfrm>
            <a:off x="685800" y="2761488"/>
            <a:ext cx="3017520" cy="411480"/>
          </a:xfrm>
          <a:prstGeom prst="rect">
            <a:avLst/>
          </a:prstGeom>
          <a:noFill/>
          <a:ln/>
        </p:spPr>
        <p:txBody>
          <a:bodyPr wrap="square" lIns="0" tIns="0" rIns="0" bIns="0" rtlCol="0" anchor="ctr"/>
          <a:lstStyle/>
          <a:p>
            <a:pPr algn="ctr" indent="0" marL="0">
              <a:buNone/>
            </a:pPr>
            <a:r>
              <a:rPr lang="en-US" sz="2200" b="1" dirty="0">
                <a:solidFill>
                  <a:srgbClr val="0E2233"/>
                </a:solidFill>
                <a:latin typeface="Cambria" pitchFamily="34" charset="0"/>
                <a:ea typeface="Cambria" pitchFamily="34" charset="-122"/>
                <a:cs typeface="Cambria" pitchFamily="34" charset="-120"/>
              </a:rPr>
              <a:t>Browser / App</a:t>
            </a:r>
            <a:endParaRPr lang="en-US" sz="2200" dirty="0"/>
          </a:p>
        </p:txBody>
      </p:sp>
      <p:sp>
        <p:nvSpPr>
          <p:cNvPr id="7" name="Text 5"/>
          <p:cNvSpPr txBox="1"/>
          <p:nvPr/>
        </p:nvSpPr>
        <p:spPr>
          <a:xfrm>
            <a:off x="914400" y="3310128"/>
            <a:ext cx="2560320" cy="822960"/>
          </a:xfrm>
          <a:prstGeom prst="rect">
            <a:avLst/>
          </a:prstGeom>
          <a:noFill/>
          <a:ln/>
        </p:spPr>
        <p:txBody>
          <a:bodyPr wrap="square" lIns="0" tIns="0" rIns="0" bIns="0" rtlCol="0" anchor="ctr"/>
          <a:lstStyle/>
          <a:p>
            <a:pPr algn="ctr" indent="0" marL="0">
              <a:lnSpc>
                <a:spcPts val="2000"/>
              </a:lnSpc>
              <a:buNone/>
            </a:pPr>
            <a:r>
              <a:rPr lang="en-US" sz="1450" dirty="0">
                <a:solidFill>
                  <a:srgbClr val="6B8394"/>
                </a:solidFill>
                <a:latin typeface="Calibri" pitchFamily="34" charset="0"/>
                <a:ea typeface="Calibri" pitchFamily="34" charset="-122"/>
                <a:cs typeface="Calibri" pitchFamily="34" charset="-120"/>
              </a:rPr>
              <a:t>Asks for things.</a:t>
            </a:r>
            <a:endParaRPr lang="en-US" sz="1450" dirty="0"/>
          </a:p>
          <a:p>
            <a:pPr algn="ctr" indent="0" marL="0">
              <a:lnSpc>
                <a:spcPts val="2000"/>
              </a:lnSpc>
              <a:buNone/>
            </a:pPr>
            <a:r>
              <a:rPr lang="en-US" sz="1450" dirty="0">
                <a:solidFill>
                  <a:srgbClr val="6B8394"/>
                </a:solidFill>
                <a:latin typeface="Calibri" pitchFamily="34" charset="0"/>
                <a:ea typeface="Calibri" pitchFamily="34" charset="-122"/>
                <a:cs typeface="Calibri" pitchFamily="34" charset="-120"/>
              </a:rPr>
              <a:t>Shows the result.</a:t>
            </a:r>
            <a:endParaRPr lang="en-US" sz="1450" dirty="0"/>
          </a:p>
        </p:txBody>
      </p:sp>
      <p:sp>
        <p:nvSpPr>
          <p:cNvPr id="8" name="Shape 6"/>
          <p:cNvSpPr/>
          <p:nvPr/>
        </p:nvSpPr>
        <p:spPr>
          <a:xfrm>
            <a:off x="4590288" y="2148840"/>
            <a:ext cx="3017520" cy="2331720"/>
          </a:xfrm>
          <a:prstGeom prst="roundRect">
            <a:avLst>
              <a:gd name="adj" fmla="val 3529"/>
            </a:avLst>
          </a:prstGeom>
          <a:solidFill>
            <a:srgbClr val="FBEBDB"/>
          </a:solidFill>
          <a:ln w="15875">
            <a:solidFill>
              <a:srgbClr val="D97B29"/>
            </a:solidFill>
            <a:prstDash val="solid"/>
          </a:ln>
        </p:spPr>
      </p:sp>
      <p:sp>
        <p:nvSpPr>
          <p:cNvPr id="9" name="Text 7"/>
          <p:cNvSpPr txBox="1"/>
          <p:nvPr/>
        </p:nvSpPr>
        <p:spPr>
          <a:xfrm>
            <a:off x="4590288" y="2395728"/>
            <a:ext cx="3017520" cy="274320"/>
          </a:xfrm>
          <a:prstGeom prst="rect">
            <a:avLst/>
          </a:prstGeom>
          <a:noFill/>
          <a:ln/>
        </p:spPr>
        <p:txBody>
          <a:bodyPr wrap="square" lIns="0" tIns="0" rIns="0" bIns="0" rtlCol="0" anchor="ctr"/>
          <a:lstStyle/>
          <a:p>
            <a:pPr algn="ctr" indent="0" marL="0">
              <a:buNone/>
            </a:pPr>
            <a:r>
              <a:rPr lang="en-US" sz="1150" b="1" spc="200" kern="0" dirty="0">
                <a:solidFill>
                  <a:srgbClr val="D97B29"/>
                </a:solidFill>
                <a:latin typeface="Calibri" pitchFamily="34" charset="0"/>
                <a:ea typeface="Calibri" pitchFamily="34" charset="-122"/>
                <a:cs typeface="Calibri" pitchFamily="34" charset="-120"/>
              </a:rPr>
              <a:t>INTERNET</a:t>
            </a:r>
            <a:endParaRPr lang="en-US" sz="1150" dirty="0"/>
          </a:p>
        </p:txBody>
      </p:sp>
      <p:sp>
        <p:nvSpPr>
          <p:cNvPr id="10" name="Text 8"/>
          <p:cNvSpPr txBox="1"/>
          <p:nvPr/>
        </p:nvSpPr>
        <p:spPr>
          <a:xfrm>
            <a:off x="4590288" y="2761488"/>
            <a:ext cx="3017520" cy="411480"/>
          </a:xfrm>
          <a:prstGeom prst="rect">
            <a:avLst/>
          </a:prstGeom>
          <a:noFill/>
          <a:ln/>
        </p:spPr>
        <p:txBody>
          <a:bodyPr wrap="square" lIns="0" tIns="0" rIns="0" bIns="0" rtlCol="0" anchor="ctr"/>
          <a:lstStyle/>
          <a:p>
            <a:pPr algn="ctr" indent="0" marL="0">
              <a:buNone/>
            </a:pPr>
            <a:r>
              <a:rPr lang="en-US" sz="2200" b="1" dirty="0">
                <a:solidFill>
                  <a:srgbClr val="0E2233"/>
                </a:solidFill>
                <a:latin typeface="Cambria" pitchFamily="34" charset="0"/>
                <a:ea typeface="Cambria" pitchFamily="34" charset="-122"/>
                <a:cs typeface="Cambria" pitchFamily="34" charset="-120"/>
              </a:rPr>
              <a:t>The road</a:t>
            </a:r>
            <a:endParaRPr lang="en-US" sz="2200" dirty="0"/>
          </a:p>
        </p:txBody>
      </p:sp>
      <p:sp>
        <p:nvSpPr>
          <p:cNvPr id="11" name="Text 9"/>
          <p:cNvSpPr txBox="1"/>
          <p:nvPr/>
        </p:nvSpPr>
        <p:spPr>
          <a:xfrm>
            <a:off x="4818888" y="3310128"/>
            <a:ext cx="2560320" cy="822960"/>
          </a:xfrm>
          <a:prstGeom prst="rect">
            <a:avLst/>
          </a:prstGeom>
          <a:noFill/>
          <a:ln/>
        </p:spPr>
        <p:txBody>
          <a:bodyPr wrap="square" lIns="0" tIns="0" rIns="0" bIns="0" rtlCol="0" anchor="ctr"/>
          <a:lstStyle/>
          <a:p>
            <a:pPr algn="ctr" indent="0" marL="0">
              <a:lnSpc>
                <a:spcPts val="2000"/>
              </a:lnSpc>
              <a:buNone/>
            </a:pPr>
            <a:r>
              <a:rPr lang="en-US" sz="1450" dirty="0">
                <a:solidFill>
                  <a:srgbClr val="6B8394"/>
                </a:solidFill>
                <a:latin typeface="Calibri" pitchFamily="34" charset="0"/>
                <a:ea typeface="Calibri" pitchFamily="34" charset="-122"/>
                <a:cs typeface="Calibri" pitchFamily="34" charset="-120"/>
              </a:rPr>
              <a:t>Carries the message</a:t>
            </a:r>
            <a:endParaRPr lang="en-US" sz="1450" dirty="0"/>
          </a:p>
          <a:p>
            <a:pPr algn="ctr" indent="0" marL="0">
              <a:lnSpc>
                <a:spcPts val="2000"/>
              </a:lnSpc>
              <a:buNone/>
            </a:pPr>
            <a:r>
              <a:rPr lang="en-US" sz="1450" dirty="0">
                <a:solidFill>
                  <a:srgbClr val="6B8394"/>
                </a:solidFill>
                <a:latin typeface="Calibri" pitchFamily="34" charset="0"/>
                <a:ea typeface="Calibri" pitchFamily="34" charset="-122"/>
                <a:cs typeface="Calibri" pitchFamily="34" charset="-120"/>
              </a:rPr>
              <a:t>both ways.</a:t>
            </a:r>
            <a:endParaRPr lang="en-US" sz="1450" dirty="0"/>
          </a:p>
        </p:txBody>
      </p:sp>
      <p:sp>
        <p:nvSpPr>
          <p:cNvPr id="12" name="Shape 10"/>
          <p:cNvSpPr/>
          <p:nvPr/>
        </p:nvSpPr>
        <p:spPr>
          <a:xfrm>
            <a:off x="8485632" y="2148840"/>
            <a:ext cx="3017520" cy="2331720"/>
          </a:xfrm>
          <a:prstGeom prst="roundRect">
            <a:avLst>
              <a:gd name="adj" fmla="val 3529"/>
            </a:avLst>
          </a:prstGeom>
          <a:solidFill>
            <a:srgbClr val="DDF0EF"/>
          </a:solidFill>
          <a:ln w="15875">
            <a:solidFill>
              <a:srgbClr val="0E9594"/>
            </a:solidFill>
            <a:prstDash val="solid"/>
          </a:ln>
        </p:spPr>
      </p:sp>
      <p:sp>
        <p:nvSpPr>
          <p:cNvPr id="13" name="Text 11"/>
          <p:cNvSpPr txBox="1"/>
          <p:nvPr/>
        </p:nvSpPr>
        <p:spPr>
          <a:xfrm>
            <a:off x="8485632" y="2395728"/>
            <a:ext cx="3017520" cy="274320"/>
          </a:xfrm>
          <a:prstGeom prst="rect">
            <a:avLst/>
          </a:prstGeom>
          <a:noFill/>
          <a:ln/>
        </p:spPr>
        <p:txBody>
          <a:bodyPr wrap="square" lIns="0" tIns="0" rIns="0" bIns="0" rtlCol="0" anchor="ctr"/>
          <a:lstStyle/>
          <a:p>
            <a:pPr algn="ctr" indent="0" marL="0">
              <a:buNone/>
            </a:pPr>
            <a:r>
              <a:rPr lang="en-US" sz="1150" b="1" spc="200" kern="0" dirty="0">
                <a:solidFill>
                  <a:srgbClr val="0E9594"/>
                </a:solidFill>
                <a:latin typeface="Calibri" pitchFamily="34" charset="0"/>
                <a:ea typeface="Calibri" pitchFamily="34" charset="-122"/>
                <a:cs typeface="Calibri" pitchFamily="34" charset="-120"/>
              </a:rPr>
              <a:t>SERVER</a:t>
            </a:r>
            <a:endParaRPr lang="en-US" sz="1150" dirty="0"/>
          </a:p>
        </p:txBody>
      </p:sp>
      <p:sp>
        <p:nvSpPr>
          <p:cNvPr id="14" name="Text 12"/>
          <p:cNvSpPr txBox="1"/>
          <p:nvPr/>
        </p:nvSpPr>
        <p:spPr>
          <a:xfrm>
            <a:off x="8485632" y="2761488"/>
            <a:ext cx="3017520" cy="411480"/>
          </a:xfrm>
          <a:prstGeom prst="rect">
            <a:avLst/>
          </a:prstGeom>
          <a:noFill/>
          <a:ln/>
        </p:spPr>
        <p:txBody>
          <a:bodyPr wrap="square" lIns="0" tIns="0" rIns="0" bIns="0" rtlCol="0" anchor="ctr"/>
          <a:lstStyle/>
          <a:p>
            <a:pPr algn="ctr" indent="0" marL="0">
              <a:buNone/>
            </a:pPr>
            <a:r>
              <a:rPr lang="en-US" sz="2200" b="1" dirty="0">
                <a:solidFill>
                  <a:srgbClr val="0E2233"/>
                </a:solidFill>
                <a:latin typeface="Cambria" pitchFamily="34" charset="0"/>
                <a:ea typeface="Cambria" pitchFamily="34" charset="-122"/>
                <a:cs typeface="Cambria" pitchFamily="34" charset="-120"/>
              </a:rPr>
              <a:t>The computer</a:t>
            </a:r>
            <a:endParaRPr lang="en-US" sz="2200" dirty="0"/>
          </a:p>
        </p:txBody>
      </p:sp>
      <p:sp>
        <p:nvSpPr>
          <p:cNvPr id="15" name="Text 13"/>
          <p:cNvSpPr txBox="1"/>
          <p:nvPr/>
        </p:nvSpPr>
        <p:spPr>
          <a:xfrm>
            <a:off x="8714232" y="3310128"/>
            <a:ext cx="2560320" cy="822960"/>
          </a:xfrm>
          <a:prstGeom prst="rect">
            <a:avLst/>
          </a:prstGeom>
          <a:noFill/>
          <a:ln/>
        </p:spPr>
        <p:txBody>
          <a:bodyPr wrap="square" lIns="0" tIns="0" rIns="0" bIns="0" rtlCol="0" anchor="ctr"/>
          <a:lstStyle/>
          <a:p>
            <a:pPr algn="ctr" indent="0" marL="0">
              <a:lnSpc>
                <a:spcPts val="2000"/>
              </a:lnSpc>
              <a:buNone/>
            </a:pPr>
            <a:r>
              <a:rPr lang="en-US" sz="1450" dirty="0">
                <a:solidFill>
                  <a:srgbClr val="6B8394"/>
                </a:solidFill>
                <a:latin typeface="Calibri" pitchFamily="34" charset="0"/>
                <a:ea typeface="Calibri" pitchFamily="34" charset="-122"/>
                <a:cs typeface="Calibri" pitchFamily="34" charset="-120"/>
              </a:rPr>
              <a:t>Thinks, decides,</a:t>
            </a:r>
            <a:endParaRPr lang="en-US" sz="1450" dirty="0"/>
          </a:p>
          <a:p>
            <a:pPr algn="ctr" indent="0" marL="0">
              <a:lnSpc>
                <a:spcPts val="2000"/>
              </a:lnSpc>
              <a:buNone/>
            </a:pPr>
            <a:r>
              <a:rPr lang="en-US" sz="1450" dirty="0">
                <a:solidFill>
                  <a:srgbClr val="6B8394"/>
                </a:solidFill>
                <a:latin typeface="Calibri" pitchFamily="34" charset="0"/>
                <a:ea typeface="Calibri" pitchFamily="34" charset="-122"/>
                <a:cs typeface="Calibri" pitchFamily="34" charset="-120"/>
              </a:rPr>
              <a:t>and answers.</a:t>
            </a:r>
            <a:endParaRPr lang="en-US" sz="1450" dirty="0"/>
          </a:p>
        </p:txBody>
      </p:sp>
      <p:sp>
        <p:nvSpPr>
          <p:cNvPr id="16" name="Shape 14"/>
          <p:cNvSpPr/>
          <p:nvPr/>
        </p:nvSpPr>
        <p:spPr>
          <a:xfrm>
            <a:off x="3822192" y="3172968"/>
            <a:ext cx="658368" cy="274320"/>
          </a:xfrm>
          <a:prstGeom prst="rightArrow">
            <a:avLst/>
          </a:prstGeom>
          <a:solidFill>
            <a:srgbClr val="D97B29"/>
          </a:solidFill>
          <a:ln/>
        </p:spPr>
      </p:sp>
      <p:sp>
        <p:nvSpPr>
          <p:cNvPr id="17" name="Shape 15"/>
          <p:cNvSpPr/>
          <p:nvPr/>
        </p:nvSpPr>
        <p:spPr>
          <a:xfrm>
            <a:off x="7726680" y="3172968"/>
            <a:ext cx="658368" cy="274320"/>
          </a:xfrm>
          <a:prstGeom prst="rightArrow">
            <a:avLst/>
          </a:prstGeom>
          <a:solidFill>
            <a:srgbClr val="D97B29"/>
          </a:solidFill>
          <a:ln/>
        </p:spPr>
      </p:sp>
      <p:sp>
        <p:nvSpPr>
          <p:cNvPr id="18" name="Shape 16"/>
          <p:cNvSpPr/>
          <p:nvPr/>
        </p:nvSpPr>
        <p:spPr>
          <a:xfrm>
            <a:off x="594360" y="4892040"/>
            <a:ext cx="11018520" cy="914400"/>
          </a:xfrm>
          <a:prstGeom prst="roundRect">
            <a:avLst>
              <a:gd name="adj" fmla="val 9000"/>
            </a:avLst>
          </a:prstGeom>
          <a:solidFill>
            <a:srgbClr val="F1F5F7"/>
          </a:solidFill>
          <a:ln/>
        </p:spPr>
      </p:sp>
      <p:sp>
        <p:nvSpPr>
          <p:cNvPr id="19" name="Text 17"/>
          <p:cNvSpPr txBox="1"/>
          <p:nvPr/>
        </p:nvSpPr>
        <p:spPr>
          <a:xfrm>
            <a:off x="960120" y="4892040"/>
            <a:ext cx="10287000" cy="914400"/>
          </a:xfrm>
          <a:prstGeom prst="rect">
            <a:avLst/>
          </a:prstGeom>
          <a:noFill/>
          <a:ln/>
        </p:spPr>
        <p:txBody>
          <a:bodyPr wrap="square" lIns="0" tIns="0" rIns="0" bIns="0" rtlCol="0" anchor="ctr"/>
          <a:lstStyle/>
          <a:p>
            <a:pPr indent="0" marL="0">
              <a:buNone/>
            </a:pPr>
            <a:r>
              <a:rPr lang="en-US" sz="1650" i="1" dirty="0">
                <a:solidFill>
                  <a:srgbClr val="17364D"/>
                </a:solidFill>
                <a:latin typeface="Calibri" pitchFamily="34" charset="0"/>
                <a:ea typeface="Calibri" pitchFamily="34" charset="-122"/>
                <a:cs typeface="Calibri" pitchFamily="34" charset="-120"/>
              </a:rPr>
              <a:t>Everything else you will learn this year is a detail inside one of these three boxes.</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058400" cy="256032"/>
          </a:xfrm>
          <a:prstGeom prst="rect">
            <a:avLst/>
          </a:prstGeom>
          <a:noFill/>
          <a:ln/>
        </p:spPr>
        <p:txBody>
          <a:bodyPr wrap="square" lIns="0" tIns="0" rIns="0" bIns="0" rtlCol="0" anchor="ctr"/>
          <a:lstStyle/>
          <a:p>
            <a:pPr indent="0" marL="0">
              <a:buNone/>
            </a:pPr>
            <a:r>
              <a:rPr lang="en-US" sz="1100" b="1" spc="220" kern="0" dirty="0">
                <a:solidFill>
                  <a:srgbClr val="2E7DD1"/>
                </a:solidFill>
                <a:latin typeface="Calibri" pitchFamily="34" charset="0"/>
                <a:ea typeface="Calibri" pitchFamily="34" charset="-122"/>
                <a:cs typeface="Calibri" pitchFamily="34" charset="-120"/>
              </a:rPr>
              <a:t>PART ONE</a:t>
            </a:r>
            <a:endParaRPr lang="en-US" sz="1100" dirty="0"/>
          </a:p>
        </p:txBody>
      </p:sp>
      <p:sp>
        <p:nvSpPr>
          <p:cNvPr id="3" name="Text 1"/>
          <p:cNvSpPr txBox="1"/>
          <p:nvPr/>
        </p:nvSpPr>
        <p:spPr>
          <a:xfrm>
            <a:off x="594360" y="658368"/>
            <a:ext cx="10972800" cy="777240"/>
          </a:xfrm>
          <a:prstGeom prst="rect">
            <a:avLst/>
          </a:prstGeom>
          <a:noFill/>
          <a:ln/>
        </p:spPr>
        <p:txBody>
          <a:bodyPr wrap="square" lIns="0" tIns="0" rIns="0" bIns="0" rtlCol="0" anchor="t"/>
          <a:lstStyle/>
          <a:p>
            <a:pPr indent="0" marL="0">
              <a:buNone/>
            </a:pPr>
            <a:r>
              <a:rPr lang="en-US" sz="3400" b="1" dirty="0">
                <a:solidFill>
                  <a:srgbClr val="0E2233"/>
                </a:solidFill>
                <a:latin typeface="Cambria" pitchFamily="34" charset="0"/>
                <a:ea typeface="Cambria" pitchFamily="34" charset="-122"/>
                <a:cs typeface="Cambria" pitchFamily="34" charset="-120"/>
              </a:rPr>
              <a:t>What is a Client?</a:t>
            </a:r>
            <a:endParaRPr lang="en-US" sz="3400" dirty="0"/>
          </a:p>
        </p:txBody>
      </p:sp>
      <p:sp>
        <p:nvSpPr>
          <p:cNvPr id="4" name="Text 2"/>
          <p:cNvSpPr txBox="1"/>
          <p:nvPr/>
        </p:nvSpPr>
        <p:spPr>
          <a:xfrm>
            <a:off x="594360" y="1572768"/>
            <a:ext cx="6035040" cy="822960"/>
          </a:xfrm>
          <a:prstGeom prst="rect">
            <a:avLst/>
          </a:prstGeom>
          <a:noFill/>
          <a:ln/>
        </p:spPr>
        <p:txBody>
          <a:bodyPr wrap="square" lIns="0" tIns="0" rIns="0" bIns="0" rtlCol="0" anchor="ctr"/>
          <a:lstStyle/>
          <a:p>
            <a:pPr indent="0" marL="0">
              <a:lnSpc>
                <a:spcPts val="2500"/>
              </a:lnSpc>
              <a:buNone/>
            </a:pPr>
            <a:r>
              <a:rPr lang="en-US" sz="1650" dirty="0">
                <a:solidFill>
                  <a:srgbClr val="6B8394"/>
                </a:solidFill>
                <a:latin typeface="Calibri" pitchFamily="34" charset="0"/>
                <a:ea typeface="Calibri" pitchFamily="34" charset="-122"/>
                <a:cs typeface="Calibri" pitchFamily="34" charset="-120"/>
              </a:rPr>
              <a:t>The client is the part the user actually touches. It has a screen, it takes input, and it asks for everything it needs.</a:t>
            </a:r>
            <a:endParaRPr lang="en-US" sz="1650" dirty="0"/>
          </a:p>
        </p:txBody>
      </p:sp>
      <p:sp>
        <p:nvSpPr>
          <p:cNvPr id="5" name="Shape 3"/>
          <p:cNvSpPr/>
          <p:nvPr/>
        </p:nvSpPr>
        <p:spPr>
          <a:xfrm>
            <a:off x="594360" y="2606040"/>
            <a:ext cx="457200" cy="457200"/>
          </a:xfrm>
          <a:prstGeom prst="ellipse">
            <a:avLst/>
          </a:prstGeom>
          <a:solidFill>
            <a:srgbClr val="2E7DD1"/>
          </a:solidFill>
          <a:ln/>
        </p:spPr>
      </p:sp>
      <p:sp>
        <p:nvSpPr>
          <p:cNvPr id="6" name="Text 4"/>
          <p:cNvSpPr txBox="1"/>
          <p:nvPr/>
        </p:nvSpPr>
        <p:spPr>
          <a:xfrm>
            <a:off x="594360" y="2606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325880" y="2587752"/>
            <a:ext cx="5394960" cy="320040"/>
          </a:xfrm>
          <a:prstGeom prst="rect">
            <a:avLst/>
          </a:prstGeom>
          <a:noFill/>
          <a:ln/>
        </p:spPr>
        <p:txBody>
          <a:bodyPr wrap="square" lIns="0" tIns="0" rIns="0" bIns="0" rtlCol="0" anchor="ctr"/>
          <a:lstStyle/>
          <a:p>
            <a:pPr indent="0" marL="0">
              <a:buNone/>
            </a:pPr>
            <a:r>
              <a:rPr lang="en-US" sz="1750" b="1" dirty="0">
                <a:solidFill>
                  <a:srgbClr val="0E2233"/>
                </a:solidFill>
                <a:latin typeface="Cambria" pitchFamily="34" charset="0"/>
                <a:ea typeface="Cambria" pitchFamily="34" charset="-122"/>
                <a:cs typeface="Cambria" pitchFamily="34" charset="-120"/>
              </a:rPr>
              <a:t>It faces the user</a:t>
            </a:r>
            <a:endParaRPr lang="en-US" sz="1750" dirty="0"/>
          </a:p>
        </p:txBody>
      </p:sp>
      <p:sp>
        <p:nvSpPr>
          <p:cNvPr id="8" name="Text 6"/>
          <p:cNvSpPr txBox="1"/>
          <p:nvPr/>
        </p:nvSpPr>
        <p:spPr>
          <a:xfrm>
            <a:off x="1325880" y="2935224"/>
            <a:ext cx="5394960" cy="411480"/>
          </a:xfrm>
          <a:prstGeom prst="rect">
            <a:avLst/>
          </a:prstGeom>
          <a:noFill/>
          <a:ln/>
        </p:spPr>
        <p:txBody>
          <a:bodyPr wrap="square" lIns="0" tIns="0" rIns="0" bIns="0" rtlCol="0" anchor="ctr"/>
          <a:lstStyle/>
          <a:p>
            <a:pPr indent="0" marL="0">
              <a:buNone/>
            </a:pPr>
            <a:r>
              <a:rPr lang="en-US" sz="1400" dirty="0">
                <a:solidFill>
                  <a:srgbClr val="6B8394"/>
                </a:solidFill>
                <a:latin typeface="Calibri" pitchFamily="34" charset="0"/>
                <a:ea typeface="Calibri" pitchFamily="34" charset="-122"/>
                <a:cs typeface="Calibri" pitchFamily="34" charset="-120"/>
              </a:rPr>
              <a:t>Buttons, forms, lists, images — everything visible.</a:t>
            </a:r>
            <a:endParaRPr lang="en-US" sz="1400" dirty="0"/>
          </a:p>
        </p:txBody>
      </p:sp>
      <p:sp>
        <p:nvSpPr>
          <p:cNvPr id="9" name="Shape 7"/>
          <p:cNvSpPr/>
          <p:nvPr/>
        </p:nvSpPr>
        <p:spPr>
          <a:xfrm>
            <a:off x="594360" y="3657600"/>
            <a:ext cx="457200" cy="457200"/>
          </a:xfrm>
          <a:prstGeom prst="ellipse">
            <a:avLst/>
          </a:prstGeom>
          <a:solidFill>
            <a:srgbClr val="2E7DD1"/>
          </a:solidFill>
          <a:ln/>
        </p:spPr>
      </p:sp>
      <p:sp>
        <p:nvSpPr>
          <p:cNvPr id="10" name="Text 8"/>
          <p:cNvSpPr txBox="1"/>
          <p:nvPr/>
        </p:nvSpPr>
        <p:spPr>
          <a:xfrm>
            <a:off x="594360" y="3657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325880" y="3639312"/>
            <a:ext cx="5394960" cy="320040"/>
          </a:xfrm>
          <a:prstGeom prst="rect">
            <a:avLst/>
          </a:prstGeom>
          <a:noFill/>
          <a:ln/>
        </p:spPr>
        <p:txBody>
          <a:bodyPr wrap="square" lIns="0" tIns="0" rIns="0" bIns="0" rtlCol="0" anchor="ctr"/>
          <a:lstStyle/>
          <a:p>
            <a:pPr indent="0" marL="0">
              <a:buNone/>
            </a:pPr>
            <a:r>
              <a:rPr lang="en-US" sz="1750" b="1" dirty="0">
                <a:solidFill>
                  <a:srgbClr val="0E2233"/>
                </a:solidFill>
                <a:latin typeface="Cambria" pitchFamily="34" charset="0"/>
                <a:ea typeface="Cambria" pitchFamily="34" charset="-122"/>
                <a:cs typeface="Cambria" pitchFamily="34" charset="-120"/>
              </a:rPr>
              <a:t>It asks, it does not decide</a:t>
            </a:r>
            <a:endParaRPr lang="en-US" sz="1750" dirty="0"/>
          </a:p>
        </p:txBody>
      </p:sp>
      <p:sp>
        <p:nvSpPr>
          <p:cNvPr id="12" name="Text 10"/>
          <p:cNvSpPr txBox="1"/>
          <p:nvPr/>
        </p:nvSpPr>
        <p:spPr>
          <a:xfrm>
            <a:off x="1325880" y="3986784"/>
            <a:ext cx="5394960" cy="411480"/>
          </a:xfrm>
          <a:prstGeom prst="rect">
            <a:avLst/>
          </a:prstGeom>
          <a:noFill/>
          <a:ln/>
        </p:spPr>
        <p:txBody>
          <a:bodyPr wrap="square" lIns="0" tIns="0" rIns="0" bIns="0" rtlCol="0" anchor="ctr"/>
          <a:lstStyle/>
          <a:p>
            <a:pPr indent="0" marL="0">
              <a:buNone/>
            </a:pPr>
            <a:r>
              <a:rPr lang="en-US" sz="1400" dirty="0">
                <a:solidFill>
                  <a:srgbClr val="6B8394"/>
                </a:solidFill>
                <a:latin typeface="Calibri" pitchFamily="34" charset="0"/>
                <a:ea typeface="Calibri" pitchFamily="34" charset="-122"/>
                <a:cs typeface="Calibri" pitchFamily="34" charset="-120"/>
              </a:rPr>
              <a:t>It requests data. It never gets to say what the rules are.</a:t>
            </a:r>
            <a:endParaRPr lang="en-US" sz="1400" dirty="0"/>
          </a:p>
        </p:txBody>
      </p:sp>
      <p:sp>
        <p:nvSpPr>
          <p:cNvPr id="13" name="Shape 11"/>
          <p:cNvSpPr/>
          <p:nvPr/>
        </p:nvSpPr>
        <p:spPr>
          <a:xfrm>
            <a:off x="594360" y="4709160"/>
            <a:ext cx="457200" cy="457200"/>
          </a:xfrm>
          <a:prstGeom prst="ellipse">
            <a:avLst/>
          </a:prstGeom>
          <a:solidFill>
            <a:srgbClr val="2E7DD1"/>
          </a:solidFill>
          <a:ln/>
        </p:spPr>
      </p:sp>
      <p:sp>
        <p:nvSpPr>
          <p:cNvPr id="14" name="Text 12"/>
          <p:cNvSpPr txBox="1"/>
          <p:nvPr/>
        </p:nvSpPr>
        <p:spPr>
          <a:xfrm>
            <a:off x="594360" y="4709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325880" y="4690872"/>
            <a:ext cx="5394960" cy="320040"/>
          </a:xfrm>
          <a:prstGeom prst="rect">
            <a:avLst/>
          </a:prstGeom>
          <a:noFill/>
          <a:ln/>
        </p:spPr>
        <p:txBody>
          <a:bodyPr wrap="square" lIns="0" tIns="0" rIns="0" bIns="0" rtlCol="0" anchor="ctr"/>
          <a:lstStyle/>
          <a:p>
            <a:pPr indent="0" marL="0">
              <a:buNone/>
            </a:pPr>
            <a:r>
              <a:rPr lang="en-US" sz="1750" b="1" dirty="0">
                <a:solidFill>
                  <a:srgbClr val="0E2233"/>
                </a:solidFill>
                <a:latin typeface="Cambria" pitchFamily="34" charset="0"/>
                <a:ea typeface="Cambria" pitchFamily="34" charset="-122"/>
                <a:cs typeface="Cambria" pitchFamily="34" charset="-120"/>
              </a:rPr>
              <a:t>It runs on their device</a:t>
            </a:r>
            <a:endParaRPr lang="en-US" sz="1750" dirty="0"/>
          </a:p>
        </p:txBody>
      </p:sp>
      <p:sp>
        <p:nvSpPr>
          <p:cNvPr id="16" name="Text 14"/>
          <p:cNvSpPr txBox="1"/>
          <p:nvPr/>
        </p:nvSpPr>
        <p:spPr>
          <a:xfrm>
            <a:off x="1325880" y="5038344"/>
            <a:ext cx="5394960" cy="411480"/>
          </a:xfrm>
          <a:prstGeom prst="rect">
            <a:avLst/>
          </a:prstGeom>
          <a:noFill/>
          <a:ln/>
        </p:spPr>
        <p:txBody>
          <a:bodyPr wrap="square" lIns="0" tIns="0" rIns="0" bIns="0" rtlCol="0" anchor="ctr"/>
          <a:lstStyle/>
          <a:p>
            <a:pPr indent="0" marL="0">
              <a:buNone/>
            </a:pPr>
            <a:r>
              <a:rPr lang="en-US" sz="1400" dirty="0">
                <a:solidFill>
                  <a:srgbClr val="6B8394"/>
                </a:solidFill>
                <a:latin typeface="Calibri" pitchFamily="34" charset="0"/>
                <a:ea typeface="Calibri" pitchFamily="34" charset="-122"/>
                <a:cs typeface="Calibri" pitchFamily="34" charset="-120"/>
              </a:rPr>
              <a:t>Their phone, their laptop, their browser — not yours.</a:t>
            </a:r>
            <a:endParaRPr lang="en-US" sz="1400" dirty="0"/>
          </a:p>
        </p:txBody>
      </p:sp>
      <p:sp>
        <p:nvSpPr>
          <p:cNvPr id="17" name="Shape 15"/>
          <p:cNvSpPr/>
          <p:nvPr/>
        </p:nvSpPr>
        <p:spPr>
          <a:xfrm>
            <a:off x="7178040" y="1600200"/>
            <a:ext cx="4434840" cy="4160520"/>
          </a:xfrm>
          <a:prstGeom prst="roundRect">
            <a:avLst>
              <a:gd name="adj" fmla="val 1978"/>
            </a:avLst>
          </a:prstGeom>
          <a:solidFill>
            <a:srgbClr val="E2EDF9"/>
          </a:solidFill>
          <a:ln w="15875">
            <a:solidFill>
              <a:srgbClr val="2E7DD1"/>
            </a:solidFill>
            <a:prstDash val="solid"/>
          </a:ln>
        </p:spPr>
      </p:sp>
      <p:sp>
        <p:nvSpPr>
          <p:cNvPr id="18" name="Text 16"/>
          <p:cNvSpPr txBox="1"/>
          <p:nvPr/>
        </p:nvSpPr>
        <p:spPr>
          <a:xfrm>
            <a:off x="7178040" y="1874520"/>
            <a:ext cx="4434840" cy="274320"/>
          </a:xfrm>
          <a:prstGeom prst="rect">
            <a:avLst/>
          </a:prstGeom>
          <a:noFill/>
          <a:ln/>
        </p:spPr>
        <p:txBody>
          <a:bodyPr wrap="square" lIns="0" tIns="0" rIns="0" bIns="0" rtlCol="0" anchor="ctr"/>
          <a:lstStyle/>
          <a:p>
            <a:pPr algn="ctr" indent="0" marL="0">
              <a:buNone/>
            </a:pPr>
            <a:r>
              <a:rPr lang="en-US" sz="1100" b="1" spc="180" kern="0" dirty="0">
                <a:solidFill>
                  <a:srgbClr val="2E7DD1"/>
                </a:solidFill>
                <a:latin typeface="Calibri" pitchFamily="34" charset="0"/>
                <a:ea typeface="Calibri" pitchFamily="34" charset="-122"/>
                <a:cs typeface="Calibri" pitchFamily="34" charset="-120"/>
              </a:rPr>
              <a:t>EXAMPLES OF CLIENTS</a:t>
            </a:r>
            <a:endParaRPr lang="en-US" sz="1100" dirty="0"/>
          </a:p>
        </p:txBody>
      </p:sp>
      <p:sp>
        <p:nvSpPr>
          <p:cNvPr id="19" name="Shape 17"/>
          <p:cNvSpPr/>
          <p:nvPr/>
        </p:nvSpPr>
        <p:spPr>
          <a:xfrm>
            <a:off x="7818120" y="2377440"/>
            <a:ext cx="1371600" cy="2377440"/>
          </a:xfrm>
          <a:prstGeom prst="roundRect">
            <a:avLst>
              <a:gd name="adj" fmla="val 6000"/>
            </a:avLst>
          </a:prstGeom>
          <a:solidFill>
            <a:srgbClr val="FFFFFF"/>
          </a:solidFill>
          <a:ln w="15875">
            <a:solidFill>
              <a:srgbClr val="2E7DD1"/>
            </a:solidFill>
            <a:prstDash val="solid"/>
          </a:ln>
        </p:spPr>
      </p:sp>
      <p:sp>
        <p:nvSpPr>
          <p:cNvPr id="20" name="Shape 18"/>
          <p:cNvSpPr/>
          <p:nvPr/>
        </p:nvSpPr>
        <p:spPr>
          <a:xfrm>
            <a:off x="8028432" y="2651760"/>
            <a:ext cx="950976" cy="146304"/>
          </a:xfrm>
          <a:prstGeom prst="roundRect">
            <a:avLst>
              <a:gd name="adj" fmla="val 50000"/>
            </a:avLst>
          </a:prstGeom>
          <a:solidFill>
            <a:srgbClr val="B4CDE8"/>
          </a:solidFill>
          <a:ln/>
        </p:spPr>
      </p:sp>
      <p:sp>
        <p:nvSpPr>
          <p:cNvPr id="21" name="Shape 19"/>
          <p:cNvSpPr/>
          <p:nvPr/>
        </p:nvSpPr>
        <p:spPr>
          <a:xfrm>
            <a:off x="8028432" y="2907792"/>
            <a:ext cx="640080" cy="146304"/>
          </a:xfrm>
          <a:prstGeom prst="roundRect">
            <a:avLst>
              <a:gd name="adj" fmla="val 50000"/>
            </a:avLst>
          </a:prstGeom>
          <a:solidFill>
            <a:srgbClr val="B4CDE8"/>
          </a:solidFill>
          <a:ln/>
        </p:spPr>
      </p:sp>
      <p:sp>
        <p:nvSpPr>
          <p:cNvPr id="22" name="Shape 20"/>
          <p:cNvSpPr/>
          <p:nvPr/>
        </p:nvSpPr>
        <p:spPr>
          <a:xfrm>
            <a:off x="8028432" y="3977640"/>
            <a:ext cx="950976" cy="347472"/>
          </a:xfrm>
          <a:prstGeom prst="roundRect">
            <a:avLst>
              <a:gd name="adj" fmla="val 21053"/>
            </a:avLst>
          </a:prstGeom>
          <a:solidFill>
            <a:srgbClr val="2E7DD1"/>
          </a:solidFill>
          <a:ln/>
        </p:spPr>
      </p:sp>
      <p:sp>
        <p:nvSpPr>
          <p:cNvPr id="23" name="Text 21"/>
          <p:cNvSpPr txBox="1"/>
          <p:nvPr/>
        </p:nvSpPr>
        <p:spPr>
          <a:xfrm>
            <a:off x="7818120" y="4846320"/>
            <a:ext cx="1371600" cy="274320"/>
          </a:xfrm>
          <a:prstGeom prst="rect">
            <a:avLst/>
          </a:prstGeom>
          <a:noFill/>
          <a:ln/>
        </p:spPr>
        <p:txBody>
          <a:bodyPr wrap="square" lIns="0" tIns="0" rIns="0" bIns="0" rtlCol="0" anchor="ctr"/>
          <a:lstStyle/>
          <a:p>
            <a:pPr algn="ctr" indent="0" marL="0">
              <a:buNone/>
            </a:pPr>
            <a:r>
              <a:rPr lang="en-US" sz="1250" b="1" dirty="0">
                <a:solidFill>
                  <a:srgbClr val="0E2233"/>
                </a:solidFill>
                <a:latin typeface="Calibri" pitchFamily="34" charset="0"/>
                <a:ea typeface="Calibri" pitchFamily="34" charset="-122"/>
                <a:cs typeface="Calibri" pitchFamily="34" charset="-120"/>
              </a:rPr>
              <a:t>Mobile App</a:t>
            </a:r>
            <a:endParaRPr lang="en-US" sz="1250" dirty="0"/>
          </a:p>
        </p:txBody>
      </p:sp>
      <p:sp>
        <p:nvSpPr>
          <p:cNvPr id="24" name="Shape 22"/>
          <p:cNvSpPr/>
          <p:nvPr/>
        </p:nvSpPr>
        <p:spPr>
          <a:xfrm>
            <a:off x="9509760" y="2377440"/>
            <a:ext cx="1691640" cy="2377440"/>
          </a:xfrm>
          <a:prstGeom prst="roundRect">
            <a:avLst>
              <a:gd name="adj" fmla="val 4865"/>
            </a:avLst>
          </a:prstGeom>
          <a:solidFill>
            <a:srgbClr val="FFFFFF"/>
          </a:solidFill>
          <a:ln w="15875">
            <a:solidFill>
              <a:srgbClr val="2E7DD1"/>
            </a:solidFill>
            <a:prstDash val="solid"/>
          </a:ln>
        </p:spPr>
      </p:sp>
      <p:sp>
        <p:nvSpPr>
          <p:cNvPr id="25" name="Shape 23"/>
          <p:cNvSpPr/>
          <p:nvPr/>
        </p:nvSpPr>
        <p:spPr>
          <a:xfrm>
            <a:off x="9509760" y="2377440"/>
            <a:ext cx="1691640" cy="384048"/>
          </a:xfrm>
          <a:prstGeom prst="rect">
            <a:avLst/>
          </a:prstGeom>
          <a:solidFill>
            <a:srgbClr val="D3E3F5"/>
          </a:solidFill>
          <a:ln/>
        </p:spPr>
      </p:sp>
      <p:sp>
        <p:nvSpPr>
          <p:cNvPr id="26" name="Shape 24"/>
          <p:cNvSpPr/>
          <p:nvPr/>
        </p:nvSpPr>
        <p:spPr>
          <a:xfrm>
            <a:off x="9646920" y="2514600"/>
            <a:ext cx="100584" cy="100584"/>
          </a:xfrm>
          <a:prstGeom prst="ellipse">
            <a:avLst/>
          </a:prstGeom>
          <a:solidFill>
            <a:srgbClr val="2E7DD1"/>
          </a:solidFill>
          <a:ln/>
        </p:spPr>
      </p:sp>
      <p:sp>
        <p:nvSpPr>
          <p:cNvPr id="27" name="Shape 25"/>
          <p:cNvSpPr/>
          <p:nvPr/>
        </p:nvSpPr>
        <p:spPr>
          <a:xfrm>
            <a:off x="9829800" y="2514600"/>
            <a:ext cx="100584" cy="100584"/>
          </a:xfrm>
          <a:prstGeom prst="ellipse">
            <a:avLst/>
          </a:prstGeom>
          <a:solidFill>
            <a:srgbClr val="2E7DD1"/>
          </a:solidFill>
          <a:ln/>
        </p:spPr>
      </p:sp>
      <p:sp>
        <p:nvSpPr>
          <p:cNvPr id="28" name="Shape 26"/>
          <p:cNvSpPr/>
          <p:nvPr/>
        </p:nvSpPr>
        <p:spPr>
          <a:xfrm>
            <a:off x="10012680" y="2514600"/>
            <a:ext cx="100584" cy="100584"/>
          </a:xfrm>
          <a:prstGeom prst="ellipse">
            <a:avLst/>
          </a:prstGeom>
          <a:solidFill>
            <a:srgbClr val="2E7DD1"/>
          </a:solidFill>
          <a:ln/>
        </p:spPr>
      </p:sp>
      <p:sp>
        <p:nvSpPr>
          <p:cNvPr id="29" name="Shape 27"/>
          <p:cNvSpPr/>
          <p:nvPr/>
        </p:nvSpPr>
        <p:spPr>
          <a:xfrm>
            <a:off x="9692640" y="2971800"/>
            <a:ext cx="1325880" cy="146304"/>
          </a:xfrm>
          <a:prstGeom prst="roundRect">
            <a:avLst>
              <a:gd name="adj" fmla="val 50000"/>
            </a:avLst>
          </a:prstGeom>
          <a:solidFill>
            <a:srgbClr val="B4CDE8"/>
          </a:solidFill>
          <a:ln/>
        </p:spPr>
      </p:sp>
      <p:sp>
        <p:nvSpPr>
          <p:cNvPr id="30" name="Shape 28"/>
          <p:cNvSpPr/>
          <p:nvPr/>
        </p:nvSpPr>
        <p:spPr>
          <a:xfrm>
            <a:off x="9692640" y="3246120"/>
            <a:ext cx="914400" cy="146304"/>
          </a:xfrm>
          <a:prstGeom prst="roundRect">
            <a:avLst>
              <a:gd name="adj" fmla="val 50000"/>
            </a:avLst>
          </a:prstGeom>
          <a:solidFill>
            <a:srgbClr val="B4CDE8"/>
          </a:solidFill>
          <a:ln/>
        </p:spPr>
      </p:sp>
      <p:sp>
        <p:nvSpPr>
          <p:cNvPr id="31" name="Shape 29"/>
          <p:cNvSpPr/>
          <p:nvPr/>
        </p:nvSpPr>
        <p:spPr>
          <a:xfrm>
            <a:off x="9692640" y="3977640"/>
            <a:ext cx="868680" cy="347472"/>
          </a:xfrm>
          <a:prstGeom prst="roundRect">
            <a:avLst>
              <a:gd name="adj" fmla="val 21053"/>
            </a:avLst>
          </a:prstGeom>
          <a:solidFill>
            <a:srgbClr val="2E7DD1"/>
          </a:solidFill>
          <a:ln/>
        </p:spPr>
      </p:sp>
      <p:sp>
        <p:nvSpPr>
          <p:cNvPr id="32" name="Text 30"/>
          <p:cNvSpPr txBox="1"/>
          <p:nvPr/>
        </p:nvSpPr>
        <p:spPr>
          <a:xfrm>
            <a:off x="9509760" y="4846320"/>
            <a:ext cx="1691640" cy="274320"/>
          </a:xfrm>
          <a:prstGeom prst="rect">
            <a:avLst/>
          </a:prstGeom>
          <a:noFill/>
          <a:ln/>
        </p:spPr>
        <p:txBody>
          <a:bodyPr wrap="square" lIns="0" tIns="0" rIns="0" bIns="0" rtlCol="0" anchor="ctr"/>
          <a:lstStyle/>
          <a:p>
            <a:pPr algn="ctr" indent="0" marL="0">
              <a:buNone/>
            </a:pPr>
            <a:r>
              <a:rPr lang="en-US" sz="1250" b="1" dirty="0">
                <a:solidFill>
                  <a:srgbClr val="0E2233"/>
                </a:solidFill>
                <a:latin typeface="Calibri" pitchFamily="34" charset="0"/>
                <a:ea typeface="Calibri" pitchFamily="34" charset="-122"/>
                <a:cs typeface="Calibri" pitchFamily="34" charset="-120"/>
              </a:rPr>
              <a:t>Web Browser</a:t>
            </a:r>
            <a:endParaRPr lang="en-US" sz="1250" dirty="0"/>
          </a:p>
        </p:txBody>
      </p:sp>
      <p:sp>
        <p:nvSpPr>
          <p:cNvPr id="33" name="Text 31"/>
          <p:cNvSpPr txBox="1"/>
          <p:nvPr/>
        </p:nvSpPr>
        <p:spPr>
          <a:xfrm>
            <a:off x="7178040" y="5230368"/>
            <a:ext cx="4434840" cy="320040"/>
          </a:xfrm>
          <a:prstGeom prst="rect">
            <a:avLst/>
          </a:prstGeom>
          <a:noFill/>
          <a:ln/>
        </p:spPr>
        <p:txBody>
          <a:bodyPr wrap="square" lIns="0" tIns="0" rIns="0" bIns="0" rtlCol="0" anchor="ctr"/>
          <a:lstStyle/>
          <a:p>
            <a:pPr algn="ctr" indent="0" marL="0">
              <a:buNone/>
            </a:pPr>
            <a:r>
              <a:rPr lang="en-US" sz="1350" i="1" dirty="0">
                <a:solidFill>
                  <a:srgbClr val="2E7DD1"/>
                </a:solidFill>
                <a:latin typeface="Calibri" pitchFamily="34" charset="0"/>
                <a:ea typeface="Calibri" pitchFamily="34" charset="-122"/>
                <a:cs typeface="Calibri" pitchFamily="34" charset="-120"/>
              </a:rPr>
              <a:t>Different shapes. Same job.</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058400" cy="256032"/>
          </a:xfrm>
          <a:prstGeom prst="rect">
            <a:avLst/>
          </a:prstGeom>
          <a:noFill/>
          <a:ln/>
        </p:spPr>
        <p:txBody>
          <a:bodyPr wrap="square" lIns="0" tIns="0" rIns="0" bIns="0" rtlCol="0" anchor="ctr"/>
          <a:lstStyle/>
          <a:p>
            <a:pPr indent="0" marL="0">
              <a:buNone/>
            </a:pPr>
            <a:r>
              <a:rPr lang="en-US" sz="1100" b="1" spc="220" kern="0" dirty="0">
                <a:solidFill>
                  <a:srgbClr val="2E7DD1"/>
                </a:solidFill>
                <a:latin typeface="Calibri" pitchFamily="34" charset="0"/>
                <a:ea typeface="Calibri" pitchFamily="34" charset="-122"/>
                <a:cs typeface="Calibri" pitchFamily="34" charset="-120"/>
              </a:rPr>
              <a:t>REAL-LIFE ANALOGY</a:t>
            </a:r>
            <a:endParaRPr lang="en-US" sz="1100" dirty="0"/>
          </a:p>
        </p:txBody>
      </p:sp>
      <p:sp>
        <p:nvSpPr>
          <p:cNvPr id="3" name="Text 1"/>
          <p:cNvSpPr txBox="1"/>
          <p:nvPr/>
        </p:nvSpPr>
        <p:spPr>
          <a:xfrm>
            <a:off x="594360" y="658368"/>
            <a:ext cx="10972800" cy="777240"/>
          </a:xfrm>
          <a:prstGeom prst="rect">
            <a:avLst/>
          </a:prstGeom>
          <a:noFill/>
          <a:ln/>
        </p:spPr>
        <p:txBody>
          <a:bodyPr wrap="square" lIns="0" tIns="0" rIns="0" bIns="0" rtlCol="0" anchor="t"/>
          <a:lstStyle/>
          <a:p>
            <a:pPr indent="0" marL="0">
              <a:buNone/>
            </a:pPr>
            <a:r>
              <a:rPr lang="en-US" sz="3400" b="1" dirty="0">
                <a:solidFill>
                  <a:srgbClr val="0E2233"/>
                </a:solidFill>
                <a:latin typeface="Cambria" pitchFamily="34" charset="0"/>
                <a:ea typeface="Cambria" pitchFamily="34" charset="-122"/>
                <a:cs typeface="Cambria" pitchFamily="34" charset="-120"/>
              </a:rPr>
              <a:t>You have already been a client today</a:t>
            </a:r>
            <a:endParaRPr lang="en-US" sz="3400" dirty="0"/>
          </a:p>
        </p:txBody>
      </p:sp>
      <p:sp>
        <p:nvSpPr>
          <p:cNvPr id="4" name="Text 2"/>
          <p:cNvSpPr txBox="1"/>
          <p:nvPr/>
        </p:nvSpPr>
        <p:spPr>
          <a:xfrm>
            <a:off x="594360" y="1536192"/>
            <a:ext cx="10515600" cy="365760"/>
          </a:xfrm>
          <a:prstGeom prst="rect">
            <a:avLst/>
          </a:prstGeom>
          <a:noFill/>
          <a:ln/>
        </p:spPr>
        <p:txBody>
          <a:bodyPr wrap="square" lIns="0" tIns="0" rIns="0" bIns="0" rtlCol="0" anchor="ctr"/>
          <a:lstStyle/>
          <a:p>
            <a:pPr indent="0" marL="0">
              <a:buNone/>
            </a:pPr>
            <a:r>
              <a:rPr lang="en-US" sz="1650" dirty="0">
                <a:solidFill>
                  <a:srgbClr val="6B8394"/>
                </a:solidFill>
                <a:latin typeface="Calibri" pitchFamily="34" charset="0"/>
                <a:ea typeface="Calibri" pitchFamily="34" charset="-122"/>
                <a:cs typeface="Calibri" pitchFamily="34" charset="-120"/>
              </a:rPr>
              <a:t>You walk into a restaurant. Everything that happens next has a name in our world.</a:t>
            </a:r>
            <a:endParaRPr lang="en-US" sz="1650" dirty="0"/>
          </a:p>
        </p:txBody>
      </p:sp>
      <p:sp>
        <p:nvSpPr>
          <p:cNvPr id="5" name="Shape 3"/>
          <p:cNvSpPr/>
          <p:nvPr/>
        </p:nvSpPr>
        <p:spPr>
          <a:xfrm>
            <a:off x="685800" y="2194560"/>
            <a:ext cx="3520440" cy="2697480"/>
          </a:xfrm>
          <a:prstGeom prst="roundRect">
            <a:avLst>
              <a:gd name="adj" fmla="val 3051"/>
            </a:avLst>
          </a:prstGeom>
          <a:solidFill>
            <a:srgbClr val="F1F5F7"/>
          </a:solidFill>
          <a:ln/>
          <a:effectLst>
            <a:outerShdw sx="100000" sy="100000" kx="0" ky="0" algn="bl" rotWithShape="0" blurRad="127000" dist="635" dir="5400000">
              <a:srgbClr val="9BB0BA">
                <a:alpha val="35000"/>
              </a:srgbClr>
            </a:outerShdw>
          </a:effectLst>
        </p:spPr>
      </p:sp>
      <p:sp>
        <p:nvSpPr>
          <p:cNvPr id="6" name="Text 4"/>
          <p:cNvSpPr txBox="1"/>
          <p:nvPr/>
        </p:nvSpPr>
        <p:spPr>
          <a:xfrm>
            <a:off x="685800" y="2487168"/>
            <a:ext cx="3520440" cy="274320"/>
          </a:xfrm>
          <a:prstGeom prst="rect">
            <a:avLst/>
          </a:prstGeom>
          <a:noFill/>
          <a:ln/>
        </p:spPr>
        <p:txBody>
          <a:bodyPr wrap="square" lIns="0" tIns="0" rIns="0" bIns="0" rtlCol="0" anchor="ctr"/>
          <a:lstStyle/>
          <a:p>
            <a:pPr algn="ctr" indent="0" marL="0">
              <a:buNone/>
            </a:pPr>
            <a:r>
              <a:rPr lang="en-US" sz="1100" b="1" spc="180" kern="0" dirty="0">
                <a:solidFill>
                  <a:srgbClr val="6B8394"/>
                </a:solidFill>
                <a:latin typeface="Calibri" pitchFamily="34" charset="0"/>
                <a:ea typeface="Calibri" pitchFamily="34" charset="-122"/>
                <a:cs typeface="Calibri" pitchFamily="34" charset="-120"/>
              </a:rPr>
              <a:t>YOU</a:t>
            </a:r>
            <a:endParaRPr lang="en-US" sz="1100" dirty="0"/>
          </a:p>
        </p:txBody>
      </p:sp>
      <p:sp>
        <p:nvSpPr>
          <p:cNvPr id="7" name="Text 5"/>
          <p:cNvSpPr txBox="1"/>
          <p:nvPr/>
        </p:nvSpPr>
        <p:spPr>
          <a:xfrm>
            <a:off x="685800" y="2880360"/>
            <a:ext cx="3520440" cy="457200"/>
          </a:xfrm>
          <a:prstGeom prst="rect">
            <a:avLst/>
          </a:prstGeom>
          <a:noFill/>
          <a:ln/>
        </p:spPr>
        <p:txBody>
          <a:bodyPr wrap="square" lIns="0" tIns="0" rIns="0" bIns="0" rtlCol="0" anchor="ctr"/>
          <a:lstStyle/>
          <a:p>
            <a:pPr algn="ctr" indent="0" marL="0">
              <a:buNone/>
            </a:pPr>
            <a:r>
              <a:rPr lang="en-US" sz="2500" b="1" dirty="0">
                <a:solidFill>
                  <a:srgbClr val="2E7DD1"/>
                </a:solidFill>
                <a:latin typeface="Cambria" pitchFamily="34" charset="0"/>
                <a:ea typeface="Cambria" pitchFamily="34" charset="-122"/>
                <a:cs typeface="Cambria" pitchFamily="34" charset="-120"/>
              </a:rPr>
              <a:t>The Client</a:t>
            </a:r>
            <a:endParaRPr lang="en-US" sz="2500" dirty="0"/>
          </a:p>
        </p:txBody>
      </p:sp>
      <p:sp>
        <p:nvSpPr>
          <p:cNvPr id="8" name="Shape 6"/>
          <p:cNvSpPr/>
          <p:nvPr/>
        </p:nvSpPr>
        <p:spPr>
          <a:xfrm>
            <a:off x="1874520" y="3611880"/>
            <a:ext cx="1143000" cy="0"/>
          </a:xfrm>
          <a:prstGeom prst="line">
            <a:avLst/>
          </a:prstGeom>
          <a:noFill/>
          <a:ln w="15875">
            <a:solidFill>
              <a:srgbClr val="CBD9DF"/>
            </a:solidFill>
            <a:prstDash val="solid"/>
          </a:ln>
        </p:spPr>
      </p:sp>
      <p:sp>
        <p:nvSpPr>
          <p:cNvPr id="9" name="Text 7"/>
          <p:cNvSpPr txBox="1"/>
          <p:nvPr/>
        </p:nvSpPr>
        <p:spPr>
          <a:xfrm>
            <a:off x="1051560" y="3767328"/>
            <a:ext cx="2788920" cy="914400"/>
          </a:xfrm>
          <a:prstGeom prst="rect">
            <a:avLst/>
          </a:prstGeom>
          <a:noFill/>
          <a:ln/>
        </p:spPr>
        <p:txBody>
          <a:bodyPr wrap="square" lIns="0" tIns="0" rIns="0" bIns="0" rtlCol="0" anchor="t"/>
          <a:lstStyle/>
          <a:p>
            <a:pPr algn="ctr" indent="0" marL="0">
              <a:lnSpc>
                <a:spcPts val="2100"/>
              </a:lnSpc>
              <a:buNone/>
            </a:pPr>
            <a:r>
              <a:rPr lang="en-US" sz="1450" dirty="0">
                <a:solidFill>
                  <a:srgbClr val="17364D"/>
                </a:solidFill>
                <a:latin typeface="Calibri" pitchFamily="34" charset="0"/>
                <a:ea typeface="Calibri" pitchFamily="34" charset="-122"/>
                <a:cs typeface="Calibri" pitchFamily="34" charset="-120"/>
              </a:rPr>
              <a:t>You want something. You cannot make it yourself.</a:t>
            </a:r>
            <a:endParaRPr lang="en-US" sz="1450" dirty="0"/>
          </a:p>
        </p:txBody>
      </p:sp>
      <p:sp>
        <p:nvSpPr>
          <p:cNvPr id="10" name="Shape 8"/>
          <p:cNvSpPr/>
          <p:nvPr/>
        </p:nvSpPr>
        <p:spPr>
          <a:xfrm>
            <a:off x="4462272" y="2194560"/>
            <a:ext cx="3520440" cy="2697480"/>
          </a:xfrm>
          <a:prstGeom prst="roundRect">
            <a:avLst>
              <a:gd name="adj" fmla="val 3051"/>
            </a:avLst>
          </a:prstGeom>
          <a:solidFill>
            <a:srgbClr val="F1F5F7"/>
          </a:solidFill>
          <a:ln/>
          <a:effectLst>
            <a:outerShdw sx="100000" sy="100000" kx="0" ky="0" algn="bl" rotWithShape="0" blurRad="127000" dist="635" dir="5400000">
              <a:srgbClr val="9BB0BA">
                <a:alpha val="35000"/>
              </a:srgbClr>
            </a:outerShdw>
          </a:effectLst>
        </p:spPr>
      </p:sp>
      <p:sp>
        <p:nvSpPr>
          <p:cNvPr id="11" name="Text 9"/>
          <p:cNvSpPr txBox="1"/>
          <p:nvPr/>
        </p:nvSpPr>
        <p:spPr>
          <a:xfrm>
            <a:off x="4462272" y="2487168"/>
            <a:ext cx="3520440" cy="274320"/>
          </a:xfrm>
          <a:prstGeom prst="rect">
            <a:avLst/>
          </a:prstGeom>
          <a:noFill/>
          <a:ln/>
        </p:spPr>
        <p:txBody>
          <a:bodyPr wrap="square" lIns="0" tIns="0" rIns="0" bIns="0" rtlCol="0" anchor="ctr"/>
          <a:lstStyle/>
          <a:p>
            <a:pPr algn="ctr" indent="0" marL="0">
              <a:buNone/>
            </a:pPr>
            <a:r>
              <a:rPr lang="en-US" sz="1100" b="1" spc="180" kern="0" dirty="0">
                <a:solidFill>
                  <a:srgbClr val="6B8394"/>
                </a:solidFill>
                <a:latin typeface="Calibri" pitchFamily="34" charset="0"/>
                <a:ea typeface="Calibri" pitchFamily="34" charset="-122"/>
                <a:cs typeface="Calibri" pitchFamily="34" charset="-120"/>
              </a:rPr>
              <a:t>THE MENU</a:t>
            </a:r>
            <a:endParaRPr lang="en-US" sz="1100" dirty="0"/>
          </a:p>
        </p:txBody>
      </p:sp>
      <p:sp>
        <p:nvSpPr>
          <p:cNvPr id="12" name="Text 10"/>
          <p:cNvSpPr txBox="1"/>
          <p:nvPr/>
        </p:nvSpPr>
        <p:spPr>
          <a:xfrm>
            <a:off x="4462272" y="2880360"/>
            <a:ext cx="3520440" cy="457200"/>
          </a:xfrm>
          <a:prstGeom prst="rect">
            <a:avLst/>
          </a:prstGeom>
          <a:noFill/>
          <a:ln/>
        </p:spPr>
        <p:txBody>
          <a:bodyPr wrap="square" lIns="0" tIns="0" rIns="0" bIns="0" rtlCol="0" anchor="ctr"/>
          <a:lstStyle/>
          <a:p>
            <a:pPr algn="ctr" indent="0" marL="0">
              <a:buNone/>
            </a:pPr>
            <a:r>
              <a:rPr lang="en-US" sz="2500" b="1" dirty="0">
                <a:solidFill>
                  <a:srgbClr val="2E7DD1"/>
                </a:solidFill>
                <a:latin typeface="Cambria" pitchFamily="34" charset="0"/>
                <a:ea typeface="Cambria" pitchFamily="34" charset="-122"/>
                <a:cs typeface="Cambria" pitchFamily="34" charset="-120"/>
              </a:rPr>
              <a:t>The Interface</a:t>
            </a:r>
            <a:endParaRPr lang="en-US" sz="2500" dirty="0"/>
          </a:p>
        </p:txBody>
      </p:sp>
      <p:sp>
        <p:nvSpPr>
          <p:cNvPr id="13" name="Shape 11"/>
          <p:cNvSpPr/>
          <p:nvPr/>
        </p:nvSpPr>
        <p:spPr>
          <a:xfrm>
            <a:off x="5650992" y="3611880"/>
            <a:ext cx="1143000" cy="0"/>
          </a:xfrm>
          <a:prstGeom prst="line">
            <a:avLst/>
          </a:prstGeom>
          <a:noFill/>
          <a:ln w="15875">
            <a:solidFill>
              <a:srgbClr val="CBD9DF"/>
            </a:solidFill>
            <a:prstDash val="solid"/>
          </a:ln>
        </p:spPr>
      </p:sp>
      <p:sp>
        <p:nvSpPr>
          <p:cNvPr id="14" name="Text 12"/>
          <p:cNvSpPr txBox="1"/>
          <p:nvPr/>
        </p:nvSpPr>
        <p:spPr>
          <a:xfrm>
            <a:off x="4828032" y="3767328"/>
            <a:ext cx="2788920" cy="914400"/>
          </a:xfrm>
          <a:prstGeom prst="rect">
            <a:avLst/>
          </a:prstGeom>
          <a:noFill/>
          <a:ln/>
        </p:spPr>
        <p:txBody>
          <a:bodyPr wrap="square" lIns="0" tIns="0" rIns="0" bIns="0" rtlCol="0" anchor="t"/>
          <a:lstStyle/>
          <a:p>
            <a:pPr algn="ctr" indent="0" marL="0">
              <a:lnSpc>
                <a:spcPts val="2100"/>
              </a:lnSpc>
              <a:buNone/>
            </a:pPr>
            <a:r>
              <a:rPr lang="en-US" sz="1450" dirty="0">
                <a:solidFill>
                  <a:srgbClr val="17364D"/>
                </a:solidFill>
                <a:latin typeface="Calibri" pitchFamily="34" charset="0"/>
                <a:ea typeface="Calibri" pitchFamily="34" charset="-122"/>
                <a:cs typeface="Calibri" pitchFamily="34" charset="-120"/>
              </a:rPr>
              <a:t>It shows what you are allowed to ask for.</a:t>
            </a:r>
            <a:endParaRPr lang="en-US" sz="1450" dirty="0"/>
          </a:p>
        </p:txBody>
      </p:sp>
      <p:sp>
        <p:nvSpPr>
          <p:cNvPr id="15" name="Shape 13"/>
          <p:cNvSpPr/>
          <p:nvPr/>
        </p:nvSpPr>
        <p:spPr>
          <a:xfrm>
            <a:off x="8238744" y="2194560"/>
            <a:ext cx="3520440" cy="2697480"/>
          </a:xfrm>
          <a:prstGeom prst="roundRect">
            <a:avLst>
              <a:gd name="adj" fmla="val 3051"/>
            </a:avLst>
          </a:prstGeom>
          <a:solidFill>
            <a:srgbClr val="F1F5F7"/>
          </a:solidFill>
          <a:ln/>
          <a:effectLst>
            <a:outerShdw sx="100000" sy="100000" kx="0" ky="0" algn="bl" rotWithShape="0" blurRad="127000" dist="635" dir="5400000">
              <a:srgbClr val="9BB0BA">
                <a:alpha val="35000"/>
              </a:srgbClr>
            </a:outerShdw>
          </a:effectLst>
        </p:spPr>
      </p:sp>
      <p:sp>
        <p:nvSpPr>
          <p:cNvPr id="16" name="Text 14"/>
          <p:cNvSpPr txBox="1"/>
          <p:nvPr/>
        </p:nvSpPr>
        <p:spPr>
          <a:xfrm>
            <a:off x="8238744" y="2487168"/>
            <a:ext cx="3520440" cy="274320"/>
          </a:xfrm>
          <a:prstGeom prst="rect">
            <a:avLst/>
          </a:prstGeom>
          <a:noFill/>
          <a:ln/>
        </p:spPr>
        <p:txBody>
          <a:bodyPr wrap="square" lIns="0" tIns="0" rIns="0" bIns="0" rtlCol="0" anchor="ctr"/>
          <a:lstStyle/>
          <a:p>
            <a:pPr algn="ctr" indent="0" marL="0">
              <a:buNone/>
            </a:pPr>
            <a:r>
              <a:rPr lang="en-US" sz="1100" b="1" spc="180" kern="0" dirty="0">
                <a:solidFill>
                  <a:srgbClr val="6B8394"/>
                </a:solidFill>
                <a:latin typeface="Calibri" pitchFamily="34" charset="0"/>
                <a:ea typeface="Calibri" pitchFamily="34" charset="-122"/>
                <a:cs typeface="Calibri" pitchFamily="34" charset="-120"/>
              </a:rPr>
              <a:t>YOUR ORDER</a:t>
            </a:r>
            <a:endParaRPr lang="en-US" sz="1100" dirty="0"/>
          </a:p>
        </p:txBody>
      </p:sp>
      <p:sp>
        <p:nvSpPr>
          <p:cNvPr id="17" name="Text 15"/>
          <p:cNvSpPr txBox="1"/>
          <p:nvPr/>
        </p:nvSpPr>
        <p:spPr>
          <a:xfrm>
            <a:off x="8238744" y="2880360"/>
            <a:ext cx="3520440" cy="457200"/>
          </a:xfrm>
          <a:prstGeom prst="rect">
            <a:avLst/>
          </a:prstGeom>
          <a:noFill/>
          <a:ln/>
        </p:spPr>
        <p:txBody>
          <a:bodyPr wrap="square" lIns="0" tIns="0" rIns="0" bIns="0" rtlCol="0" anchor="ctr"/>
          <a:lstStyle/>
          <a:p>
            <a:pPr algn="ctr" indent="0" marL="0">
              <a:buNone/>
            </a:pPr>
            <a:r>
              <a:rPr lang="en-US" sz="2500" b="1" dirty="0">
                <a:solidFill>
                  <a:srgbClr val="D97B29"/>
                </a:solidFill>
                <a:latin typeface="Cambria" pitchFamily="34" charset="0"/>
                <a:ea typeface="Cambria" pitchFamily="34" charset="-122"/>
                <a:cs typeface="Cambria" pitchFamily="34" charset="-120"/>
              </a:rPr>
              <a:t>The Request</a:t>
            </a:r>
            <a:endParaRPr lang="en-US" sz="2500" dirty="0"/>
          </a:p>
        </p:txBody>
      </p:sp>
      <p:sp>
        <p:nvSpPr>
          <p:cNvPr id="18" name="Shape 16"/>
          <p:cNvSpPr/>
          <p:nvPr/>
        </p:nvSpPr>
        <p:spPr>
          <a:xfrm>
            <a:off x="9427464" y="3611880"/>
            <a:ext cx="1143000" cy="0"/>
          </a:xfrm>
          <a:prstGeom prst="line">
            <a:avLst/>
          </a:prstGeom>
          <a:noFill/>
          <a:ln w="15875">
            <a:solidFill>
              <a:srgbClr val="CBD9DF"/>
            </a:solidFill>
            <a:prstDash val="solid"/>
          </a:ln>
        </p:spPr>
      </p:sp>
      <p:sp>
        <p:nvSpPr>
          <p:cNvPr id="19" name="Text 17"/>
          <p:cNvSpPr txBox="1"/>
          <p:nvPr/>
        </p:nvSpPr>
        <p:spPr>
          <a:xfrm>
            <a:off x="8604504" y="3767328"/>
            <a:ext cx="2788920" cy="914400"/>
          </a:xfrm>
          <a:prstGeom prst="rect">
            <a:avLst/>
          </a:prstGeom>
          <a:noFill/>
          <a:ln/>
        </p:spPr>
        <p:txBody>
          <a:bodyPr wrap="square" lIns="0" tIns="0" rIns="0" bIns="0" rtlCol="0" anchor="t"/>
          <a:lstStyle/>
          <a:p>
            <a:pPr algn="ctr" indent="0" marL="0">
              <a:lnSpc>
                <a:spcPts val="2100"/>
              </a:lnSpc>
              <a:buNone/>
            </a:pPr>
            <a:r>
              <a:rPr lang="en-US" sz="1450" dirty="0">
                <a:solidFill>
                  <a:srgbClr val="17364D"/>
                </a:solidFill>
                <a:latin typeface="Calibri" pitchFamily="34" charset="0"/>
                <a:ea typeface="Calibri" pitchFamily="34" charset="-122"/>
                <a:cs typeface="Calibri" pitchFamily="34" charset="-120"/>
              </a:rPr>
              <a:t>A clear message saying exactly what you want.</a:t>
            </a:r>
            <a:endParaRPr lang="en-US" sz="1450" dirty="0"/>
          </a:p>
        </p:txBody>
      </p:sp>
      <p:sp>
        <p:nvSpPr>
          <p:cNvPr id="20" name="Text 18"/>
          <p:cNvSpPr txBox="1"/>
          <p:nvPr/>
        </p:nvSpPr>
        <p:spPr>
          <a:xfrm>
            <a:off x="594360" y="5623560"/>
            <a:ext cx="10515600" cy="411480"/>
          </a:xfrm>
          <a:prstGeom prst="rect">
            <a:avLst/>
          </a:prstGeom>
          <a:noFill/>
          <a:ln/>
        </p:spPr>
        <p:txBody>
          <a:bodyPr wrap="square" lIns="0" tIns="0" rIns="0" bIns="0" rtlCol="0" anchor="ctr"/>
          <a:lstStyle/>
          <a:p>
            <a:pPr algn="ctr" indent="0" marL="0">
              <a:buNone/>
            </a:pPr>
            <a:r>
              <a:rPr lang="en-US" sz="1700" b="1" i="1" dirty="0">
                <a:solidFill>
                  <a:srgbClr val="0E2233"/>
                </a:solidFill>
                <a:latin typeface="Calibri" pitchFamily="34" charset="0"/>
                <a:ea typeface="Calibri" pitchFamily="34" charset="-122"/>
                <a:cs typeface="Calibri" pitchFamily="34" charset="-120"/>
              </a:rPr>
              <a:t>Notice: you never walk into the kitchen.</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058400" cy="256032"/>
          </a:xfrm>
          <a:prstGeom prst="rect">
            <a:avLst/>
          </a:prstGeom>
          <a:noFill/>
          <a:ln/>
        </p:spPr>
        <p:txBody>
          <a:bodyPr wrap="square" lIns="0" tIns="0" rIns="0" bIns="0" rtlCol="0" anchor="ctr"/>
          <a:lstStyle/>
          <a:p>
            <a:pPr indent="0" marL="0">
              <a:buNone/>
            </a:pPr>
            <a:r>
              <a:rPr lang="en-US" sz="1100" b="1" spc="220" kern="0" dirty="0">
                <a:solidFill>
                  <a:srgbClr val="0E9594"/>
                </a:solidFill>
                <a:latin typeface="Calibri" pitchFamily="34" charset="0"/>
                <a:ea typeface="Calibri" pitchFamily="34" charset="-122"/>
                <a:cs typeface="Calibri" pitchFamily="34" charset="-120"/>
              </a:rPr>
              <a:t>PART TWO</a:t>
            </a:r>
            <a:endParaRPr lang="en-US" sz="1100" dirty="0"/>
          </a:p>
        </p:txBody>
      </p:sp>
      <p:sp>
        <p:nvSpPr>
          <p:cNvPr id="3" name="Text 1"/>
          <p:cNvSpPr txBox="1"/>
          <p:nvPr/>
        </p:nvSpPr>
        <p:spPr>
          <a:xfrm>
            <a:off x="594360" y="658368"/>
            <a:ext cx="10972800" cy="777240"/>
          </a:xfrm>
          <a:prstGeom prst="rect">
            <a:avLst/>
          </a:prstGeom>
          <a:noFill/>
          <a:ln/>
        </p:spPr>
        <p:txBody>
          <a:bodyPr wrap="square" lIns="0" tIns="0" rIns="0" bIns="0" rtlCol="0" anchor="t"/>
          <a:lstStyle/>
          <a:p>
            <a:pPr indent="0" marL="0">
              <a:buNone/>
            </a:pPr>
            <a:r>
              <a:rPr lang="en-US" sz="3400" b="1" dirty="0">
                <a:solidFill>
                  <a:srgbClr val="0E2233"/>
                </a:solidFill>
                <a:latin typeface="Cambria" pitchFamily="34" charset="0"/>
                <a:ea typeface="Cambria" pitchFamily="34" charset="-122"/>
                <a:cs typeface="Cambria" pitchFamily="34" charset="-120"/>
              </a:rPr>
              <a:t>What is a Server?</a:t>
            </a:r>
            <a:endParaRPr lang="en-US" sz="3400" dirty="0"/>
          </a:p>
        </p:txBody>
      </p:sp>
      <p:sp>
        <p:nvSpPr>
          <p:cNvPr id="4" name="Text 2"/>
          <p:cNvSpPr txBox="1"/>
          <p:nvPr/>
        </p:nvSpPr>
        <p:spPr>
          <a:xfrm>
            <a:off x="594360" y="1572768"/>
            <a:ext cx="10607040" cy="685800"/>
          </a:xfrm>
          <a:prstGeom prst="rect">
            <a:avLst/>
          </a:prstGeom>
          <a:noFill/>
          <a:ln/>
        </p:spPr>
        <p:txBody>
          <a:bodyPr wrap="square" lIns="0" tIns="0" rIns="0" bIns="0" rtlCol="0" anchor="ctr"/>
          <a:lstStyle/>
          <a:p>
            <a:pPr indent="0" marL="0">
              <a:lnSpc>
                <a:spcPts val="2500"/>
              </a:lnSpc>
              <a:buNone/>
            </a:pPr>
            <a:r>
              <a:rPr lang="en-US" sz="1650" dirty="0">
                <a:solidFill>
                  <a:srgbClr val="6B8394"/>
                </a:solidFill>
                <a:latin typeface="Calibri" pitchFamily="34" charset="0"/>
                <a:ea typeface="Calibri" pitchFamily="34" charset="-122"/>
                <a:cs typeface="Calibri" pitchFamily="34" charset="-120"/>
              </a:rPr>
              <a:t>A server is just a computer that never sleeps, waiting to be asked something. It holds the rules and the data — and it decides what everyone is allowed to have.</a:t>
            </a:r>
            <a:endParaRPr lang="en-US" sz="1650" dirty="0"/>
          </a:p>
        </p:txBody>
      </p:sp>
      <p:sp>
        <p:nvSpPr>
          <p:cNvPr id="5" name="Shape 3"/>
          <p:cNvSpPr/>
          <p:nvPr/>
        </p:nvSpPr>
        <p:spPr>
          <a:xfrm>
            <a:off x="685800" y="2514600"/>
            <a:ext cx="2468880" cy="2606040"/>
          </a:xfrm>
          <a:prstGeom prst="roundRect">
            <a:avLst>
              <a:gd name="adj" fmla="val 3333"/>
            </a:avLst>
          </a:prstGeom>
          <a:solidFill>
            <a:srgbClr val="DDF0EF"/>
          </a:solidFill>
          <a:ln w="15875">
            <a:solidFill>
              <a:srgbClr val="0E9594"/>
            </a:solidFill>
            <a:prstDash val="solid"/>
          </a:ln>
        </p:spPr>
      </p:sp>
      <p:sp>
        <p:nvSpPr>
          <p:cNvPr id="6" name="Shape 4"/>
          <p:cNvSpPr/>
          <p:nvPr/>
        </p:nvSpPr>
        <p:spPr>
          <a:xfrm>
            <a:off x="1645920" y="2788920"/>
            <a:ext cx="548640" cy="548640"/>
          </a:xfrm>
          <a:prstGeom prst="ellipse">
            <a:avLst/>
          </a:prstGeom>
          <a:solidFill>
            <a:srgbClr val="0E9594"/>
          </a:solidFill>
          <a:ln/>
        </p:spPr>
      </p:sp>
      <p:sp>
        <p:nvSpPr>
          <p:cNvPr id="7" name="Text 5"/>
          <p:cNvSpPr txBox="1"/>
          <p:nvPr/>
        </p:nvSpPr>
        <p:spPr>
          <a:xfrm>
            <a:off x="1645920" y="27889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685800" y="3493008"/>
            <a:ext cx="2468880" cy="365760"/>
          </a:xfrm>
          <a:prstGeom prst="rect">
            <a:avLst/>
          </a:prstGeom>
          <a:noFill/>
          <a:ln/>
        </p:spPr>
        <p:txBody>
          <a:bodyPr wrap="square" lIns="0" tIns="0" rIns="0" bIns="0" rtlCol="0" anchor="ctr"/>
          <a:lstStyle/>
          <a:p>
            <a:pPr algn="ctr" indent="0" marL="0">
              <a:buNone/>
            </a:pPr>
            <a:r>
              <a:rPr lang="en-US" sz="2000" b="1" dirty="0">
                <a:solidFill>
                  <a:srgbClr val="0E2233"/>
                </a:solidFill>
                <a:latin typeface="Cambria" pitchFamily="34" charset="0"/>
                <a:ea typeface="Cambria" pitchFamily="34" charset="-122"/>
                <a:cs typeface="Cambria" pitchFamily="34" charset="-120"/>
              </a:rPr>
              <a:t>Receives</a:t>
            </a:r>
            <a:endParaRPr lang="en-US" sz="2000" dirty="0"/>
          </a:p>
        </p:txBody>
      </p:sp>
      <p:sp>
        <p:nvSpPr>
          <p:cNvPr id="9" name="Text 7"/>
          <p:cNvSpPr txBox="1"/>
          <p:nvPr/>
        </p:nvSpPr>
        <p:spPr>
          <a:xfrm>
            <a:off x="886968" y="3931920"/>
            <a:ext cx="2066544" cy="1051560"/>
          </a:xfrm>
          <a:prstGeom prst="rect">
            <a:avLst/>
          </a:prstGeom>
          <a:noFill/>
          <a:ln/>
        </p:spPr>
        <p:txBody>
          <a:bodyPr wrap="square" lIns="0" tIns="0" rIns="0" bIns="0" rtlCol="0" anchor="t"/>
          <a:lstStyle/>
          <a:p>
            <a:pPr algn="ctr" indent="0" marL="0">
              <a:lnSpc>
                <a:spcPts val="1800"/>
              </a:lnSpc>
              <a:buNone/>
            </a:pPr>
            <a:r>
              <a:rPr lang="en-US" sz="1300" dirty="0">
                <a:solidFill>
                  <a:srgbClr val="17364D"/>
                </a:solidFill>
                <a:latin typeface="Calibri" pitchFamily="34" charset="0"/>
                <a:ea typeface="Calibri" pitchFamily="34" charset="-122"/>
                <a:cs typeface="Calibri" pitchFamily="34" charset="-120"/>
              </a:rPr>
              <a:t>Listens all day for requests arriving from clients anywhere in the world.</a:t>
            </a:r>
            <a:endParaRPr lang="en-US" sz="1300" dirty="0"/>
          </a:p>
        </p:txBody>
      </p:sp>
      <p:sp>
        <p:nvSpPr>
          <p:cNvPr id="10" name="Shape 8"/>
          <p:cNvSpPr/>
          <p:nvPr/>
        </p:nvSpPr>
        <p:spPr>
          <a:xfrm>
            <a:off x="3236976" y="3703320"/>
            <a:ext cx="228600" cy="274320"/>
          </a:xfrm>
          <a:prstGeom prst="rightArrow">
            <a:avLst/>
          </a:prstGeom>
          <a:solidFill>
            <a:srgbClr val="0E9594"/>
          </a:solidFill>
          <a:ln/>
        </p:spPr>
      </p:sp>
      <p:sp>
        <p:nvSpPr>
          <p:cNvPr id="11" name="Shape 9"/>
          <p:cNvSpPr/>
          <p:nvPr/>
        </p:nvSpPr>
        <p:spPr>
          <a:xfrm>
            <a:off x="3520440" y="2514600"/>
            <a:ext cx="2468880" cy="2606040"/>
          </a:xfrm>
          <a:prstGeom prst="roundRect">
            <a:avLst>
              <a:gd name="adj" fmla="val 3333"/>
            </a:avLst>
          </a:prstGeom>
          <a:solidFill>
            <a:srgbClr val="DDF0EF"/>
          </a:solidFill>
          <a:ln w="15875">
            <a:solidFill>
              <a:srgbClr val="0E9594"/>
            </a:solidFill>
            <a:prstDash val="solid"/>
          </a:ln>
        </p:spPr>
      </p:sp>
      <p:sp>
        <p:nvSpPr>
          <p:cNvPr id="12" name="Shape 10"/>
          <p:cNvSpPr/>
          <p:nvPr/>
        </p:nvSpPr>
        <p:spPr>
          <a:xfrm>
            <a:off x="4480560" y="2788920"/>
            <a:ext cx="548640" cy="548640"/>
          </a:xfrm>
          <a:prstGeom prst="ellipse">
            <a:avLst/>
          </a:prstGeom>
          <a:solidFill>
            <a:srgbClr val="0E9594"/>
          </a:solidFill>
          <a:ln/>
        </p:spPr>
      </p:sp>
      <p:sp>
        <p:nvSpPr>
          <p:cNvPr id="13" name="Text 11"/>
          <p:cNvSpPr txBox="1"/>
          <p:nvPr/>
        </p:nvSpPr>
        <p:spPr>
          <a:xfrm>
            <a:off x="4480560" y="27889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3520440" y="3493008"/>
            <a:ext cx="2468880" cy="365760"/>
          </a:xfrm>
          <a:prstGeom prst="rect">
            <a:avLst/>
          </a:prstGeom>
          <a:noFill/>
          <a:ln/>
        </p:spPr>
        <p:txBody>
          <a:bodyPr wrap="square" lIns="0" tIns="0" rIns="0" bIns="0" rtlCol="0" anchor="ctr"/>
          <a:lstStyle/>
          <a:p>
            <a:pPr algn="ctr" indent="0" marL="0">
              <a:buNone/>
            </a:pPr>
            <a:r>
              <a:rPr lang="en-US" sz="2000" b="1" dirty="0">
                <a:solidFill>
                  <a:srgbClr val="0E2233"/>
                </a:solidFill>
                <a:latin typeface="Cambria" pitchFamily="34" charset="0"/>
                <a:ea typeface="Cambria" pitchFamily="34" charset="-122"/>
                <a:cs typeface="Cambria" pitchFamily="34" charset="-120"/>
              </a:rPr>
              <a:t>Decides</a:t>
            </a:r>
            <a:endParaRPr lang="en-US" sz="2000" dirty="0"/>
          </a:p>
        </p:txBody>
      </p:sp>
      <p:sp>
        <p:nvSpPr>
          <p:cNvPr id="15" name="Text 13"/>
          <p:cNvSpPr txBox="1"/>
          <p:nvPr/>
        </p:nvSpPr>
        <p:spPr>
          <a:xfrm>
            <a:off x="3721608" y="3931920"/>
            <a:ext cx="2066544" cy="1051560"/>
          </a:xfrm>
          <a:prstGeom prst="rect">
            <a:avLst/>
          </a:prstGeom>
          <a:noFill/>
          <a:ln/>
        </p:spPr>
        <p:txBody>
          <a:bodyPr wrap="square" lIns="0" tIns="0" rIns="0" bIns="0" rtlCol="0" anchor="t"/>
          <a:lstStyle/>
          <a:p>
            <a:pPr algn="ctr" indent="0" marL="0">
              <a:lnSpc>
                <a:spcPts val="1800"/>
              </a:lnSpc>
              <a:buNone/>
            </a:pPr>
            <a:r>
              <a:rPr lang="en-US" sz="1300" dirty="0">
                <a:solidFill>
                  <a:srgbClr val="17364D"/>
                </a:solidFill>
                <a:latin typeface="Calibri" pitchFamily="34" charset="0"/>
                <a:ea typeface="Calibri" pitchFamily="34" charset="-122"/>
                <a:cs typeface="Calibri" pitchFamily="34" charset="-120"/>
              </a:rPr>
              <a:t>Applies the rules. Checks who is asking and whether they are allowed.</a:t>
            </a:r>
            <a:endParaRPr lang="en-US" sz="1300" dirty="0"/>
          </a:p>
        </p:txBody>
      </p:sp>
      <p:sp>
        <p:nvSpPr>
          <p:cNvPr id="16" name="Shape 14"/>
          <p:cNvSpPr/>
          <p:nvPr/>
        </p:nvSpPr>
        <p:spPr>
          <a:xfrm>
            <a:off x="6071616" y="3703320"/>
            <a:ext cx="228600" cy="274320"/>
          </a:xfrm>
          <a:prstGeom prst="rightArrow">
            <a:avLst/>
          </a:prstGeom>
          <a:solidFill>
            <a:srgbClr val="0E9594"/>
          </a:solidFill>
          <a:ln/>
        </p:spPr>
      </p:sp>
      <p:sp>
        <p:nvSpPr>
          <p:cNvPr id="17" name="Shape 15"/>
          <p:cNvSpPr/>
          <p:nvPr/>
        </p:nvSpPr>
        <p:spPr>
          <a:xfrm>
            <a:off x="6355080" y="2514600"/>
            <a:ext cx="2468880" cy="2606040"/>
          </a:xfrm>
          <a:prstGeom prst="roundRect">
            <a:avLst>
              <a:gd name="adj" fmla="val 3333"/>
            </a:avLst>
          </a:prstGeom>
          <a:solidFill>
            <a:srgbClr val="DDF0EF"/>
          </a:solidFill>
          <a:ln w="15875">
            <a:solidFill>
              <a:srgbClr val="0E9594"/>
            </a:solidFill>
            <a:prstDash val="solid"/>
          </a:ln>
        </p:spPr>
      </p:sp>
      <p:sp>
        <p:nvSpPr>
          <p:cNvPr id="18" name="Shape 16"/>
          <p:cNvSpPr/>
          <p:nvPr/>
        </p:nvSpPr>
        <p:spPr>
          <a:xfrm>
            <a:off x="7315200" y="2788920"/>
            <a:ext cx="548640" cy="548640"/>
          </a:xfrm>
          <a:prstGeom prst="ellipse">
            <a:avLst/>
          </a:prstGeom>
          <a:solidFill>
            <a:srgbClr val="0E9594"/>
          </a:solidFill>
          <a:ln/>
        </p:spPr>
      </p:sp>
      <p:sp>
        <p:nvSpPr>
          <p:cNvPr id="19" name="Text 17"/>
          <p:cNvSpPr txBox="1"/>
          <p:nvPr/>
        </p:nvSpPr>
        <p:spPr>
          <a:xfrm>
            <a:off x="7315200" y="27889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8"/>
          <p:cNvSpPr txBox="1"/>
          <p:nvPr/>
        </p:nvSpPr>
        <p:spPr>
          <a:xfrm>
            <a:off x="6355080" y="3493008"/>
            <a:ext cx="2468880" cy="365760"/>
          </a:xfrm>
          <a:prstGeom prst="rect">
            <a:avLst/>
          </a:prstGeom>
          <a:noFill/>
          <a:ln/>
        </p:spPr>
        <p:txBody>
          <a:bodyPr wrap="square" lIns="0" tIns="0" rIns="0" bIns="0" rtlCol="0" anchor="ctr"/>
          <a:lstStyle/>
          <a:p>
            <a:pPr algn="ctr" indent="0" marL="0">
              <a:buNone/>
            </a:pPr>
            <a:r>
              <a:rPr lang="en-US" sz="2000" b="1" dirty="0">
                <a:solidFill>
                  <a:srgbClr val="0E2233"/>
                </a:solidFill>
                <a:latin typeface="Cambria" pitchFamily="34" charset="0"/>
                <a:ea typeface="Cambria" pitchFamily="34" charset="-122"/>
                <a:cs typeface="Cambria" pitchFamily="34" charset="-120"/>
              </a:rPr>
              <a:t>Fetches</a:t>
            </a:r>
            <a:endParaRPr lang="en-US" sz="2000" dirty="0"/>
          </a:p>
        </p:txBody>
      </p:sp>
      <p:sp>
        <p:nvSpPr>
          <p:cNvPr id="21" name="Text 19"/>
          <p:cNvSpPr txBox="1"/>
          <p:nvPr/>
        </p:nvSpPr>
        <p:spPr>
          <a:xfrm>
            <a:off x="6556248" y="3931920"/>
            <a:ext cx="2066544" cy="1051560"/>
          </a:xfrm>
          <a:prstGeom prst="rect">
            <a:avLst/>
          </a:prstGeom>
          <a:noFill/>
          <a:ln/>
        </p:spPr>
        <p:txBody>
          <a:bodyPr wrap="square" lIns="0" tIns="0" rIns="0" bIns="0" rtlCol="0" anchor="t"/>
          <a:lstStyle/>
          <a:p>
            <a:pPr algn="ctr" indent="0" marL="0">
              <a:lnSpc>
                <a:spcPts val="1800"/>
              </a:lnSpc>
              <a:buNone/>
            </a:pPr>
            <a:r>
              <a:rPr lang="en-US" sz="1300" dirty="0">
                <a:solidFill>
                  <a:srgbClr val="17364D"/>
                </a:solidFill>
                <a:latin typeface="Calibri" pitchFamily="34" charset="0"/>
                <a:ea typeface="Calibri" pitchFamily="34" charset="-122"/>
                <a:cs typeface="Calibri" pitchFamily="34" charset="-120"/>
              </a:rPr>
              <a:t>Goes to the database for whatever data the request needs.</a:t>
            </a:r>
            <a:endParaRPr lang="en-US" sz="1300" dirty="0"/>
          </a:p>
        </p:txBody>
      </p:sp>
      <p:sp>
        <p:nvSpPr>
          <p:cNvPr id="22" name="Shape 20"/>
          <p:cNvSpPr/>
          <p:nvPr/>
        </p:nvSpPr>
        <p:spPr>
          <a:xfrm>
            <a:off x="8906256" y="3703320"/>
            <a:ext cx="228600" cy="274320"/>
          </a:xfrm>
          <a:prstGeom prst="rightArrow">
            <a:avLst/>
          </a:prstGeom>
          <a:solidFill>
            <a:srgbClr val="0E9594"/>
          </a:solidFill>
          <a:ln/>
        </p:spPr>
      </p:sp>
      <p:sp>
        <p:nvSpPr>
          <p:cNvPr id="23" name="Shape 21"/>
          <p:cNvSpPr/>
          <p:nvPr/>
        </p:nvSpPr>
        <p:spPr>
          <a:xfrm>
            <a:off x="9189720" y="2514600"/>
            <a:ext cx="2468880" cy="2606040"/>
          </a:xfrm>
          <a:prstGeom prst="roundRect">
            <a:avLst>
              <a:gd name="adj" fmla="val 3333"/>
            </a:avLst>
          </a:prstGeom>
          <a:solidFill>
            <a:srgbClr val="DDF0EF"/>
          </a:solidFill>
          <a:ln w="15875">
            <a:solidFill>
              <a:srgbClr val="0E9594"/>
            </a:solidFill>
            <a:prstDash val="solid"/>
          </a:ln>
        </p:spPr>
      </p:sp>
      <p:sp>
        <p:nvSpPr>
          <p:cNvPr id="24" name="Shape 22"/>
          <p:cNvSpPr/>
          <p:nvPr/>
        </p:nvSpPr>
        <p:spPr>
          <a:xfrm>
            <a:off x="10149840" y="2788920"/>
            <a:ext cx="548640" cy="548640"/>
          </a:xfrm>
          <a:prstGeom prst="ellipse">
            <a:avLst/>
          </a:prstGeom>
          <a:solidFill>
            <a:srgbClr val="0E9594"/>
          </a:solidFill>
          <a:ln/>
        </p:spPr>
      </p:sp>
      <p:sp>
        <p:nvSpPr>
          <p:cNvPr id="25" name="Text 23"/>
          <p:cNvSpPr txBox="1"/>
          <p:nvPr/>
        </p:nvSpPr>
        <p:spPr>
          <a:xfrm>
            <a:off x="10149840" y="27889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6" name="Text 24"/>
          <p:cNvSpPr txBox="1"/>
          <p:nvPr/>
        </p:nvSpPr>
        <p:spPr>
          <a:xfrm>
            <a:off x="9189720" y="3493008"/>
            <a:ext cx="2468880" cy="365760"/>
          </a:xfrm>
          <a:prstGeom prst="rect">
            <a:avLst/>
          </a:prstGeom>
          <a:noFill/>
          <a:ln/>
        </p:spPr>
        <p:txBody>
          <a:bodyPr wrap="square" lIns="0" tIns="0" rIns="0" bIns="0" rtlCol="0" anchor="ctr"/>
          <a:lstStyle/>
          <a:p>
            <a:pPr algn="ctr" indent="0" marL="0">
              <a:buNone/>
            </a:pPr>
            <a:r>
              <a:rPr lang="en-US" sz="2000" b="1" dirty="0">
                <a:solidFill>
                  <a:srgbClr val="0E2233"/>
                </a:solidFill>
                <a:latin typeface="Cambria" pitchFamily="34" charset="0"/>
                <a:ea typeface="Cambria" pitchFamily="34" charset="-122"/>
                <a:cs typeface="Cambria" pitchFamily="34" charset="-120"/>
              </a:rPr>
              <a:t>Responds</a:t>
            </a:r>
            <a:endParaRPr lang="en-US" sz="2000" dirty="0"/>
          </a:p>
        </p:txBody>
      </p:sp>
      <p:sp>
        <p:nvSpPr>
          <p:cNvPr id="27" name="Text 25"/>
          <p:cNvSpPr txBox="1"/>
          <p:nvPr/>
        </p:nvSpPr>
        <p:spPr>
          <a:xfrm>
            <a:off x="9390888" y="3931920"/>
            <a:ext cx="2066544" cy="1051560"/>
          </a:xfrm>
          <a:prstGeom prst="rect">
            <a:avLst/>
          </a:prstGeom>
          <a:noFill/>
          <a:ln/>
        </p:spPr>
        <p:txBody>
          <a:bodyPr wrap="square" lIns="0" tIns="0" rIns="0" bIns="0" rtlCol="0" anchor="t"/>
          <a:lstStyle/>
          <a:p>
            <a:pPr algn="ctr" indent="0" marL="0">
              <a:lnSpc>
                <a:spcPts val="1800"/>
              </a:lnSpc>
              <a:buNone/>
            </a:pPr>
            <a:r>
              <a:rPr lang="en-US" sz="1300" dirty="0">
                <a:solidFill>
                  <a:srgbClr val="17364D"/>
                </a:solidFill>
                <a:latin typeface="Calibri" pitchFamily="34" charset="0"/>
                <a:ea typeface="Calibri" pitchFamily="34" charset="-122"/>
                <a:cs typeface="Calibri" pitchFamily="34" charset="-120"/>
              </a:rPr>
              <a:t>Sends back an answer — the data, or a clear reason why not.</a:t>
            </a:r>
            <a:endParaRPr lang="en-US" sz="1300" dirty="0"/>
          </a:p>
        </p:txBody>
      </p:sp>
      <p:sp>
        <p:nvSpPr>
          <p:cNvPr id="28" name="Text 26"/>
          <p:cNvSpPr txBox="1"/>
          <p:nvPr/>
        </p:nvSpPr>
        <p:spPr>
          <a:xfrm>
            <a:off x="594360" y="5486400"/>
            <a:ext cx="10515600" cy="365760"/>
          </a:xfrm>
          <a:prstGeom prst="rect">
            <a:avLst/>
          </a:prstGeom>
          <a:noFill/>
          <a:ln/>
        </p:spPr>
        <p:txBody>
          <a:bodyPr wrap="square" lIns="0" tIns="0" rIns="0" bIns="0" rtlCol="0" anchor="ctr"/>
          <a:lstStyle/>
          <a:p>
            <a:pPr algn="ctr" indent="0" marL="0">
              <a:buNone/>
            </a:pPr>
            <a:r>
              <a:rPr lang="en-US" sz="1550" i="1" dirty="0">
                <a:solidFill>
                  <a:srgbClr val="6B8394"/>
                </a:solidFill>
                <a:latin typeface="Calibri" pitchFamily="34" charset="0"/>
                <a:ea typeface="Calibri" pitchFamily="34" charset="-122"/>
                <a:cs typeface="Calibri" pitchFamily="34" charset="-120"/>
              </a:rPr>
              <a:t>Every one of those four jobs happens in well under a tenth of a second.</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058400" cy="256032"/>
          </a:xfrm>
          <a:prstGeom prst="rect">
            <a:avLst/>
          </a:prstGeom>
          <a:noFill/>
          <a:ln/>
        </p:spPr>
        <p:txBody>
          <a:bodyPr wrap="square" lIns="0" tIns="0" rIns="0" bIns="0" rtlCol="0" anchor="ctr"/>
          <a:lstStyle/>
          <a:p>
            <a:pPr indent="0" marL="0">
              <a:buNone/>
            </a:pPr>
            <a:r>
              <a:rPr lang="en-US" sz="1100" b="1" spc="220" kern="0" dirty="0">
                <a:solidFill>
                  <a:srgbClr val="0E9594"/>
                </a:solidFill>
                <a:latin typeface="Calibri" pitchFamily="34" charset="0"/>
                <a:ea typeface="Calibri" pitchFamily="34" charset="-122"/>
                <a:cs typeface="Calibri" pitchFamily="34" charset="-120"/>
              </a:rPr>
              <a:t>REAL-LIFE ANALOGY</a:t>
            </a:r>
            <a:endParaRPr lang="en-US" sz="1100" dirty="0"/>
          </a:p>
        </p:txBody>
      </p:sp>
      <p:sp>
        <p:nvSpPr>
          <p:cNvPr id="3" name="Text 1"/>
          <p:cNvSpPr txBox="1"/>
          <p:nvPr/>
        </p:nvSpPr>
        <p:spPr>
          <a:xfrm>
            <a:off x="594360" y="658368"/>
            <a:ext cx="10972800" cy="777240"/>
          </a:xfrm>
          <a:prstGeom prst="rect">
            <a:avLst/>
          </a:prstGeom>
          <a:noFill/>
          <a:ln/>
        </p:spPr>
        <p:txBody>
          <a:bodyPr wrap="square" lIns="0" tIns="0" rIns="0" bIns="0" rtlCol="0" anchor="t"/>
          <a:lstStyle/>
          <a:p>
            <a:pPr indent="0" marL="0">
              <a:buNone/>
            </a:pPr>
            <a:r>
              <a:rPr lang="en-US" sz="3400" b="1" dirty="0">
                <a:solidFill>
                  <a:srgbClr val="0E2233"/>
                </a:solidFill>
                <a:latin typeface="Cambria" pitchFamily="34" charset="0"/>
                <a:ea typeface="Cambria" pitchFamily="34" charset="-122"/>
                <a:cs typeface="Cambria" pitchFamily="34" charset="-120"/>
              </a:rPr>
              <a:t>And the kitchen is the server</a:t>
            </a:r>
            <a:endParaRPr lang="en-US" sz="3400" dirty="0"/>
          </a:p>
        </p:txBody>
      </p:sp>
      <p:sp>
        <p:nvSpPr>
          <p:cNvPr id="4" name="Shape 2"/>
          <p:cNvSpPr/>
          <p:nvPr/>
        </p:nvSpPr>
        <p:spPr>
          <a:xfrm>
            <a:off x="685800" y="1874520"/>
            <a:ext cx="2606040" cy="2926080"/>
          </a:xfrm>
          <a:prstGeom prst="roundRect">
            <a:avLst>
              <a:gd name="adj" fmla="val 3158"/>
            </a:avLst>
          </a:prstGeom>
          <a:solidFill>
            <a:srgbClr val="F1F5F7"/>
          </a:solidFill>
          <a:ln/>
          <a:effectLst>
            <a:outerShdw sx="100000" sy="100000" kx="0" ky="0" algn="bl" rotWithShape="0" blurRad="127000" dist="635" dir="5400000">
              <a:srgbClr val="9BB0BA">
                <a:alpha val="35000"/>
              </a:srgbClr>
            </a:outerShdw>
          </a:effectLst>
        </p:spPr>
      </p:sp>
      <p:sp>
        <p:nvSpPr>
          <p:cNvPr id="5" name="Text 3"/>
          <p:cNvSpPr txBox="1"/>
          <p:nvPr/>
        </p:nvSpPr>
        <p:spPr>
          <a:xfrm>
            <a:off x="685800" y="2148840"/>
            <a:ext cx="2606040" cy="274320"/>
          </a:xfrm>
          <a:prstGeom prst="rect">
            <a:avLst/>
          </a:prstGeom>
          <a:noFill/>
          <a:ln/>
        </p:spPr>
        <p:txBody>
          <a:bodyPr wrap="square" lIns="0" tIns="0" rIns="0" bIns="0" rtlCol="0" anchor="ctr"/>
          <a:lstStyle/>
          <a:p>
            <a:pPr algn="ctr" indent="0" marL="0">
              <a:buNone/>
            </a:pPr>
            <a:r>
              <a:rPr lang="en-US" sz="1050" b="1" spc="160" kern="0" dirty="0">
                <a:solidFill>
                  <a:srgbClr val="6B8394"/>
                </a:solidFill>
                <a:latin typeface="Calibri" pitchFamily="34" charset="0"/>
                <a:ea typeface="Calibri" pitchFamily="34" charset="-122"/>
                <a:cs typeface="Calibri" pitchFamily="34" charset="-120"/>
              </a:rPr>
              <a:t>THE KITCHEN</a:t>
            </a:r>
            <a:endParaRPr lang="en-US" sz="1050" dirty="0"/>
          </a:p>
        </p:txBody>
      </p:sp>
      <p:sp>
        <p:nvSpPr>
          <p:cNvPr id="6" name="Text 4"/>
          <p:cNvSpPr txBox="1"/>
          <p:nvPr/>
        </p:nvSpPr>
        <p:spPr>
          <a:xfrm>
            <a:off x="685800" y="2514600"/>
            <a:ext cx="2606040" cy="457200"/>
          </a:xfrm>
          <a:prstGeom prst="rect">
            <a:avLst/>
          </a:prstGeom>
          <a:noFill/>
          <a:ln/>
        </p:spPr>
        <p:txBody>
          <a:bodyPr wrap="square" lIns="0" tIns="0" rIns="0" bIns="0" rtlCol="0" anchor="ctr"/>
          <a:lstStyle/>
          <a:p>
            <a:pPr algn="ctr" indent="0" marL="0">
              <a:buNone/>
            </a:pPr>
            <a:r>
              <a:rPr lang="en-US" sz="2100" b="1" dirty="0">
                <a:solidFill>
                  <a:srgbClr val="0E9594"/>
                </a:solidFill>
                <a:latin typeface="Cambria" pitchFamily="34" charset="0"/>
                <a:ea typeface="Cambria" pitchFamily="34" charset="-122"/>
                <a:cs typeface="Cambria" pitchFamily="34" charset="-120"/>
              </a:rPr>
              <a:t>The Server</a:t>
            </a:r>
            <a:endParaRPr lang="en-US" sz="2100" dirty="0"/>
          </a:p>
        </p:txBody>
      </p:sp>
      <p:sp>
        <p:nvSpPr>
          <p:cNvPr id="7" name="Shape 5"/>
          <p:cNvSpPr/>
          <p:nvPr/>
        </p:nvSpPr>
        <p:spPr>
          <a:xfrm>
            <a:off x="1600200" y="3200400"/>
            <a:ext cx="777240" cy="0"/>
          </a:xfrm>
          <a:prstGeom prst="line">
            <a:avLst/>
          </a:prstGeom>
          <a:noFill/>
          <a:ln w="15875">
            <a:solidFill>
              <a:srgbClr val="CBD9DF"/>
            </a:solidFill>
            <a:prstDash val="solid"/>
          </a:ln>
        </p:spPr>
      </p:sp>
      <p:sp>
        <p:nvSpPr>
          <p:cNvPr id="8" name="Text 6"/>
          <p:cNvSpPr txBox="1"/>
          <p:nvPr/>
        </p:nvSpPr>
        <p:spPr>
          <a:xfrm>
            <a:off x="914400" y="3364992"/>
            <a:ext cx="2148840" cy="1234440"/>
          </a:xfrm>
          <a:prstGeom prst="rect">
            <a:avLst/>
          </a:prstGeom>
          <a:noFill/>
          <a:ln/>
        </p:spPr>
        <p:txBody>
          <a:bodyPr wrap="square" lIns="0" tIns="0" rIns="0" bIns="0" rtlCol="0" anchor="t"/>
          <a:lstStyle/>
          <a:p>
            <a:pPr algn="ctr" indent="0" marL="0">
              <a:lnSpc>
                <a:spcPts val="1900"/>
              </a:lnSpc>
              <a:buNone/>
            </a:pPr>
            <a:r>
              <a:rPr lang="en-US" sz="1350" dirty="0">
                <a:solidFill>
                  <a:srgbClr val="17364D"/>
                </a:solidFill>
                <a:latin typeface="Calibri" pitchFamily="34" charset="0"/>
                <a:ea typeface="Calibri" pitchFamily="34" charset="-122"/>
                <a:cs typeface="Calibri" pitchFamily="34" charset="-120"/>
              </a:rPr>
              <a:t>Where the actual work gets done. Closed to customers.</a:t>
            </a:r>
            <a:endParaRPr lang="en-US" sz="1350" dirty="0"/>
          </a:p>
        </p:txBody>
      </p:sp>
      <p:sp>
        <p:nvSpPr>
          <p:cNvPr id="9" name="Shape 7"/>
          <p:cNvSpPr/>
          <p:nvPr/>
        </p:nvSpPr>
        <p:spPr>
          <a:xfrm>
            <a:off x="3520440" y="1874520"/>
            <a:ext cx="2606040" cy="2926080"/>
          </a:xfrm>
          <a:prstGeom prst="roundRect">
            <a:avLst>
              <a:gd name="adj" fmla="val 3158"/>
            </a:avLst>
          </a:prstGeom>
          <a:solidFill>
            <a:srgbClr val="F1F5F7"/>
          </a:solidFill>
          <a:ln/>
          <a:effectLst>
            <a:outerShdw sx="100000" sy="100000" kx="0" ky="0" algn="bl" rotWithShape="0" blurRad="127000" dist="635" dir="5400000">
              <a:srgbClr val="9BB0BA">
                <a:alpha val="35000"/>
              </a:srgbClr>
            </a:outerShdw>
          </a:effectLst>
        </p:spPr>
      </p:sp>
      <p:sp>
        <p:nvSpPr>
          <p:cNvPr id="10" name="Text 8"/>
          <p:cNvSpPr txBox="1"/>
          <p:nvPr/>
        </p:nvSpPr>
        <p:spPr>
          <a:xfrm>
            <a:off x="3520440" y="2148840"/>
            <a:ext cx="2606040" cy="274320"/>
          </a:xfrm>
          <a:prstGeom prst="rect">
            <a:avLst/>
          </a:prstGeom>
          <a:noFill/>
          <a:ln/>
        </p:spPr>
        <p:txBody>
          <a:bodyPr wrap="square" lIns="0" tIns="0" rIns="0" bIns="0" rtlCol="0" anchor="ctr"/>
          <a:lstStyle/>
          <a:p>
            <a:pPr algn="ctr" indent="0" marL="0">
              <a:buNone/>
            </a:pPr>
            <a:r>
              <a:rPr lang="en-US" sz="1050" b="1" spc="160" kern="0" dirty="0">
                <a:solidFill>
                  <a:srgbClr val="6B8394"/>
                </a:solidFill>
                <a:latin typeface="Calibri" pitchFamily="34" charset="0"/>
                <a:ea typeface="Calibri" pitchFamily="34" charset="-122"/>
                <a:cs typeface="Calibri" pitchFamily="34" charset="-120"/>
              </a:rPr>
              <a:t>THE CHEF</a:t>
            </a:r>
            <a:endParaRPr lang="en-US" sz="1050" dirty="0"/>
          </a:p>
        </p:txBody>
      </p:sp>
      <p:sp>
        <p:nvSpPr>
          <p:cNvPr id="11" name="Text 9"/>
          <p:cNvSpPr txBox="1"/>
          <p:nvPr/>
        </p:nvSpPr>
        <p:spPr>
          <a:xfrm>
            <a:off x="3520440" y="2514600"/>
            <a:ext cx="2606040" cy="457200"/>
          </a:xfrm>
          <a:prstGeom prst="rect">
            <a:avLst/>
          </a:prstGeom>
          <a:noFill/>
          <a:ln/>
        </p:spPr>
        <p:txBody>
          <a:bodyPr wrap="square" lIns="0" tIns="0" rIns="0" bIns="0" rtlCol="0" anchor="ctr"/>
          <a:lstStyle/>
          <a:p>
            <a:pPr algn="ctr" indent="0" marL="0">
              <a:buNone/>
            </a:pPr>
            <a:r>
              <a:rPr lang="en-US" sz="2100" b="1" dirty="0">
                <a:solidFill>
                  <a:srgbClr val="0E9594"/>
                </a:solidFill>
                <a:latin typeface="Cambria" pitchFamily="34" charset="0"/>
                <a:ea typeface="Cambria" pitchFamily="34" charset="-122"/>
                <a:cs typeface="Cambria" pitchFamily="34" charset="-120"/>
              </a:rPr>
              <a:t>The Logic</a:t>
            </a:r>
            <a:endParaRPr lang="en-US" sz="2100" dirty="0"/>
          </a:p>
        </p:txBody>
      </p:sp>
      <p:sp>
        <p:nvSpPr>
          <p:cNvPr id="12" name="Shape 10"/>
          <p:cNvSpPr/>
          <p:nvPr/>
        </p:nvSpPr>
        <p:spPr>
          <a:xfrm>
            <a:off x="4434840" y="3200400"/>
            <a:ext cx="777240" cy="0"/>
          </a:xfrm>
          <a:prstGeom prst="line">
            <a:avLst/>
          </a:prstGeom>
          <a:noFill/>
          <a:ln w="15875">
            <a:solidFill>
              <a:srgbClr val="CBD9DF"/>
            </a:solidFill>
            <a:prstDash val="solid"/>
          </a:ln>
        </p:spPr>
      </p:sp>
      <p:sp>
        <p:nvSpPr>
          <p:cNvPr id="13" name="Text 11"/>
          <p:cNvSpPr txBox="1"/>
          <p:nvPr/>
        </p:nvSpPr>
        <p:spPr>
          <a:xfrm>
            <a:off x="3749040" y="3364992"/>
            <a:ext cx="2148840" cy="1234440"/>
          </a:xfrm>
          <a:prstGeom prst="rect">
            <a:avLst/>
          </a:prstGeom>
          <a:noFill/>
          <a:ln/>
        </p:spPr>
        <p:txBody>
          <a:bodyPr wrap="square" lIns="0" tIns="0" rIns="0" bIns="0" rtlCol="0" anchor="t"/>
          <a:lstStyle/>
          <a:p>
            <a:pPr algn="ctr" indent="0" marL="0">
              <a:lnSpc>
                <a:spcPts val="1900"/>
              </a:lnSpc>
              <a:buNone/>
            </a:pPr>
            <a:r>
              <a:rPr lang="en-US" sz="1350" dirty="0">
                <a:solidFill>
                  <a:srgbClr val="17364D"/>
                </a:solidFill>
                <a:latin typeface="Calibri" pitchFamily="34" charset="0"/>
                <a:ea typeface="Calibri" pitchFamily="34" charset="-122"/>
                <a:cs typeface="Calibri" pitchFamily="34" charset="-120"/>
              </a:rPr>
              <a:t>Knows the recipes and the rules. Decides how it's made.</a:t>
            </a:r>
            <a:endParaRPr lang="en-US" sz="1350" dirty="0"/>
          </a:p>
        </p:txBody>
      </p:sp>
      <p:sp>
        <p:nvSpPr>
          <p:cNvPr id="14" name="Shape 12"/>
          <p:cNvSpPr/>
          <p:nvPr/>
        </p:nvSpPr>
        <p:spPr>
          <a:xfrm>
            <a:off x="6355080" y="1874520"/>
            <a:ext cx="2606040" cy="2926080"/>
          </a:xfrm>
          <a:prstGeom prst="roundRect">
            <a:avLst>
              <a:gd name="adj" fmla="val 3158"/>
            </a:avLst>
          </a:prstGeom>
          <a:solidFill>
            <a:srgbClr val="F1F5F7"/>
          </a:solidFill>
          <a:ln/>
          <a:effectLst>
            <a:outerShdw sx="100000" sy="100000" kx="0" ky="0" algn="bl" rotWithShape="0" blurRad="127000" dist="635" dir="5400000">
              <a:srgbClr val="9BB0BA">
                <a:alpha val="35000"/>
              </a:srgbClr>
            </a:outerShdw>
          </a:effectLst>
        </p:spPr>
      </p:sp>
      <p:sp>
        <p:nvSpPr>
          <p:cNvPr id="15" name="Text 13"/>
          <p:cNvSpPr txBox="1"/>
          <p:nvPr/>
        </p:nvSpPr>
        <p:spPr>
          <a:xfrm>
            <a:off x="6355080" y="2148840"/>
            <a:ext cx="2606040" cy="274320"/>
          </a:xfrm>
          <a:prstGeom prst="rect">
            <a:avLst/>
          </a:prstGeom>
          <a:noFill/>
          <a:ln/>
        </p:spPr>
        <p:txBody>
          <a:bodyPr wrap="square" lIns="0" tIns="0" rIns="0" bIns="0" rtlCol="0" anchor="ctr"/>
          <a:lstStyle/>
          <a:p>
            <a:pPr algn="ctr" indent="0" marL="0">
              <a:buNone/>
            </a:pPr>
            <a:r>
              <a:rPr lang="en-US" sz="1050" b="1" spc="160" kern="0" dirty="0">
                <a:solidFill>
                  <a:srgbClr val="6B8394"/>
                </a:solidFill>
                <a:latin typeface="Calibri" pitchFamily="34" charset="0"/>
                <a:ea typeface="Calibri" pitchFamily="34" charset="-122"/>
                <a:cs typeface="Calibri" pitchFamily="34" charset="-120"/>
              </a:rPr>
              <a:t>THE STORE ROOM</a:t>
            </a:r>
            <a:endParaRPr lang="en-US" sz="1050" dirty="0"/>
          </a:p>
        </p:txBody>
      </p:sp>
      <p:sp>
        <p:nvSpPr>
          <p:cNvPr id="16" name="Text 14"/>
          <p:cNvSpPr txBox="1"/>
          <p:nvPr/>
        </p:nvSpPr>
        <p:spPr>
          <a:xfrm>
            <a:off x="6355080" y="2514600"/>
            <a:ext cx="2606040" cy="457200"/>
          </a:xfrm>
          <a:prstGeom prst="rect">
            <a:avLst/>
          </a:prstGeom>
          <a:noFill/>
          <a:ln/>
        </p:spPr>
        <p:txBody>
          <a:bodyPr wrap="square" lIns="0" tIns="0" rIns="0" bIns="0" rtlCol="0" anchor="ctr"/>
          <a:lstStyle/>
          <a:p>
            <a:pPr algn="ctr" indent="0" marL="0">
              <a:buNone/>
            </a:pPr>
            <a:r>
              <a:rPr lang="en-US" sz="2100" b="1" dirty="0">
                <a:solidFill>
                  <a:srgbClr val="8B5FBF"/>
                </a:solidFill>
                <a:latin typeface="Cambria" pitchFamily="34" charset="0"/>
                <a:ea typeface="Cambria" pitchFamily="34" charset="-122"/>
                <a:cs typeface="Cambria" pitchFamily="34" charset="-120"/>
              </a:rPr>
              <a:t>The Database</a:t>
            </a:r>
            <a:endParaRPr lang="en-US" sz="2100" dirty="0"/>
          </a:p>
        </p:txBody>
      </p:sp>
      <p:sp>
        <p:nvSpPr>
          <p:cNvPr id="17" name="Shape 15"/>
          <p:cNvSpPr/>
          <p:nvPr/>
        </p:nvSpPr>
        <p:spPr>
          <a:xfrm>
            <a:off x="7269480" y="3200400"/>
            <a:ext cx="777240" cy="0"/>
          </a:xfrm>
          <a:prstGeom prst="line">
            <a:avLst/>
          </a:prstGeom>
          <a:noFill/>
          <a:ln w="15875">
            <a:solidFill>
              <a:srgbClr val="CBD9DF"/>
            </a:solidFill>
            <a:prstDash val="solid"/>
          </a:ln>
        </p:spPr>
      </p:sp>
      <p:sp>
        <p:nvSpPr>
          <p:cNvPr id="18" name="Text 16"/>
          <p:cNvSpPr txBox="1"/>
          <p:nvPr/>
        </p:nvSpPr>
        <p:spPr>
          <a:xfrm>
            <a:off x="6583680" y="3364992"/>
            <a:ext cx="2148840" cy="1234440"/>
          </a:xfrm>
          <a:prstGeom prst="rect">
            <a:avLst/>
          </a:prstGeom>
          <a:noFill/>
          <a:ln/>
        </p:spPr>
        <p:txBody>
          <a:bodyPr wrap="square" lIns="0" tIns="0" rIns="0" bIns="0" rtlCol="0" anchor="t"/>
          <a:lstStyle/>
          <a:p>
            <a:pPr algn="ctr" indent="0" marL="0">
              <a:lnSpc>
                <a:spcPts val="1900"/>
              </a:lnSpc>
              <a:buNone/>
            </a:pPr>
            <a:r>
              <a:rPr lang="en-US" sz="1350" dirty="0">
                <a:solidFill>
                  <a:srgbClr val="17364D"/>
                </a:solidFill>
                <a:latin typeface="Calibri" pitchFamily="34" charset="0"/>
                <a:ea typeface="Calibri" pitchFamily="34" charset="-122"/>
                <a:cs typeface="Calibri" pitchFamily="34" charset="-120"/>
              </a:rPr>
              <a:t>Where all the ingredients are kept. Staff only.</a:t>
            </a:r>
            <a:endParaRPr lang="en-US" sz="1350" dirty="0"/>
          </a:p>
        </p:txBody>
      </p:sp>
      <p:sp>
        <p:nvSpPr>
          <p:cNvPr id="19" name="Shape 17"/>
          <p:cNvSpPr/>
          <p:nvPr/>
        </p:nvSpPr>
        <p:spPr>
          <a:xfrm>
            <a:off x="9189720" y="1874520"/>
            <a:ext cx="2606040" cy="2926080"/>
          </a:xfrm>
          <a:prstGeom prst="roundRect">
            <a:avLst>
              <a:gd name="adj" fmla="val 3158"/>
            </a:avLst>
          </a:prstGeom>
          <a:solidFill>
            <a:srgbClr val="F1F5F7"/>
          </a:solidFill>
          <a:ln/>
          <a:effectLst>
            <a:outerShdw sx="100000" sy="100000" kx="0" ky="0" algn="bl" rotWithShape="0" blurRad="127000" dist="635" dir="5400000">
              <a:srgbClr val="9BB0BA">
                <a:alpha val="35000"/>
              </a:srgbClr>
            </a:outerShdw>
          </a:effectLst>
        </p:spPr>
      </p:sp>
      <p:sp>
        <p:nvSpPr>
          <p:cNvPr id="20" name="Text 18"/>
          <p:cNvSpPr txBox="1"/>
          <p:nvPr/>
        </p:nvSpPr>
        <p:spPr>
          <a:xfrm>
            <a:off x="9189720" y="2148840"/>
            <a:ext cx="2606040" cy="274320"/>
          </a:xfrm>
          <a:prstGeom prst="rect">
            <a:avLst/>
          </a:prstGeom>
          <a:noFill/>
          <a:ln/>
        </p:spPr>
        <p:txBody>
          <a:bodyPr wrap="square" lIns="0" tIns="0" rIns="0" bIns="0" rtlCol="0" anchor="ctr"/>
          <a:lstStyle/>
          <a:p>
            <a:pPr algn="ctr" indent="0" marL="0">
              <a:buNone/>
            </a:pPr>
            <a:r>
              <a:rPr lang="en-US" sz="1050" b="1" spc="160" kern="0" dirty="0">
                <a:solidFill>
                  <a:srgbClr val="6B8394"/>
                </a:solidFill>
                <a:latin typeface="Calibri" pitchFamily="34" charset="0"/>
                <a:ea typeface="Calibri" pitchFamily="34" charset="-122"/>
                <a:cs typeface="Calibri" pitchFamily="34" charset="-120"/>
              </a:rPr>
              <a:t>YOUR FOOD</a:t>
            </a:r>
            <a:endParaRPr lang="en-US" sz="1050" dirty="0"/>
          </a:p>
        </p:txBody>
      </p:sp>
      <p:sp>
        <p:nvSpPr>
          <p:cNvPr id="21" name="Text 19"/>
          <p:cNvSpPr txBox="1"/>
          <p:nvPr/>
        </p:nvSpPr>
        <p:spPr>
          <a:xfrm>
            <a:off x="9189720" y="2514600"/>
            <a:ext cx="2606040" cy="457200"/>
          </a:xfrm>
          <a:prstGeom prst="rect">
            <a:avLst/>
          </a:prstGeom>
          <a:noFill/>
          <a:ln/>
        </p:spPr>
        <p:txBody>
          <a:bodyPr wrap="square" lIns="0" tIns="0" rIns="0" bIns="0" rtlCol="0" anchor="ctr"/>
          <a:lstStyle/>
          <a:p>
            <a:pPr algn="ctr" indent="0" marL="0">
              <a:buNone/>
            </a:pPr>
            <a:r>
              <a:rPr lang="en-US" sz="2100" b="1" dirty="0">
                <a:solidFill>
                  <a:srgbClr val="D97B29"/>
                </a:solidFill>
                <a:latin typeface="Cambria" pitchFamily="34" charset="0"/>
                <a:ea typeface="Cambria" pitchFamily="34" charset="-122"/>
                <a:cs typeface="Cambria" pitchFamily="34" charset="-120"/>
              </a:rPr>
              <a:t>The Response</a:t>
            </a:r>
            <a:endParaRPr lang="en-US" sz="2100" dirty="0"/>
          </a:p>
        </p:txBody>
      </p:sp>
      <p:sp>
        <p:nvSpPr>
          <p:cNvPr id="22" name="Shape 20"/>
          <p:cNvSpPr/>
          <p:nvPr/>
        </p:nvSpPr>
        <p:spPr>
          <a:xfrm>
            <a:off x="10104120" y="3200400"/>
            <a:ext cx="777240" cy="0"/>
          </a:xfrm>
          <a:prstGeom prst="line">
            <a:avLst/>
          </a:prstGeom>
          <a:noFill/>
          <a:ln w="15875">
            <a:solidFill>
              <a:srgbClr val="CBD9DF"/>
            </a:solidFill>
            <a:prstDash val="solid"/>
          </a:ln>
        </p:spPr>
      </p:sp>
      <p:sp>
        <p:nvSpPr>
          <p:cNvPr id="23" name="Text 21"/>
          <p:cNvSpPr txBox="1"/>
          <p:nvPr/>
        </p:nvSpPr>
        <p:spPr>
          <a:xfrm>
            <a:off x="9418320" y="3364992"/>
            <a:ext cx="2148840" cy="1234440"/>
          </a:xfrm>
          <a:prstGeom prst="rect">
            <a:avLst/>
          </a:prstGeom>
          <a:noFill/>
          <a:ln/>
        </p:spPr>
        <p:txBody>
          <a:bodyPr wrap="square" lIns="0" tIns="0" rIns="0" bIns="0" rtlCol="0" anchor="t"/>
          <a:lstStyle/>
          <a:p>
            <a:pPr algn="ctr" indent="0" marL="0">
              <a:lnSpc>
                <a:spcPts val="1900"/>
              </a:lnSpc>
              <a:buNone/>
            </a:pPr>
            <a:r>
              <a:rPr lang="en-US" sz="1350" dirty="0">
                <a:solidFill>
                  <a:srgbClr val="17364D"/>
                </a:solidFill>
                <a:latin typeface="Calibri" pitchFamily="34" charset="0"/>
                <a:ea typeface="Calibri" pitchFamily="34" charset="-122"/>
                <a:cs typeface="Calibri" pitchFamily="34" charset="-120"/>
              </a:rPr>
              <a:t>What comes back to your table — the answer to your order.</a:t>
            </a:r>
            <a:endParaRPr lang="en-US" sz="1350" dirty="0"/>
          </a:p>
        </p:txBody>
      </p:sp>
      <p:sp>
        <p:nvSpPr>
          <p:cNvPr id="24" name="Shape 22"/>
          <p:cNvSpPr/>
          <p:nvPr/>
        </p:nvSpPr>
        <p:spPr>
          <a:xfrm>
            <a:off x="594360" y="5257800"/>
            <a:ext cx="11018520" cy="777240"/>
          </a:xfrm>
          <a:prstGeom prst="roundRect">
            <a:avLst>
              <a:gd name="adj" fmla="val 10588"/>
            </a:avLst>
          </a:prstGeom>
          <a:solidFill>
            <a:srgbClr val="FBEBDB"/>
          </a:solidFill>
          <a:ln/>
        </p:spPr>
      </p:sp>
      <p:sp>
        <p:nvSpPr>
          <p:cNvPr id="25" name="Text 23"/>
          <p:cNvSpPr txBox="1"/>
          <p:nvPr/>
        </p:nvSpPr>
        <p:spPr>
          <a:xfrm>
            <a:off x="960120" y="5257800"/>
            <a:ext cx="10287000" cy="777240"/>
          </a:xfrm>
          <a:prstGeom prst="rect">
            <a:avLst/>
          </a:prstGeom>
          <a:noFill/>
          <a:ln/>
        </p:spPr>
        <p:txBody>
          <a:bodyPr wrap="square" lIns="0" tIns="0" rIns="0" bIns="0" rtlCol="0" anchor="ctr"/>
          <a:lstStyle/>
          <a:p>
            <a:pPr indent="0" marL="0">
              <a:buNone/>
            </a:pPr>
            <a:r>
              <a:rPr lang="en-US" sz="1550" b="1" dirty="0">
                <a:solidFill>
                  <a:srgbClr val="8A4E15"/>
                </a:solidFill>
                <a:latin typeface="Calibri" pitchFamily="34" charset="0"/>
                <a:ea typeface="Calibri" pitchFamily="34" charset="-122"/>
                <a:cs typeface="Calibri" pitchFamily="34" charset="-120"/>
              </a:rPr>
              <a:t>The customer never enters the store room — and in the same way, the client never touches the database directly.</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058400" cy="256032"/>
          </a:xfrm>
          <a:prstGeom prst="rect">
            <a:avLst/>
          </a:prstGeom>
          <a:noFill/>
          <a:ln/>
        </p:spPr>
        <p:txBody>
          <a:bodyPr wrap="square" lIns="0" tIns="0" rIns="0" bIns="0" rtlCol="0" anchor="ctr"/>
          <a:lstStyle/>
          <a:p>
            <a:pPr indent="0" marL="0">
              <a:buNone/>
            </a:pPr>
            <a:r>
              <a:rPr lang="en-US" sz="1100" b="1" spc="220" kern="0" dirty="0">
                <a:solidFill>
                  <a:srgbClr val="D97B29"/>
                </a:solidFill>
                <a:latin typeface="Calibri" pitchFamily="34" charset="0"/>
                <a:ea typeface="Calibri" pitchFamily="34" charset="-122"/>
                <a:cs typeface="Calibri" pitchFamily="34" charset="-120"/>
              </a:rPr>
              <a:t>THE JOURNEY</a:t>
            </a:r>
            <a:endParaRPr lang="en-US" sz="1100" dirty="0"/>
          </a:p>
        </p:txBody>
      </p:sp>
      <p:sp>
        <p:nvSpPr>
          <p:cNvPr id="3" name="Text 1"/>
          <p:cNvSpPr txBox="1"/>
          <p:nvPr/>
        </p:nvSpPr>
        <p:spPr>
          <a:xfrm>
            <a:off x="594360" y="658368"/>
            <a:ext cx="10972800" cy="777240"/>
          </a:xfrm>
          <a:prstGeom prst="rect">
            <a:avLst/>
          </a:prstGeom>
          <a:noFill/>
          <a:ln/>
        </p:spPr>
        <p:txBody>
          <a:bodyPr wrap="square" lIns="0" tIns="0" rIns="0" bIns="0" rtlCol="0" anchor="t"/>
          <a:lstStyle/>
          <a:p>
            <a:pPr indent="0" marL="0">
              <a:buNone/>
            </a:pPr>
            <a:r>
              <a:rPr lang="en-US" sz="3400" b="1" dirty="0">
                <a:solidFill>
                  <a:srgbClr val="0E2233"/>
                </a:solidFill>
                <a:latin typeface="Cambria" pitchFamily="34" charset="0"/>
                <a:ea typeface="Cambria" pitchFamily="34" charset="-122"/>
                <a:cs typeface="Cambria" pitchFamily="34" charset="-120"/>
              </a:rPr>
              <a:t>What happens when you type a URL?</a:t>
            </a:r>
            <a:endParaRPr lang="en-US" sz="3400" dirty="0"/>
          </a:p>
        </p:txBody>
      </p:sp>
      <p:sp>
        <p:nvSpPr>
          <p:cNvPr id="4" name="Text 2"/>
          <p:cNvSpPr txBox="1"/>
          <p:nvPr/>
        </p:nvSpPr>
        <p:spPr>
          <a:xfrm>
            <a:off x="594360" y="1536192"/>
            <a:ext cx="10515600" cy="365760"/>
          </a:xfrm>
          <a:prstGeom prst="rect">
            <a:avLst/>
          </a:prstGeom>
          <a:noFill/>
          <a:ln/>
        </p:spPr>
        <p:txBody>
          <a:bodyPr wrap="square" lIns="0" tIns="0" rIns="0" bIns="0" rtlCol="0" anchor="ctr"/>
          <a:lstStyle/>
          <a:p>
            <a:pPr indent="0" marL="0">
              <a:buNone/>
            </a:pPr>
            <a:r>
              <a:rPr lang="en-US" sz="1650" dirty="0">
                <a:solidFill>
                  <a:srgbClr val="6B8394"/>
                </a:solidFill>
                <a:latin typeface="Calibri" pitchFamily="34" charset="0"/>
                <a:ea typeface="Calibri" pitchFamily="34" charset="-122"/>
                <a:cs typeface="Calibri" pitchFamily="34" charset="-120"/>
              </a:rPr>
              <a:t>Five steps, every single time — and all of it in about a quarter of a second.</a:t>
            </a:r>
            <a:endParaRPr lang="en-US" sz="1650" dirty="0"/>
          </a:p>
        </p:txBody>
      </p:sp>
      <p:sp>
        <p:nvSpPr>
          <p:cNvPr id="5" name="Shape 3"/>
          <p:cNvSpPr/>
          <p:nvPr/>
        </p:nvSpPr>
        <p:spPr>
          <a:xfrm>
            <a:off x="566928" y="2286000"/>
            <a:ext cx="1874520" cy="2880360"/>
          </a:xfrm>
          <a:prstGeom prst="roundRect">
            <a:avLst>
              <a:gd name="adj" fmla="val 4390"/>
            </a:avLst>
          </a:prstGeom>
          <a:solidFill>
            <a:srgbClr val="F1F5F7"/>
          </a:solidFill>
          <a:ln/>
        </p:spPr>
      </p:sp>
      <p:sp>
        <p:nvSpPr>
          <p:cNvPr id="6" name="Shape 4"/>
          <p:cNvSpPr/>
          <p:nvPr/>
        </p:nvSpPr>
        <p:spPr>
          <a:xfrm>
            <a:off x="1184148" y="2542032"/>
            <a:ext cx="640080" cy="640080"/>
          </a:xfrm>
          <a:prstGeom prst="ellipse">
            <a:avLst/>
          </a:prstGeom>
          <a:solidFill>
            <a:srgbClr val="2E7DD1"/>
          </a:solidFill>
          <a:ln/>
        </p:spPr>
      </p:sp>
      <p:sp>
        <p:nvSpPr>
          <p:cNvPr id="7" name="Text 5"/>
          <p:cNvSpPr txBox="1"/>
          <p:nvPr/>
        </p:nvSpPr>
        <p:spPr>
          <a:xfrm>
            <a:off x="1184148" y="2542032"/>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8" name="Text 6"/>
          <p:cNvSpPr txBox="1"/>
          <p:nvPr/>
        </p:nvSpPr>
        <p:spPr>
          <a:xfrm>
            <a:off x="621792" y="3310128"/>
            <a:ext cx="1764792" cy="548640"/>
          </a:xfrm>
          <a:prstGeom prst="rect">
            <a:avLst/>
          </a:prstGeom>
          <a:noFill/>
          <a:ln/>
        </p:spPr>
        <p:txBody>
          <a:bodyPr wrap="square" lIns="0" tIns="0" rIns="0" bIns="0" rtlCol="0" anchor="ctr"/>
          <a:lstStyle/>
          <a:p>
            <a:pPr algn="ctr" indent="0" marL="0">
              <a:buNone/>
            </a:pPr>
            <a:r>
              <a:rPr lang="en-US" sz="1600" b="1" dirty="0">
                <a:solidFill>
                  <a:srgbClr val="0E2233"/>
                </a:solidFill>
                <a:latin typeface="Cambria" pitchFamily="34" charset="0"/>
                <a:ea typeface="Cambria" pitchFamily="34" charset="-122"/>
                <a:cs typeface="Cambria" pitchFamily="34" charset="-120"/>
              </a:rPr>
              <a:t>You type it</a:t>
            </a:r>
            <a:endParaRPr lang="en-US" sz="1600" dirty="0"/>
          </a:p>
        </p:txBody>
      </p:sp>
      <p:sp>
        <p:nvSpPr>
          <p:cNvPr id="9" name="Text 7"/>
          <p:cNvSpPr txBox="1"/>
          <p:nvPr/>
        </p:nvSpPr>
        <p:spPr>
          <a:xfrm>
            <a:off x="676656" y="3913632"/>
            <a:ext cx="1655064" cy="1051560"/>
          </a:xfrm>
          <a:prstGeom prst="rect">
            <a:avLst/>
          </a:prstGeom>
          <a:noFill/>
          <a:ln/>
        </p:spPr>
        <p:txBody>
          <a:bodyPr wrap="square" lIns="0" tIns="0" rIns="0" bIns="0" rtlCol="0" anchor="t"/>
          <a:lstStyle/>
          <a:p>
            <a:pPr algn="ctr" indent="0" marL="0">
              <a:lnSpc>
                <a:spcPts val="1700"/>
              </a:lnSpc>
              <a:buNone/>
            </a:pPr>
            <a:r>
              <a:rPr lang="en-US" sz="1250" dirty="0">
                <a:solidFill>
                  <a:srgbClr val="6B8394"/>
                </a:solidFill>
                <a:latin typeface="Calibri" pitchFamily="34" charset="0"/>
                <a:ea typeface="Calibri" pitchFamily="34" charset="-122"/>
                <a:cs typeface="Calibri" pitchFamily="34" charset="-120"/>
              </a:rPr>
              <a:t>You enter the address and press Enter.</a:t>
            </a:r>
            <a:endParaRPr lang="en-US" sz="1250" dirty="0"/>
          </a:p>
        </p:txBody>
      </p:sp>
      <p:sp>
        <p:nvSpPr>
          <p:cNvPr id="10" name="Shape 8"/>
          <p:cNvSpPr/>
          <p:nvPr/>
        </p:nvSpPr>
        <p:spPr>
          <a:xfrm>
            <a:off x="2514600" y="3657600"/>
            <a:ext cx="237744" cy="274320"/>
          </a:xfrm>
          <a:prstGeom prst="rightArrow">
            <a:avLst/>
          </a:prstGeom>
          <a:solidFill>
            <a:srgbClr val="CBD9DF"/>
          </a:solidFill>
          <a:ln/>
        </p:spPr>
      </p:sp>
      <p:sp>
        <p:nvSpPr>
          <p:cNvPr id="11" name="Shape 9"/>
          <p:cNvSpPr/>
          <p:nvPr/>
        </p:nvSpPr>
        <p:spPr>
          <a:xfrm>
            <a:off x="2816352" y="2286000"/>
            <a:ext cx="1874520" cy="2880360"/>
          </a:xfrm>
          <a:prstGeom prst="roundRect">
            <a:avLst>
              <a:gd name="adj" fmla="val 4390"/>
            </a:avLst>
          </a:prstGeom>
          <a:solidFill>
            <a:srgbClr val="F1F5F7"/>
          </a:solidFill>
          <a:ln/>
        </p:spPr>
      </p:sp>
      <p:sp>
        <p:nvSpPr>
          <p:cNvPr id="12" name="Shape 10"/>
          <p:cNvSpPr/>
          <p:nvPr/>
        </p:nvSpPr>
        <p:spPr>
          <a:xfrm>
            <a:off x="3433572" y="2542032"/>
            <a:ext cx="640080" cy="640080"/>
          </a:xfrm>
          <a:prstGeom prst="ellipse">
            <a:avLst/>
          </a:prstGeom>
          <a:solidFill>
            <a:srgbClr val="D97B29"/>
          </a:solidFill>
          <a:ln/>
        </p:spPr>
      </p:sp>
      <p:sp>
        <p:nvSpPr>
          <p:cNvPr id="13" name="Text 11"/>
          <p:cNvSpPr txBox="1"/>
          <p:nvPr/>
        </p:nvSpPr>
        <p:spPr>
          <a:xfrm>
            <a:off x="3433572" y="2542032"/>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4" name="Text 12"/>
          <p:cNvSpPr txBox="1"/>
          <p:nvPr/>
        </p:nvSpPr>
        <p:spPr>
          <a:xfrm>
            <a:off x="2871216" y="3310128"/>
            <a:ext cx="1764792" cy="548640"/>
          </a:xfrm>
          <a:prstGeom prst="rect">
            <a:avLst/>
          </a:prstGeom>
          <a:noFill/>
          <a:ln/>
        </p:spPr>
        <p:txBody>
          <a:bodyPr wrap="square" lIns="0" tIns="0" rIns="0" bIns="0" rtlCol="0" anchor="ctr"/>
          <a:lstStyle/>
          <a:p>
            <a:pPr algn="ctr" indent="0" marL="0">
              <a:buNone/>
            </a:pPr>
            <a:r>
              <a:rPr lang="en-US" sz="1600" b="1" dirty="0">
                <a:solidFill>
                  <a:srgbClr val="0E2233"/>
                </a:solidFill>
                <a:latin typeface="Cambria" pitchFamily="34" charset="0"/>
                <a:ea typeface="Cambria" pitchFamily="34" charset="-122"/>
                <a:cs typeface="Cambria" pitchFamily="34" charset="-120"/>
              </a:rPr>
              <a:t>DNS looks it up</a:t>
            </a:r>
            <a:endParaRPr lang="en-US" sz="1600" dirty="0"/>
          </a:p>
        </p:txBody>
      </p:sp>
      <p:sp>
        <p:nvSpPr>
          <p:cNvPr id="15" name="Text 13"/>
          <p:cNvSpPr txBox="1"/>
          <p:nvPr/>
        </p:nvSpPr>
        <p:spPr>
          <a:xfrm>
            <a:off x="2926080" y="3913632"/>
            <a:ext cx="1655064" cy="1051560"/>
          </a:xfrm>
          <a:prstGeom prst="rect">
            <a:avLst/>
          </a:prstGeom>
          <a:noFill/>
          <a:ln/>
        </p:spPr>
        <p:txBody>
          <a:bodyPr wrap="square" lIns="0" tIns="0" rIns="0" bIns="0" rtlCol="0" anchor="t"/>
          <a:lstStyle/>
          <a:p>
            <a:pPr algn="ctr" indent="0" marL="0">
              <a:lnSpc>
                <a:spcPts val="1700"/>
              </a:lnSpc>
              <a:buNone/>
            </a:pPr>
            <a:r>
              <a:rPr lang="en-US" sz="1250" dirty="0">
                <a:solidFill>
                  <a:srgbClr val="6B8394"/>
                </a:solidFill>
                <a:latin typeface="Calibri" pitchFamily="34" charset="0"/>
                <a:ea typeface="Calibri" pitchFamily="34" charset="-122"/>
                <a:cs typeface="Calibri" pitchFamily="34" charset="-120"/>
              </a:rPr>
              <a:t>The name is converted into a numeric address.</a:t>
            </a:r>
            <a:endParaRPr lang="en-US" sz="1250" dirty="0"/>
          </a:p>
        </p:txBody>
      </p:sp>
      <p:sp>
        <p:nvSpPr>
          <p:cNvPr id="16" name="Shape 14"/>
          <p:cNvSpPr/>
          <p:nvPr/>
        </p:nvSpPr>
        <p:spPr>
          <a:xfrm>
            <a:off x="4764024" y="3657600"/>
            <a:ext cx="237744" cy="274320"/>
          </a:xfrm>
          <a:prstGeom prst="rightArrow">
            <a:avLst/>
          </a:prstGeom>
          <a:solidFill>
            <a:srgbClr val="CBD9DF"/>
          </a:solidFill>
          <a:ln/>
        </p:spPr>
      </p:sp>
      <p:sp>
        <p:nvSpPr>
          <p:cNvPr id="17" name="Shape 15"/>
          <p:cNvSpPr/>
          <p:nvPr/>
        </p:nvSpPr>
        <p:spPr>
          <a:xfrm>
            <a:off x="5065776" y="2286000"/>
            <a:ext cx="1874520" cy="2880360"/>
          </a:xfrm>
          <a:prstGeom prst="roundRect">
            <a:avLst>
              <a:gd name="adj" fmla="val 4390"/>
            </a:avLst>
          </a:prstGeom>
          <a:solidFill>
            <a:srgbClr val="F1F5F7"/>
          </a:solidFill>
          <a:ln/>
        </p:spPr>
      </p:sp>
      <p:sp>
        <p:nvSpPr>
          <p:cNvPr id="18" name="Shape 16"/>
          <p:cNvSpPr/>
          <p:nvPr/>
        </p:nvSpPr>
        <p:spPr>
          <a:xfrm>
            <a:off x="5682996" y="2542032"/>
            <a:ext cx="640080" cy="640080"/>
          </a:xfrm>
          <a:prstGeom prst="ellipse">
            <a:avLst/>
          </a:prstGeom>
          <a:solidFill>
            <a:srgbClr val="D97B29"/>
          </a:solidFill>
          <a:ln/>
        </p:spPr>
      </p:sp>
      <p:sp>
        <p:nvSpPr>
          <p:cNvPr id="19" name="Text 17"/>
          <p:cNvSpPr txBox="1"/>
          <p:nvPr/>
        </p:nvSpPr>
        <p:spPr>
          <a:xfrm>
            <a:off x="5682996" y="2542032"/>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0" name="Text 18"/>
          <p:cNvSpPr txBox="1"/>
          <p:nvPr/>
        </p:nvSpPr>
        <p:spPr>
          <a:xfrm>
            <a:off x="5120640" y="3310128"/>
            <a:ext cx="1764792" cy="548640"/>
          </a:xfrm>
          <a:prstGeom prst="rect">
            <a:avLst/>
          </a:prstGeom>
          <a:noFill/>
          <a:ln/>
        </p:spPr>
        <p:txBody>
          <a:bodyPr wrap="square" lIns="0" tIns="0" rIns="0" bIns="0" rtlCol="0" anchor="ctr"/>
          <a:lstStyle/>
          <a:p>
            <a:pPr algn="ctr" indent="0" marL="0">
              <a:buNone/>
            </a:pPr>
            <a:r>
              <a:rPr lang="en-US" sz="1600" b="1" dirty="0">
                <a:solidFill>
                  <a:srgbClr val="0E2233"/>
                </a:solidFill>
                <a:latin typeface="Cambria" pitchFamily="34" charset="0"/>
                <a:ea typeface="Cambria" pitchFamily="34" charset="-122"/>
                <a:cs typeface="Cambria" pitchFamily="34" charset="-120"/>
              </a:rPr>
              <a:t>Request travels</a:t>
            </a:r>
            <a:endParaRPr lang="en-US" sz="1600" dirty="0"/>
          </a:p>
        </p:txBody>
      </p:sp>
      <p:sp>
        <p:nvSpPr>
          <p:cNvPr id="21" name="Text 19"/>
          <p:cNvSpPr txBox="1"/>
          <p:nvPr/>
        </p:nvSpPr>
        <p:spPr>
          <a:xfrm>
            <a:off x="5175504" y="3913632"/>
            <a:ext cx="1655064" cy="1051560"/>
          </a:xfrm>
          <a:prstGeom prst="rect">
            <a:avLst/>
          </a:prstGeom>
          <a:noFill/>
          <a:ln/>
        </p:spPr>
        <p:txBody>
          <a:bodyPr wrap="square" lIns="0" tIns="0" rIns="0" bIns="0" rtlCol="0" anchor="t"/>
          <a:lstStyle/>
          <a:p>
            <a:pPr algn="ctr" indent="0" marL="0">
              <a:lnSpc>
                <a:spcPts val="1700"/>
              </a:lnSpc>
              <a:buNone/>
            </a:pPr>
            <a:r>
              <a:rPr lang="en-US" sz="1250" dirty="0">
                <a:solidFill>
                  <a:srgbClr val="6B8394"/>
                </a:solidFill>
                <a:latin typeface="Calibri" pitchFamily="34" charset="0"/>
                <a:ea typeface="Calibri" pitchFamily="34" charset="-122"/>
                <a:cs typeface="Calibri" pitchFamily="34" charset="-120"/>
              </a:rPr>
              <a:t>Your browser sends the request to that address.</a:t>
            </a:r>
            <a:endParaRPr lang="en-US" sz="1250" dirty="0"/>
          </a:p>
        </p:txBody>
      </p:sp>
      <p:sp>
        <p:nvSpPr>
          <p:cNvPr id="22" name="Shape 20"/>
          <p:cNvSpPr/>
          <p:nvPr/>
        </p:nvSpPr>
        <p:spPr>
          <a:xfrm>
            <a:off x="7013448" y="3657600"/>
            <a:ext cx="237744" cy="274320"/>
          </a:xfrm>
          <a:prstGeom prst="rightArrow">
            <a:avLst/>
          </a:prstGeom>
          <a:solidFill>
            <a:srgbClr val="CBD9DF"/>
          </a:solidFill>
          <a:ln/>
        </p:spPr>
      </p:sp>
      <p:sp>
        <p:nvSpPr>
          <p:cNvPr id="23" name="Shape 21"/>
          <p:cNvSpPr/>
          <p:nvPr/>
        </p:nvSpPr>
        <p:spPr>
          <a:xfrm>
            <a:off x="7315200" y="2286000"/>
            <a:ext cx="1874520" cy="2880360"/>
          </a:xfrm>
          <a:prstGeom prst="roundRect">
            <a:avLst>
              <a:gd name="adj" fmla="val 4390"/>
            </a:avLst>
          </a:prstGeom>
          <a:solidFill>
            <a:srgbClr val="F1F5F7"/>
          </a:solidFill>
          <a:ln/>
        </p:spPr>
      </p:sp>
      <p:sp>
        <p:nvSpPr>
          <p:cNvPr id="24" name="Shape 22"/>
          <p:cNvSpPr/>
          <p:nvPr/>
        </p:nvSpPr>
        <p:spPr>
          <a:xfrm>
            <a:off x="7932420" y="2542032"/>
            <a:ext cx="640080" cy="640080"/>
          </a:xfrm>
          <a:prstGeom prst="ellipse">
            <a:avLst/>
          </a:prstGeom>
          <a:solidFill>
            <a:srgbClr val="0E9594"/>
          </a:solidFill>
          <a:ln/>
        </p:spPr>
      </p:sp>
      <p:sp>
        <p:nvSpPr>
          <p:cNvPr id="25" name="Text 23"/>
          <p:cNvSpPr txBox="1"/>
          <p:nvPr/>
        </p:nvSpPr>
        <p:spPr>
          <a:xfrm>
            <a:off x="7932420" y="2542032"/>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6" name="Text 24"/>
          <p:cNvSpPr txBox="1"/>
          <p:nvPr/>
        </p:nvSpPr>
        <p:spPr>
          <a:xfrm>
            <a:off x="7370064" y="3310128"/>
            <a:ext cx="1764792" cy="548640"/>
          </a:xfrm>
          <a:prstGeom prst="rect">
            <a:avLst/>
          </a:prstGeom>
          <a:noFill/>
          <a:ln/>
        </p:spPr>
        <p:txBody>
          <a:bodyPr wrap="square" lIns="0" tIns="0" rIns="0" bIns="0" rtlCol="0" anchor="ctr"/>
          <a:lstStyle/>
          <a:p>
            <a:pPr algn="ctr" indent="0" marL="0">
              <a:buNone/>
            </a:pPr>
            <a:r>
              <a:rPr lang="en-US" sz="1600" b="1" dirty="0">
                <a:solidFill>
                  <a:srgbClr val="0E2233"/>
                </a:solidFill>
                <a:latin typeface="Cambria" pitchFamily="34" charset="0"/>
                <a:ea typeface="Cambria" pitchFamily="34" charset="-122"/>
                <a:cs typeface="Cambria" pitchFamily="34" charset="-120"/>
              </a:rPr>
              <a:t>Server responds</a:t>
            </a:r>
            <a:endParaRPr lang="en-US" sz="1600" dirty="0"/>
          </a:p>
        </p:txBody>
      </p:sp>
      <p:sp>
        <p:nvSpPr>
          <p:cNvPr id="27" name="Text 25"/>
          <p:cNvSpPr txBox="1"/>
          <p:nvPr/>
        </p:nvSpPr>
        <p:spPr>
          <a:xfrm>
            <a:off x="7424928" y="3913632"/>
            <a:ext cx="1655064" cy="1051560"/>
          </a:xfrm>
          <a:prstGeom prst="rect">
            <a:avLst/>
          </a:prstGeom>
          <a:noFill/>
          <a:ln/>
        </p:spPr>
        <p:txBody>
          <a:bodyPr wrap="square" lIns="0" tIns="0" rIns="0" bIns="0" rtlCol="0" anchor="t"/>
          <a:lstStyle/>
          <a:p>
            <a:pPr algn="ctr" indent="0" marL="0">
              <a:lnSpc>
                <a:spcPts val="1700"/>
              </a:lnSpc>
              <a:buNone/>
            </a:pPr>
            <a:r>
              <a:rPr lang="en-US" sz="1250" dirty="0">
                <a:solidFill>
                  <a:srgbClr val="6B8394"/>
                </a:solidFill>
                <a:latin typeface="Calibri" pitchFamily="34" charset="0"/>
                <a:ea typeface="Calibri" pitchFamily="34" charset="-122"/>
                <a:cs typeface="Calibri" pitchFamily="34" charset="-120"/>
              </a:rPr>
              <a:t>It works out the answer and sends it back.</a:t>
            </a:r>
            <a:endParaRPr lang="en-US" sz="1250" dirty="0"/>
          </a:p>
        </p:txBody>
      </p:sp>
      <p:sp>
        <p:nvSpPr>
          <p:cNvPr id="28" name="Shape 26"/>
          <p:cNvSpPr/>
          <p:nvPr/>
        </p:nvSpPr>
        <p:spPr>
          <a:xfrm>
            <a:off x="9262872" y="3657600"/>
            <a:ext cx="237744" cy="274320"/>
          </a:xfrm>
          <a:prstGeom prst="rightArrow">
            <a:avLst/>
          </a:prstGeom>
          <a:solidFill>
            <a:srgbClr val="CBD9DF"/>
          </a:solidFill>
          <a:ln/>
        </p:spPr>
      </p:sp>
      <p:sp>
        <p:nvSpPr>
          <p:cNvPr id="29" name="Shape 27"/>
          <p:cNvSpPr/>
          <p:nvPr/>
        </p:nvSpPr>
        <p:spPr>
          <a:xfrm>
            <a:off x="9564624" y="2286000"/>
            <a:ext cx="1874520" cy="2880360"/>
          </a:xfrm>
          <a:prstGeom prst="roundRect">
            <a:avLst>
              <a:gd name="adj" fmla="val 4390"/>
            </a:avLst>
          </a:prstGeom>
          <a:solidFill>
            <a:srgbClr val="F1F5F7"/>
          </a:solidFill>
          <a:ln/>
        </p:spPr>
      </p:sp>
      <p:sp>
        <p:nvSpPr>
          <p:cNvPr id="30" name="Shape 28"/>
          <p:cNvSpPr/>
          <p:nvPr/>
        </p:nvSpPr>
        <p:spPr>
          <a:xfrm>
            <a:off x="10181844" y="2542032"/>
            <a:ext cx="640080" cy="640080"/>
          </a:xfrm>
          <a:prstGeom prst="ellipse">
            <a:avLst/>
          </a:prstGeom>
          <a:solidFill>
            <a:srgbClr val="2E7DD1"/>
          </a:solidFill>
          <a:ln/>
        </p:spPr>
      </p:sp>
      <p:sp>
        <p:nvSpPr>
          <p:cNvPr id="31" name="Text 29"/>
          <p:cNvSpPr txBox="1"/>
          <p:nvPr/>
        </p:nvSpPr>
        <p:spPr>
          <a:xfrm>
            <a:off x="10181844" y="2542032"/>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32" name="Text 30"/>
          <p:cNvSpPr txBox="1"/>
          <p:nvPr/>
        </p:nvSpPr>
        <p:spPr>
          <a:xfrm>
            <a:off x="9619488" y="3310128"/>
            <a:ext cx="1764792" cy="548640"/>
          </a:xfrm>
          <a:prstGeom prst="rect">
            <a:avLst/>
          </a:prstGeom>
          <a:noFill/>
          <a:ln/>
        </p:spPr>
        <p:txBody>
          <a:bodyPr wrap="square" lIns="0" tIns="0" rIns="0" bIns="0" rtlCol="0" anchor="ctr"/>
          <a:lstStyle/>
          <a:p>
            <a:pPr algn="ctr" indent="0" marL="0">
              <a:buNone/>
            </a:pPr>
            <a:r>
              <a:rPr lang="en-US" sz="1600" b="1" dirty="0">
                <a:solidFill>
                  <a:srgbClr val="0E2233"/>
                </a:solidFill>
                <a:latin typeface="Cambria" pitchFamily="34" charset="0"/>
                <a:ea typeface="Cambria" pitchFamily="34" charset="-122"/>
                <a:cs typeface="Cambria" pitchFamily="34" charset="-120"/>
              </a:rPr>
              <a:t>Page appears</a:t>
            </a:r>
            <a:endParaRPr lang="en-US" sz="1600" dirty="0"/>
          </a:p>
        </p:txBody>
      </p:sp>
      <p:sp>
        <p:nvSpPr>
          <p:cNvPr id="33" name="Text 31"/>
          <p:cNvSpPr txBox="1"/>
          <p:nvPr/>
        </p:nvSpPr>
        <p:spPr>
          <a:xfrm>
            <a:off x="9674352" y="3913632"/>
            <a:ext cx="1655064" cy="1051560"/>
          </a:xfrm>
          <a:prstGeom prst="rect">
            <a:avLst/>
          </a:prstGeom>
          <a:noFill/>
          <a:ln/>
        </p:spPr>
        <p:txBody>
          <a:bodyPr wrap="square" lIns="0" tIns="0" rIns="0" bIns="0" rtlCol="0" anchor="t"/>
          <a:lstStyle/>
          <a:p>
            <a:pPr algn="ctr" indent="0" marL="0">
              <a:lnSpc>
                <a:spcPts val="1700"/>
              </a:lnSpc>
              <a:buNone/>
            </a:pPr>
            <a:r>
              <a:rPr lang="en-US" sz="1250" dirty="0">
                <a:solidFill>
                  <a:srgbClr val="6B8394"/>
                </a:solidFill>
                <a:latin typeface="Calibri" pitchFamily="34" charset="0"/>
                <a:ea typeface="Calibri" pitchFamily="34" charset="-122"/>
                <a:cs typeface="Calibri" pitchFamily="34" charset="-120"/>
              </a:rPr>
              <a:t>Your browser draws what it received.</a:t>
            </a:r>
            <a:endParaRPr lang="en-US" sz="1250" dirty="0"/>
          </a:p>
        </p:txBody>
      </p:sp>
      <p:sp>
        <p:nvSpPr>
          <p:cNvPr id="34" name="Shape 32"/>
          <p:cNvSpPr/>
          <p:nvPr/>
        </p:nvSpPr>
        <p:spPr>
          <a:xfrm>
            <a:off x="594360" y="5532120"/>
            <a:ext cx="11018520" cy="731520"/>
          </a:xfrm>
          <a:prstGeom prst="roundRect">
            <a:avLst>
              <a:gd name="adj" fmla="val 11250"/>
            </a:avLst>
          </a:prstGeom>
          <a:solidFill>
            <a:srgbClr val="E4EDF0"/>
          </a:solidFill>
          <a:ln/>
        </p:spPr>
      </p:sp>
      <p:sp>
        <p:nvSpPr>
          <p:cNvPr id="35" name="Text 33"/>
          <p:cNvSpPr txBox="1"/>
          <p:nvPr/>
        </p:nvSpPr>
        <p:spPr>
          <a:xfrm>
            <a:off x="960120" y="5532120"/>
            <a:ext cx="10287000" cy="731520"/>
          </a:xfrm>
          <a:prstGeom prst="rect">
            <a:avLst/>
          </a:prstGeom>
          <a:noFill/>
          <a:ln/>
        </p:spPr>
        <p:txBody>
          <a:bodyPr wrap="square" lIns="0" tIns="0" rIns="0" bIns="0" rtlCol="0" anchor="ctr"/>
          <a:lstStyle/>
          <a:p>
            <a:pPr indent="0" marL="0">
              <a:buNone/>
            </a:pPr>
            <a:r>
              <a:rPr lang="en-US" sz="1500" i="1" dirty="0">
                <a:solidFill>
                  <a:srgbClr val="17364D"/>
                </a:solidFill>
                <a:latin typeface="Calibri" pitchFamily="34" charset="0"/>
                <a:ea typeface="Calibri" pitchFamily="34" charset="-122"/>
                <a:cs typeface="Calibri" pitchFamily="34" charset="-120"/>
              </a:rPr>
              <a:t>Live demo — open any site, press F12, choose Network, and reload. Every row on that list is one of these journeys.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058400" cy="256032"/>
          </a:xfrm>
          <a:prstGeom prst="rect">
            <a:avLst/>
          </a:prstGeom>
          <a:noFill/>
          <a:ln/>
        </p:spPr>
        <p:txBody>
          <a:bodyPr wrap="square" lIns="0" tIns="0" rIns="0" bIns="0" rtlCol="0" anchor="ctr"/>
          <a:lstStyle/>
          <a:p>
            <a:pPr indent="0" marL="0">
              <a:buNone/>
            </a:pPr>
            <a:r>
              <a:rPr lang="en-US" sz="1100" b="1" spc="220" kern="0" dirty="0">
                <a:solidFill>
                  <a:srgbClr val="D97B29"/>
                </a:solidFill>
                <a:latin typeface="Calibri" pitchFamily="34" charset="0"/>
                <a:ea typeface="Calibri" pitchFamily="34" charset="-122"/>
                <a:cs typeface="Calibri" pitchFamily="34" charset="-120"/>
              </a:rPr>
              <a:t>STEP TWO, EXPLAINED</a:t>
            </a:r>
            <a:endParaRPr lang="en-US" sz="1100" dirty="0"/>
          </a:p>
        </p:txBody>
      </p:sp>
      <p:sp>
        <p:nvSpPr>
          <p:cNvPr id="3" name="Text 1"/>
          <p:cNvSpPr txBox="1"/>
          <p:nvPr/>
        </p:nvSpPr>
        <p:spPr>
          <a:xfrm>
            <a:off x="594360" y="658368"/>
            <a:ext cx="10972800" cy="777240"/>
          </a:xfrm>
          <a:prstGeom prst="rect">
            <a:avLst/>
          </a:prstGeom>
          <a:noFill/>
          <a:ln/>
        </p:spPr>
        <p:txBody>
          <a:bodyPr wrap="square" lIns="0" tIns="0" rIns="0" bIns="0" rtlCol="0" anchor="t"/>
          <a:lstStyle/>
          <a:p>
            <a:pPr indent="0" marL="0">
              <a:buNone/>
            </a:pPr>
            <a:r>
              <a:rPr lang="en-US" sz="3400" b="1" dirty="0">
                <a:solidFill>
                  <a:srgbClr val="0E2233"/>
                </a:solidFill>
                <a:latin typeface="Cambria" pitchFamily="34" charset="0"/>
                <a:ea typeface="Cambria" pitchFamily="34" charset="-122"/>
                <a:cs typeface="Cambria" pitchFamily="34" charset="-120"/>
              </a:rPr>
              <a:t>DNS is the internet's phonebook</a:t>
            </a:r>
            <a:endParaRPr lang="en-US" sz="3400" dirty="0"/>
          </a:p>
        </p:txBody>
      </p:sp>
      <p:sp>
        <p:nvSpPr>
          <p:cNvPr id="4" name="Text 2"/>
          <p:cNvSpPr txBox="1"/>
          <p:nvPr/>
        </p:nvSpPr>
        <p:spPr>
          <a:xfrm>
            <a:off x="594360" y="1572768"/>
            <a:ext cx="5852160" cy="868680"/>
          </a:xfrm>
          <a:prstGeom prst="rect">
            <a:avLst/>
          </a:prstGeom>
          <a:noFill/>
          <a:ln/>
        </p:spPr>
        <p:txBody>
          <a:bodyPr wrap="square" lIns="0" tIns="0" rIns="0" bIns="0" rtlCol="0" anchor="ctr"/>
          <a:lstStyle/>
          <a:p>
            <a:pPr indent="0" marL="0">
              <a:lnSpc>
                <a:spcPts val="2500"/>
              </a:lnSpc>
              <a:buNone/>
            </a:pPr>
            <a:r>
              <a:rPr lang="en-US" sz="1650" dirty="0">
                <a:solidFill>
                  <a:srgbClr val="6B8394"/>
                </a:solidFill>
                <a:latin typeface="Calibri" pitchFamily="34" charset="0"/>
                <a:ea typeface="Calibri" pitchFamily="34" charset="-122"/>
                <a:cs typeface="Calibri" pitchFamily="34" charset="-120"/>
              </a:rPr>
              <a:t>Computers do not use names. They use numbers. DNS is the service that translates between the two — so you never have to remember the number.</a:t>
            </a:r>
            <a:endParaRPr lang="en-US" sz="1650" dirty="0"/>
          </a:p>
        </p:txBody>
      </p:sp>
      <p:sp>
        <p:nvSpPr>
          <p:cNvPr id="5" name="Shape 3"/>
          <p:cNvSpPr/>
          <p:nvPr/>
        </p:nvSpPr>
        <p:spPr>
          <a:xfrm>
            <a:off x="594360" y="2697480"/>
            <a:ext cx="5852160" cy="2377440"/>
          </a:xfrm>
          <a:prstGeom prst="roundRect">
            <a:avLst>
              <a:gd name="adj" fmla="val 3462"/>
            </a:avLst>
          </a:prstGeom>
          <a:solidFill>
            <a:srgbClr val="F1F5F7"/>
          </a:solidFill>
          <a:ln/>
        </p:spPr>
      </p:sp>
      <p:sp>
        <p:nvSpPr>
          <p:cNvPr id="6" name="Text 4"/>
          <p:cNvSpPr txBox="1"/>
          <p:nvPr/>
        </p:nvSpPr>
        <p:spPr>
          <a:xfrm>
            <a:off x="1005840" y="2971800"/>
            <a:ext cx="5029200" cy="256032"/>
          </a:xfrm>
          <a:prstGeom prst="rect">
            <a:avLst/>
          </a:prstGeom>
          <a:noFill/>
          <a:ln/>
        </p:spPr>
        <p:txBody>
          <a:bodyPr wrap="square" lIns="0" tIns="0" rIns="0" bIns="0" rtlCol="0" anchor="ctr"/>
          <a:lstStyle/>
          <a:p>
            <a:pPr indent="0" marL="0">
              <a:buNone/>
            </a:pPr>
            <a:r>
              <a:rPr lang="en-US" sz="1050" b="1" spc="180" kern="0" dirty="0">
                <a:solidFill>
                  <a:srgbClr val="6B8394"/>
                </a:solidFill>
                <a:latin typeface="Calibri" pitchFamily="34" charset="0"/>
                <a:ea typeface="Calibri" pitchFamily="34" charset="-122"/>
                <a:cs typeface="Calibri" pitchFamily="34" charset="-120"/>
              </a:rPr>
              <a:t>YOU TYPE</a:t>
            </a:r>
            <a:endParaRPr lang="en-US" sz="1050" dirty="0"/>
          </a:p>
        </p:txBody>
      </p:sp>
      <p:sp>
        <p:nvSpPr>
          <p:cNvPr id="7" name="Text 5"/>
          <p:cNvSpPr txBox="1"/>
          <p:nvPr/>
        </p:nvSpPr>
        <p:spPr>
          <a:xfrm>
            <a:off x="1005840" y="3246120"/>
            <a:ext cx="5029200" cy="457200"/>
          </a:xfrm>
          <a:prstGeom prst="rect">
            <a:avLst/>
          </a:prstGeom>
          <a:noFill/>
          <a:ln/>
        </p:spPr>
        <p:txBody>
          <a:bodyPr wrap="square" lIns="0" tIns="0" rIns="0" bIns="0" rtlCol="0" anchor="ctr"/>
          <a:lstStyle/>
          <a:p>
            <a:pPr indent="0" marL="0">
              <a:buNone/>
            </a:pPr>
            <a:r>
              <a:rPr lang="en-US" sz="2200" b="1" dirty="0">
                <a:solidFill>
                  <a:srgbClr val="0E2233"/>
                </a:solidFill>
                <a:latin typeface="Courier New" pitchFamily="34" charset="0"/>
                <a:ea typeface="Courier New" pitchFamily="34" charset="-122"/>
                <a:cs typeface="Courier New" pitchFamily="34" charset="-120"/>
              </a:rPr>
              <a:t>www.google.com</a:t>
            </a:r>
            <a:endParaRPr lang="en-US" sz="2200" dirty="0"/>
          </a:p>
        </p:txBody>
      </p:sp>
      <p:sp>
        <p:nvSpPr>
          <p:cNvPr id="8" name="Shape 6"/>
          <p:cNvSpPr/>
          <p:nvPr/>
        </p:nvSpPr>
        <p:spPr>
          <a:xfrm>
            <a:off x="1143000" y="3803904"/>
            <a:ext cx="274320" cy="384048"/>
          </a:xfrm>
          <a:prstGeom prst="downArrow">
            <a:avLst/>
          </a:prstGeom>
          <a:solidFill>
            <a:srgbClr val="D97B29"/>
          </a:solidFill>
          <a:ln/>
        </p:spPr>
      </p:sp>
      <p:sp>
        <p:nvSpPr>
          <p:cNvPr id="9" name="Text 7"/>
          <p:cNvSpPr txBox="1"/>
          <p:nvPr/>
        </p:nvSpPr>
        <p:spPr>
          <a:xfrm>
            <a:off x="1645920" y="3858768"/>
            <a:ext cx="4389120" cy="274320"/>
          </a:xfrm>
          <a:prstGeom prst="rect">
            <a:avLst/>
          </a:prstGeom>
          <a:noFill/>
          <a:ln/>
        </p:spPr>
        <p:txBody>
          <a:bodyPr wrap="square" lIns="0" tIns="0" rIns="0" bIns="0" rtlCol="0" anchor="ctr"/>
          <a:lstStyle/>
          <a:p>
            <a:pPr indent="0" marL="0">
              <a:buNone/>
            </a:pPr>
            <a:r>
              <a:rPr lang="en-US" sz="1050" b="1" spc="180" kern="0" dirty="0">
                <a:solidFill>
                  <a:srgbClr val="D97B29"/>
                </a:solidFill>
                <a:latin typeface="Calibri" pitchFamily="34" charset="0"/>
                <a:ea typeface="Calibri" pitchFamily="34" charset="-122"/>
                <a:cs typeface="Calibri" pitchFamily="34" charset="-120"/>
              </a:rPr>
              <a:t>DNS FINDS</a:t>
            </a:r>
            <a:endParaRPr lang="en-US" sz="1050" dirty="0"/>
          </a:p>
        </p:txBody>
      </p:sp>
      <p:sp>
        <p:nvSpPr>
          <p:cNvPr id="10" name="Text 8"/>
          <p:cNvSpPr txBox="1"/>
          <p:nvPr/>
        </p:nvSpPr>
        <p:spPr>
          <a:xfrm>
            <a:off x="1005840" y="4315968"/>
            <a:ext cx="5029200" cy="457200"/>
          </a:xfrm>
          <a:prstGeom prst="rect">
            <a:avLst/>
          </a:prstGeom>
          <a:noFill/>
          <a:ln/>
        </p:spPr>
        <p:txBody>
          <a:bodyPr wrap="square" lIns="0" tIns="0" rIns="0" bIns="0" rtlCol="0" anchor="ctr"/>
          <a:lstStyle/>
          <a:p>
            <a:pPr indent="0" marL="0">
              <a:buNone/>
            </a:pPr>
            <a:r>
              <a:rPr lang="en-US" sz="2200" b="1" dirty="0">
                <a:solidFill>
                  <a:srgbClr val="D97B29"/>
                </a:solidFill>
                <a:latin typeface="Courier New" pitchFamily="34" charset="0"/>
                <a:ea typeface="Courier New" pitchFamily="34" charset="-122"/>
                <a:cs typeface="Courier New" pitchFamily="34" charset="-120"/>
              </a:rPr>
              <a:t>142.250.183.196</a:t>
            </a:r>
            <a:endParaRPr lang="en-US" sz="2200" dirty="0"/>
          </a:p>
        </p:txBody>
      </p:sp>
      <p:sp>
        <p:nvSpPr>
          <p:cNvPr id="11" name="Shape 9"/>
          <p:cNvSpPr/>
          <p:nvPr/>
        </p:nvSpPr>
        <p:spPr>
          <a:xfrm>
            <a:off x="6903720" y="1572768"/>
            <a:ext cx="4709160" cy="3657600"/>
          </a:xfrm>
          <a:prstGeom prst="roundRect">
            <a:avLst>
              <a:gd name="adj" fmla="val 2250"/>
            </a:avLst>
          </a:prstGeom>
          <a:solidFill>
            <a:srgbClr val="FBEBDB"/>
          </a:solidFill>
          <a:ln w="15875">
            <a:solidFill>
              <a:srgbClr val="D97B29"/>
            </a:solidFill>
            <a:prstDash val="solid"/>
          </a:ln>
        </p:spPr>
      </p:sp>
      <p:sp>
        <p:nvSpPr>
          <p:cNvPr id="12" name="Text 10"/>
          <p:cNvSpPr txBox="1"/>
          <p:nvPr/>
        </p:nvSpPr>
        <p:spPr>
          <a:xfrm>
            <a:off x="6903720" y="1874520"/>
            <a:ext cx="4709160" cy="274320"/>
          </a:xfrm>
          <a:prstGeom prst="rect">
            <a:avLst/>
          </a:prstGeom>
          <a:noFill/>
          <a:ln/>
        </p:spPr>
        <p:txBody>
          <a:bodyPr wrap="square" lIns="0" tIns="0" rIns="0" bIns="0" rtlCol="0" anchor="ctr"/>
          <a:lstStyle/>
          <a:p>
            <a:pPr algn="ctr" indent="0" marL="0">
              <a:buNone/>
            </a:pPr>
            <a:r>
              <a:rPr lang="en-US" sz="1050" b="1" spc="180" kern="0" dirty="0">
                <a:solidFill>
                  <a:srgbClr val="8A4E15"/>
                </a:solidFill>
                <a:latin typeface="Calibri" pitchFamily="34" charset="0"/>
                <a:ea typeface="Calibri" pitchFamily="34" charset="-122"/>
                <a:cs typeface="Calibri" pitchFamily="34" charset="-120"/>
              </a:rPr>
              <a:t>THINK OF IT LIKE THIS</a:t>
            </a:r>
            <a:endParaRPr lang="en-US" sz="1050" dirty="0"/>
          </a:p>
        </p:txBody>
      </p:sp>
      <p:sp>
        <p:nvSpPr>
          <p:cNvPr id="13" name="Text 11"/>
          <p:cNvSpPr txBox="1"/>
          <p:nvPr/>
        </p:nvSpPr>
        <p:spPr>
          <a:xfrm>
            <a:off x="7269480" y="2331720"/>
            <a:ext cx="3977640" cy="1005840"/>
          </a:xfrm>
          <a:prstGeom prst="rect">
            <a:avLst/>
          </a:prstGeom>
          <a:noFill/>
          <a:ln/>
        </p:spPr>
        <p:txBody>
          <a:bodyPr wrap="square" lIns="0" tIns="0" rIns="0" bIns="0" rtlCol="0" anchor="ctr"/>
          <a:lstStyle/>
          <a:p>
            <a:pPr algn="ctr" indent="0" marL="0">
              <a:lnSpc>
                <a:spcPts val="2800"/>
              </a:lnSpc>
              <a:buNone/>
            </a:pPr>
            <a:r>
              <a:rPr lang="en-US" sz="2100" b="1" dirty="0">
                <a:solidFill>
                  <a:srgbClr val="0E2233"/>
                </a:solidFill>
                <a:latin typeface="Cambria" pitchFamily="34" charset="0"/>
                <a:ea typeface="Cambria" pitchFamily="34" charset="-122"/>
                <a:cs typeface="Cambria" pitchFamily="34" charset="-120"/>
              </a:rPr>
              <a:t>You know your friend's</a:t>
            </a:r>
            <a:endParaRPr lang="en-US" sz="2100" dirty="0"/>
          </a:p>
          <a:p>
            <a:pPr algn="ctr" indent="0" marL="0">
              <a:lnSpc>
                <a:spcPts val="2800"/>
              </a:lnSpc>
              <a:buNone/>
            </a:pPr>
            <a:r>
              <a:rPr lang="en-US" sz="2100" b="1" dirty="0">
                <a:solidFill>
                  <a:srgbClr val="0E2233"/>
                </a:solidFill>
                <a:latin typeface="Cambria" pitchFamily="34" charset="0"/>
                <a:ea typeface="Cambria" pitchFamily="34" charset="-122"/>
                <a:cs typeface="Cambria" pitchFamily="34" charset="-120"/>
              </a:rPr>
              <a:t>name, not their</a:t>
            </a:r>
            <a:endParaRPr lang="en-US" sz="2100" dirty="0"/>
          </a:p>
          <a:p>
            <a:pPr algn="ctr" indent="0" marL="0">
              <a:lnSpc>
                <a:spcPts val="2800"/>
              </a:lnSpc>
              <a:buNone/>
            </a:pPr>
            <a:r>
              <a:rPr lang="en-US" sz="2100" b="1" dirty="0">
                <a:solidFill>
                  <a:srgbClr val="0E2233"/>
                </a:solidFill>
                <a:latin typeface="Cambria" pitchFamily="34" charset="0"/>
                <a:ea typeface="Cambria" pitchFamily="34" charset="-122"/>
                <a:cs typeface="Cambria" pitchFamily="34" charset="-120"/>
              </a:rPr>
              <a:t>phone number.</a:t>
            </a:r>
            <a:endParaRPr lang="en-US" sz="2100" dirty="0"/>
          </a:p>
        </p:txBody>
      </p:sp>
      <p:sp>
        <p:nvSpPr>
          <p:cNvPr id="14" name="Shape 12"/>
          <p:cNvSpPr/>
          <p:nvPr/>
        </p:nvSpPr>
        <p:spPr>
          <a:xfrm>
            <a:off x="8686800" y="3520440"/>
            <a:ext cx="1143000" cy="0"/>
          </a:xfrm>
          <a:prstGeom prst="line">
            <a:avLst/>
          </a:prstGeom>
          <a:noFill/>
          <a:ln w="19050">
            <a:solidFill>
              <a:srgbClr val="D97B29"/>
            </a:solidFill>
            <a:prstDash val="solid"/>
          </a:ln>
        </p:spPr>
      </p:sp>
      <p:sp>
        <p:nvSpPr>
          <p:cNvPr id="15" name="Text 13"/>
          <p:cNvSpPr txBox="1"/>
          <p:nvPr/>
        </p:nvSpPr>
        <p:spPr>
          <a:xfrm>
            <a:off x="7269480" y="3749040"/>
            <a:ext cx="3977640" cy="1234440"/>
          </a:xfrm>
          <a:prstGeom prst="rect">
            <a:avLst/>
          </a:prstGeom>
          <a:noFill/>
          <a:ln/>
        </p:spPr>
        <p:txBody>
          <a:bodyPr wrap="square" lIns="0" tIns="0" rIns="0" bIns="0" rtlCol="0" anchor="ctr"/>
          <a:lstStyle/>
          <a:p>
            <a:pPr algn="ctr" indent="0" marL="0">
              <a:lnSpc>
                <a:spcPts val="2100"/>
              </a:lnSpc>
              <a:buNone/>
            </a:pPr>
            <a:r>
              <a:rPr lang="en-US" sz="1450" dirty="0">
                <a:solidFill>
                  <a:srgbClr val="7A4514"/>
                </a:solidFill>
                <a:latin typeface="Calibri" pitchFamily="34" charset="0"/>
                <a:ea typeface="Calibri" pitchFamily="34" charset="-122"/>
                <a:cs typeface="Calibri" pitchFamily="34" charset="-120"/>
              </a:rPr>
              <a:t>So you look them up in your contacts, and the phone dials the number for you. DNS does exactly that job for the internet.</a:t>
            </a:r>
            <a:endParaRPr lang="en-US" sz="1450" dirty="0"/>
          </a:p>
        </p:txBody>
      </p:sp>
      <p:sp>
        <p:nvSpPr>
          <p:cNvPr id="16" name="Text 14"/>
          <p:cNvSpPr txBox="1"/>
          <p:nvPr/>
        </p:nvSpPr>
        <p:spPr>
          <a:xfrm>
            <a:off x="594360" y="5532120"/>
            <a:ext cx="11018520" cy="457200"/>
          </a:xfrm>
          <a:prstGeom prst="rect">
            <a:avLst/>
          </a:prstGeom>
          <a:noFill/>
          <a:ln/>
        </p:spPr>
        <p:txBody>
          <a:bodyPr wrap="square" lIns="0" tIns="0" rIns="0" bIns="0" rtlCol="0" anchor="ctr"/>
          <a:lstStyle/>
          <a:p>
            <a:pPr indent="0" marL="0">
              <a:buNone/>
            </a:pPr>
            <a:r>
              <a:rPr lang="en-US" sz="1450" i="1" dirty="0">
                <a:solidFill>
                  <a:srgbClr val="6B8394"/>
                </a:solidFill>
                <a:latin typeface="Calibri" pitchFamily="34" charset="0"/>
                <a:ea typeface="Calibri" pitchFamily="34" charset="-122"/>
                <a:cs typeface="Calibri" pitchFamily="34" charset="-120"/>
              </a:rPr>
              <a:t>This lookup happens in a few milliseconds, and the answer is cached — which is why a site you visit often feels faster.</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058400" cy="256032"/>
          </a:xfrm>
          <a:prstGeom prst="rect">
            <a:avLst/>
          </a:prstGeom>
          <a:noFill/>
          <a:ln/>
        </p:spPr>
        <p:txBody>
          <a:bodyPr wrap="square" lIns="0" tIns="0" rIns="0" bIns="0" rtlCol="0" anchor="ctr"/>
          <a:lstStyle/>
          <a:p>
            <a:pPr indent="0" marL="0">
              <a:buNone/>
            </a:pPr>
            <a:r>
              <a:rPr lang="en-US" sz="1100" b="1" spc="220" kern="0" dirty="0">
                <a:solidFill>
                  <a:srgbClr val="D97B29"/>
                </a:solidFill>
                <a:latin typeface="Calibri" pitchFamily="34" charset="0"/>
                <a:ea typeface="Calibri" pitchFamily="34" charset="-122"/>
                <a:cs typeface="Calibri" pitchFamily="34" charset="-120"/>
              </a:rPr>
              <a:t>THE CONVERSATION</a:t>
            </a:r>
            <a:endParaRPr lang="en-US" sz="1100" dirty="0"/>
          </a:p>
        </p:txBody>
      </p:sp>
      <p:sp>
        <p:nvSpPr>
          <p:cNvPr id="3" name="Text 1"/>
          <p:cNvSpPr txBox="1"/>
          <p:nvPr/>
        </p:nvSpPr>
        <p:spPr>
          <a:xfrm>
            <a:off x="594360" y="658368"/>
            <a:ext cx="10972800" cy="777240"/>
          </a:xfrm>
          <a:prstGeom prst="rect">
            <a:avLst/>
          </a:prstGeom>
          <a:noFill/>
          <a:ln/>
        </p:spPr>
        <p:txBody>
          <a:bodyPr wrap="square" lIns="0" tIns="0" rIns="0" bIns="0" rtlCol="0" anchor="t"/>
          <a:lstStyle/>
          <a:p>
            <a:pPr indent="0" marL="0">
              <a:buNone/>
            </a:pPr>
            <a:r>
              <a:rPr lang="en-US" sz="3400" b="1" dirty="0">
                <a:solidFill>
                  <a:srgbClr val="0E2233"/>
                </a:solidFill>
                <a:latin typeface="Cambria" pitchFamily="34" charset="0"/>
                <a:ea typeface="Cambria" pitchFamily="34" charset="-122"/>
                <a:cs typeface="Cambria" pitchFamily="34" charset="-120"/>
              </a:rPr>
              <a:t>Request and Response</a:t>
            </a:r>
            <a:endParaRPr lang="en-US" sz="3400" dirty="0"/>
          </a:p>
        </p:txBody>
      </p:sp>
      <p:sp>
        <p:nvSpPr>
          <p:cNvPr id="4" name="Text 2"/>
          <p:cNvSpPr txBox="1"/>
          <p:nvPr/>
        </p:nvSpPr>
        <p:spPr>
          <a:xfrm>
            <a:off x="594360" y="1536192"/>
            <a:ext cx="10515600" cy="365760"/>
          </a:xfrm>
          <a:prstGeom prst="rect">
            <a:avLst/>
          </a:prstGeom>
          <a:noFill/>
          <a:ln/>
        </p:spPr>
        <p:txBody>
          <a:bodyPr wrap="square" lIns="0" tIns="0" rIns="0" bIns="0" rtlCol="0" anchor="ctr"/>
          <a:lstStyle/>
          <a:p>
            <a:pPr indent="0" marL="0">
              <a:buNone/>
            </a:pPr>
            <a:r>
              <a:rPr lang="en-US" sz="1650" dirty="0">
                <a:solidFill>
                  <a:srgbClr val="6B8394"/>
                </a:solidFill>
                <a:latin typeface="Calibri" pitchFamily="34" charset="0"/>
                <a:ea typeface="Calibri" pitchFamily="34" charset="-122"/>
                <a:cs typeface="Calibri" pitchFamily="34" charset="-120"/>
              </a:rPr>
              <a:t>Every exchange on the web is a pair. One side asks. The other answers. Exactly once.</a:t>
            </a:r>
            <a:endParaRPr lang="en-US" sz="1650" dirty="0"/>
          </a:p>
        </p:txBody>
      </p:sp>
      <p:sp>
        <p:nvSpPr>
          <p:cNvPr id="5" name="Shape 3"/>
          <p:cNvSpPr/>
          <p:nvPr/>
        </p:nvSpPr>
        <p:spPr>
          <a:xfrm>
            <a:off x="685800" y="2148840"/>
            <a:ext cx="5166360" cy="3063240"/>
          </a:xfrm>
          <a:prstGeom prst="roundRect">
            <a:avLst>
              <a:gd name="adj" fmla="val 2687"/>
            </a:avLst>
          </a:prstGeom>
          <a:solidFill>
            <a:srgbClr val="E2EDF9"/>
          </a:solidFill>
          <a:ln w="15875">
            <a:solidFill>
              <a:srgbClr val="2E7DD1"/>
            </a:solidFill>
            <a:prstDash val="solid"/>
          </a:ln>
        </p:spPr>
      </p:sp>
      <p:sp>
        <p:nvSpPr>
          <p:cNvPr id="6" name="Text 4"/>
          <p:cNvSpPr txBox="1"/>
          <p:nvPr/>
        </p:nvSpPr>
        <p:spPr>
          <a:xfrm>
            <a:off x="1051560" y="2423160"/>
            <a:ext cx="4434840" cy="274320"/>
          </a:xfrm>
          <a:prstGeom prst="rect">
            <a:avLst/>
          </a:prstGeom>
          <a:noFill/>
          <a:ln/>
        </p:spPr>
        <p:txBody>
          <a:bodyPr wrap="square" lIns="0" tIns="0" rIns="0" bIns="0" rtlCol="0" anchor="ctr"/>
          <a:lstStyle/>
          <a:p>
            <a:pPr indent="0" marL="0">
              <a:buNone/>
            </a:pPr>
            <a:r>
              <a:rPr lang="en-US" sz="1100" b="1" spc="200" kern="0" dirty="0">
                <a:solidFill>
                  <a:srgbClr val="2E7DD1"/>
                </a:solidFill>
                <a:latin typeface="Calibri" pitchFamily="34" charset="0"/>
                <a:ea typeface="Calibri" pitchFamily="34" charset="-122"/>
                <a:cs typeface="Calibri" pitchFamily="34" charset="-120"/>
              </a:rPr>
              <a:t>THE REQUEST</a:t>
            </a:r>
            <a:endParaRPr lang="en-US" sz="1100" dirty="0"/>
          </a:p>
        </p:txBody>
      </p:sp>
      <p:sp>
        <p:nvSpPr>
          <p:cNvPr id="7" name="Text 5"/>
          <p:cNvSpPr txBox="1"/>
          <p:nvPr/>
        </p:nvSpPr>
        <p:spPr>
          <a:xfrm>
            <a:off x="1051560" y="2743200"/>
            <a:ext cx="4434840" cy="457200"/>
          </a:xfrm>
          <a:prstGeom prst="rect">
            <a:avLst/>
          </a:prstGeom>
          <a:noFill/>
          <a:ln/>
        </p:spPr>
        <p:txBody>
          <a:bodyPr wrap="square" lIns="0" tIns="0" rIns="0" bIns="0" rtlCol="0" anchor="ctr"/>
          <a:lstStyle/>
          <a:p>
            <a:pPr indent="0" marL="0">
              <a:buNone/>
            </a:pPr>
            <a:r>
              <a:rPr lang="en-US" sz="2400" b="1" dirty="0">
                <a:solidFill>
                  <a:srgbClr val="0E2233"/>
                </a:solidFill>
                <a:latin typeface="Cambria" pitchFamily="34" charset="0"/>
                <a:ea typeface="Cambria" pitchFamily="34" charset="-122"/>
                <a:cs typeface="Cambria" pitchFamily="34" charset="-120"/>
              </a:rPr>
              <a:t>Client  →  Server</a:t>
            </a:r>
            <a:endParaRPr lang="en-US" sz="2400" dirty="0"/>
          </a:p>
        </p:txBody>
      </p:sp>
      <p:sp>
        <p:nvSpPr>
          <p:cNvPr id="8" name="Shape 6"/>
          <p:cNvSpPr/>
          <p:nvPr/>
        </p:nvSpPr>
        <p:spPr>
          <a:xfrm>
            <a:off x="1078992" y="3511296"/>
            <a:ext cx="118872" cy="118872"/>
          </a:xfrm>
          <a:prstGeom prst="ellipse">
            <a:avLst/>
          </a:prstGeom>
          <a:solidFill>
            <a:srgbClr val="2E7DD1"/>
          </a:solidFill>
          <a:ln/>
        </p:spPr>
      </p:sp>
      <p:sp>
        <p:nvSpPr>
          <p:cNvPr id="9" name="Text 7"/>
          <p:cNvSpPr txBox="1"/>
          <p:nvPr/>
        </p:nvSpPr>
        <p:spPr>
          <a:xfrm>
            <a:off x="1353312" y="3429000"/>
            <a:ext cx="1600200" cy="274320"/>
          </a:xfrm>
          <a:prstGeom prst="rect">
            <a:avLst/>
          </a:prstGeom>
          <a:noFill/>
          <a:ln/>
        </p:spPr>
        <p:txBody>
          <a:bodyPr wrap="square" lIns="0" tIns="0" rIns="0" bIns="0" rtlCol="0" anchor="ctr"/>
          <a:lstStyle/>
          <a:p>
            <a:pPr indent="0" marL="0">
              <a:buNone/>
            </a:pPr>
            <a:r>
              <a:rPr lang="en-US" sz="1400" b="1" dirty="0">
                <a:solidFill>
                  <a:srgbClr val="0E2233"/>
                </a:solidFill>
                <a:latin typeface="Calibri" pitchFamily="34" charset="0"/>
                <a:ea typeface="Calibri" pitchFamily="34" charset="-122"/>
                <a:cs typeface="Calibri" pitchFamily="34" charset="-120"/>
              </a:rPr>
              <a:t>What do I want?</a:t>
            </a:r>
            <a:endParaRPr lang="en-US" sz="1400" dirty="0"/>
          </a:p>
        </p:txBody>
      </p:sp>
      <p:sp>
        <p:nvSpPr>
          <p:cNvPr id="10" name="Text 8"/>
          <p:cNvSpPr txBox="1"/>
          <p:nvPr/>
        </p:nvSpPr>
        <p:spPr>
          <a:xfrm>
            <a:off x="2880360" y="3429000"/>
            <a:ext cx="2651760" cy="457200"/>
          </a:xfrm>
          <a:prstGeom prst="rect">
            <a:avLst/>
          </a:prstGeom>
          <a:noFill/>
          <a:ln/>
        </p:spPr>
        <p:txBody>
          <a:bodyPr wrap="square" lIns="0" tIns="0" rIns="0" bIns="0" rtlCol="0" anchor="ctr"/>
          <a:lstStyle/>
          <a:p>
            <a:pPr indent="0" marL="0">
              <a:buNone/>
            </a:pPr>
            <a:r>
              <a:rPr lang="en-US" sz="1250" dirty="0">
                <a:solidFill>
                  <a:srgbClr val="6B8394"/>
                </a:solidFill>
                <a:latin typeface="Calibri" pitchFamily="34" charset="0"/>
                <a:ea typeface="Calibri" pitchFamily="34" charset="-122"/>
                <a:cs typeface="Calibri" pitchFamily="34" charset="-120"/>
              </a:rPr>
              <a:t>Show me / send this / delete that</a:t>
            </a:r>
            <a:endParaRPr lang="en-US" sz="1250" dirty="0"/>
          </a:p>
        </p:txBody>
      </p:sp>
      <p:sp>
        <p:nvSpPr>
          <p:cNvPr id="11" name="Shape 9"/>
          <p:cNvSpPr/>
          <p:nvPr/>
        </p:nvSpPr>
        <p:spPr>
          <a:xfrm>
            <a:off x="1078992" y="4078224"/>
            <a:ext cx="118872" cy="118872"/>
          </a:xfrm>
          <a:prstGeom prst="ellipse">
            <a:avLst/>
          </a:prstGeom>
          <a:solidFill>
            <a:srgbClr val="2E7DD1"/>
          </a:solidFill>
          <a:ln/>
        </p:spPr>
      </p:sp>
      <p:sp>
        <p:nvSpPr>
          <p:cNvPr id="12" name="Text 10"/>
          <p:cNvSpPr txBox="1"/>
          <p:nvPr/>
        </p:nvSpPr>
        <p:spPr>
          <a:xfrm>
            <a:off x="1353312" y="3995928"/>
            <a:ext cx="1600200" cy="274320"/>
          </a:xfrm>
          <a:prstGeom prst="rect">
            <a:avLst/>
          </a:prstGeom>
          <a:noFill/>
          <a:ln/>
        </p:spPr>
        <p:txBody>
          <a:bodyPr wrap="square" lIns="0" tIns="0" rIns="0" bIns="0" rtlCol="0" anchor="ctr"/>
          <a:lstStyle/>
          <a:p>
            <a:pPr indent="0" marL="0">
              <a:buNone/>
            </a:pPr>
            <a:r>
              <a:rPr lang="en-US" sz="1400" b="1" dirty="0">
                <a:solidFill>
                  <a:srgbClr val="0E2233"/>
                </a:solidFill>
                <a:latin typeface="Calibri" pitchFamily="34" charset="0"/>
                <a:ea typeface="Calibri" pitchFamily="34" charset="-122"/>
                <a:cs typeface="Calibri" pitchFamily="34" charset="-120"/>
              </a:rPr>
              <a:t>Who am I?</a:t>
            </a:r>
            <a:endParaRPr lang="en-US" sz="1400" dirty="0"/>
          </a:p>
        </p:txBody>
      </p:sp>
      <p:sp>
        <p:nvSpPr>
          <p:cNvPr id="13" name="Text 11"/>
          <p:cNvSpPr txBox="1"/>
          <p:nvPr/>
        </p:nvSpPr>
        <p:spPr>
          <a:xfrm>
            <a:off x="2880360" y="3995928"/>
            <a:ext cx="2651760" cy="457200"/>
          </a:xfrm>
          <a:prstGeom prst="rect">
            <a:avLst/>
          </a:prstGeom>
          <a:noFill/>
          <a:ln/>
        </p:spPr>
        <p:txBody>
          <a:bodyPr wrap="square" lIns="0" tIns="0" rIns="0" bIns="0" rtlCol="0" anchor="ctr"/>
          <a:lstStyle/>
          <a:p>
            <a:pPr indent="0" marL="0">
              <a:buNone/>
            </a:pPr>
            <a:r>
              <a:rPr lang="en-US" sz="1250" dirty="0">
                <a:solidFill>
                  <a:srgbClr val="6B8394"/>
                </a:solidFill>
                <a:latin typeface="Calibri" pitchFamily="34" charset="0"/>
                <a:ea typeface="Calibri" pitchFamily="34" charset="-122"/>
                <a:cs typeface="Calibri" pitchFamily="34" charset="-120"/>
              </a:rPr>
              <a:t>Login details, if the server needs them</a:t>
            </a:r>
            <a:endParaRPr lang="en-US" sz="1250" dirty="0"/>
          </a:p>
        </p:txBody>
      </p:sp>
      <p:sp>
        <p:nvSpPr>
          <p:cNvPr id="14" name="Shape 12"/>
          <p:cNvSpPr/>
          <p:nvPr/>
        </p:nvSpPr>
        <p:spPr>
          <a:xfrm>
            <a:off x="1078992" y="4645152"/>
            <a:ext cx="118872" cy="118872"/>
          </a:xfrm>
          <a:prstGeom prst="ellipse">
            <a:avLst/>
          </a:prstGeom>
          <a:solidFill>
            <a:srgbClr val="2E7DD1"/>
          </a:solidFill>
          <a:ln/>
        </p:spPr>
      </p:sp>
      <p:sp>
        <p:nvSpPr>
          <p:cNvPr id="15" name="Text 13"/>
          <p:cNvSpPr txBox="1"/>
          <p:nvPr/>
        </p:nvSpPr>
        <p:spPr>
          <a:xfrm>
            <a:off x="1353312" y="4562856"/>
            <a:ext cx="1600200" cy="274320"/>
          </a:xfrm>
          <a:prstGeom prst="rect">
            <a:avLst/>
          </a:prstGeom>
          <a:noFill/>
          <a:ln/>
        </p:spPr>
        <p:txBody>
          <a:bodyPr wrap="square" lIns="0" tIns="0" rIns="0" bIns="0" rtlCol="0" anchor="ctr"/>
          <a:lstStyle/>
          <a:p>
            <a:pPr indent="0" marL="0">
              <a:buNone/>
            </a:pPr>
            <a:r>
              <a:rPr lang="en-US" sz="1400" b="1" dirty="0">
                <a:solidFill>
                  <a:srgbClr val="0E2233"/>
                </a:solidFill>
                <a:latin typeface="Calibri" pitchFamily="34" charset="0"/>
                <a:ea typeface="Calibri" pitchFamily="34" charset="-122"/>
                <a:cs typeface="Calibri" pitchFamily="34" charset="-120"/>
              </a:rPr>
              <a:t>Any data?</a:t>
            </a:r>
            <a:endParaRPr lang="en-US" sz="1400" dirty="0"/>
          </a:p>
        </p:txBody>
      </p:sp>
      <p:sp>
        <p:nvSpPr>
          <p:cNvPr id="16" name="Text 14"/>
          <p:cNvSpPr txBox="1"/>
          <p:nvPr/>
        </p:nvSpPr>
        <p:spPr>
          <a:xfrm>
            <a:off x="2880360" y="4562856"/>
            <a:ext cx="2651760" cy="457200"/>
          </a:xfrm>
          <a:prstGeom prst="rect">
            <a:avLst/>
          </a:prstGeom>
          <a:noFill/>
          <a:ln/>
        </p:spPr>
        <p:txBody>
          <a:bodyPr wrap="square" lIns="0" tIns="0" rIns="0" bIns="0" rtlCol="0" anchor="ctr"/>
          <a:lstStyle/>
          <a:p>
            <a:pPr indent="0" marL="0">
              <a:buNone/>
            </a:pPr>
            <a:r>
              <a:rPr lang="en-US" sz="1250" dirty="0">
                <a:solidFill>
                  <a:srgbClr val="6B8394"/>
                </a:solidFill>
                <a:latin typeface="Calibri" pitchFamily="34" charset="0"/>
                <a:ea typeface="Calibri" pitchFamily="34" charset="-122"/>
                <a:cs typeface="Calibri" pitchFamily="34" charset="-120"/>
              </a:rPr>
              <a:t>The form contents, when you are sending something</a:t>
            </a:r>
            <a:endParaRPr lang="en-US" sz="1250" dirty="0"/>
          </a:p>
        </p:txBody>
      </p:sp>
      <p:sp>
        <p:nvSpPr>
          <p:cNvPr id="17" name="Shape 15"/>
          <p:cNvSpPr/>
          <p:nvPr/>
        </p:nvSpPr>
        <p:spPr>
          <a:xfrm>
            <a:off x="6446520" y="2148840"/>
            <a:ext cx="5166360" cy="3063240"/>
          </a:xfrm>
          <a:prstGeom prst="roundRect">
            <a:avLst>
              <a:gd name="adj" fmla="val 2687"/>
            </a:avLst>
          </a:prstGeom>
          <a:solidFill>
            <a:srgbClr val="DDF0EF"/>
          </a:solidFill>
          <a:ln w="15875">
            <a:solidFill>
              <a:srgbClr val="0E9594"/>
            </a:solidFill>
            <a:prstDash val="solid"/>
          </a:ln>
        </p:spPr>
      </p:sp>
      <p:sp>
        <p:nvSpPr>
          <p:cNvPr id="18" name="Text 16"/>
          <p:cNvSpPr txBox="1"/>
          <p:nvPr/>
        </p:nvSpPr>
        <p:spPr>
          <a:xfrm>
            <a:off x="6812280" y="2423160"/>
            <a:ext cx="4434840" cy="274320"/>
          </a:xfrm>
          <a:prstGeom prst="rect">
            <a:avLst/>
          </a:prstGeom>
          <a:noFill/>
          <a:ln/>
        </p:spPr>
        <p:txBody>
          <a:bodyPr wrap="square" lIns="0" tIns="0" rIns="0" bIns="0" rtlCol="0" anchor="ctr"/>
          <a:lstStyle/>
          <a:p>
            <a:pPr indent="0" marL="0">
              <a:buNone/>
            </a:pPr>
            <a:r>
              <a:rPr lang="en-US" sz="1100" b="1" spc="200" kern="0" dirty="0">
                <a:solidFill>
                  <a:srgbClr val="0E9594"/>
                </a:solidFill>
                <a:latin typeface="Calibri" pitchFamily="34" charset="0"/>
                <a:ea typeface="Calibri" pitchFamily="34" charset="-122"/>
                <a:cs typeface="Calibri" pitchFamily="34" charset="-120"/>
              </a:rPr>
              <a:t>THE RESPONSE</a:t>
            </a:r>
            <a:endParaRPr lang="en-US" sz="1100" dirty="0"/>
          </a:p>
        </p:txBody>
      </p:sp>
      <p:sp>
        <p:nvSpPr>
          <p:cNvPr id="19" name="Text 17"/>
          <p:cNvSpPr txBox="1"/>
          <p:nvPr/>
        </p:nvSpPr>
        <p:spPr>
          <a:xfrm>
            <a:off x="6812280" y="2743200"/>
            <a:ext cx="4434840" cy="457200"/>
          </a:xfrm>
          <a:prstGeom prst="rect">
            <a:avLst/>
          </a:prstGeom>
          <a:noFill/>
          <a:ln/>
        </p:spPr>
        <p:txBody>
          <a:bodyPr wrap="square" lIns="0" tIns="0" rIns="0" bIns="0" rtlCol="0" anchor="ctr"/>
          <a:lstStyle/>
          <a:p>
            <a:pPr indent="0" marL="0">
              <a:buNone/>
            </a:pPr>
            <a:r>
              <a:rPr lang="en-US" sz="2400" b="1" dirty="0">
                <a:solidFill>
                  <a:srgbClr val="0E2233"/>
                </a:solidFill>
                <a:latin typeface="Cambria" pitchFamily="34" charset="0"/>
                <a:ea typeface="Cambria" pitchFamily="34" charset="-122"/>
                <a:cs typeface="Cambria" pitchFamily="34" charset="-120"/>
              </a:rPr>
              <a:t>Server  →  Client</a:t>
            </a:r>
            <a:endParaRPr lang="en-US" sz="2400" dirty="0"/>
          </a:p>
        </p:txBody>
      </p:sp>
      <p:sp>
        <p:nvSpPr>
          <p:cNvPr id="20" name="Shape 18"/>
          <p:cNvSpPr/>
          <p:nvPr/>
        </p:nvSpPr>
        <p:spPr>
          <a:xfrm>
            <a:off x="6839712" y="3511296"/>
            <a:ext cx="118872" cy="118872"/>
          </a:xfrm>
          <a:prstGeom prst="ellipse">
            <a:avLst/>
          </a:prstGeom>
          <a:solidFill>
            <a:srgbClr val="0E9594"/>
          </a:solidFill>
          <a:ln/>
        </p:spPr>
      </p:sp>
      <p:sp>
        <p:nvSpPr>
          <p:cNvPr id="21" name="Text 19"/>
          <p:cNvSpPr txBox="1"/>
          <p:nvPr/>
        </p:nvSpPr>
        <p:spPr>
          <a:xfrm>
            <a:off x="7114032" y="3429000"/>
            <a:ext cx="1600200" cy="274320"/>
          </a:xfrm>
          <a:prstGeom prst="rect">
            <a:avLst/>
          </a:prstGeom>
          <a:noFill/>
          <a:ln/>
        </p:spPr>
        <p:txBody>
          <a:bodyPr wrap="square" lIns="0" tIns="0" rIns="0" bIns="0" rtlCol="0" anchor="ctr"/>
          <a:lstStyle/>
          <a:p>
            <a:pPr indent="0" marL="0">
              <a:buNone/>
            </a:pPr>
            <a:r>
              <a:rPr lang="en-US" sz="1400" b="1" dirty="0">
                <a:solidFill>
                  <a:srgbClr val="0E2233"/>
                </a:solidFill>
                <a:latin typeface="Calibri" pitchFamily="34" charset="0"/>
                <a:ea typeface="Calibri" pitchFamily="34" charset="-122"/>
                <a:cs typeface="Calibri" pitchFamily="34" charset="-120"/>
              </a:rPr>
              <a:t>Did it work?</a:t>
            </a:r>
            <a:endParaRPr lang="en-US" sz="1400" dirty="0"/>
          </a:p>
        </p:txBody>
      </p:sp>
      <p:sp>
        <p:nvSpPr>
          <p:cNvPr id="22" name="Text 20"/>
          <p:cNvSpPr txBox="1"/>
          <p:nvPr/>
        </p:nvSpPr>
        <p:spPr>
          <a:xfrm>
            <a:off x="8641080" y="3429000"/>
            <a:ext cx="2651760" cy="457200"/>
          </a:xfrm>
          <a:prstGeom prst="rect">
            <a:avLst/>
          </a:prstGeom>
          <a:noFill/>
          <a:ln/>
        </p:spPr>
        <p:txBody>
          <a:bodyPr wrap="square" lIns="0" tIns="0" rIns="0" bIns="0" rtlCol="0" anchor="ctr"/>
          <a:lstStyle/>
          <a:p>
            <a:pPr indent="0" marL="0">
              <a:buNone/>
            </a:pPr>
            <a:r>
              <a:rPr lang="en-US" sz="1250" dirty="0">
                <a:solidFill>
                  <a:srgbClr val="6B8394"/>
                </a:solidFill>
                <a:latin typeface="Calibri" pitchFamily="34" charset="0"/>
                <a:ea typeface="Calibri" pitchFamily="34" charset="-122"/>
                <a:cs typeface="Calibri" pitchFamily="34" charset="-120"/>
              </a:rPr>
              <a:t>A three-digit status code says so</a:t>
            </a:r>
            <a:endParaRPr lang="en-US" sz="1250" dirty="0"/>
          </a:p>
        </p:txBody>
      </p:sp>
      <p:sp>
        <p:nvSpPr>
          <p:cNvPr id="23" name="Shape 21"/>
          <p:cNvSpPr/>
          <p:nvPr/>
        </p:nvSpPr>
        <p:spPr>
          <a:xfrm>
            <a:off x="6839712" y="4078224"/>
            <a:ext cx="118872" cy="118872"/>
          </a:xfrm>
          <a:prstGeom prst="ellipse">
            <a:avLst/>
          </a:prstGeom>
          <a:solidFill>
            <a:srgbClr val="0E9594"/>
          </a:solidFill>
          <a:ln/>
        </p:spPr>
      </p:sp>
      <p:sp>
        <p:nvSpPr>
          <p:cNvPr id="24" name="Text 22"/>
          <p:cNvSpPr txBox="1"/>
          <p:nvPr/>
        </p:nvSpPr>
        <p:spPr>
          <a:xfrm>
            <a:off x="7114032" y="3995928"/>
            <a:ext cx="1600200" cy="274320"/>
          </a:xfrm>
          <a:prstGeom prst="rect">
            <a:avLst/>
          </a:prstGeom>
          <a:noFill/>
          <a:ln/>
        </p:spPr>
        <p:txBody>
          <a:bodyPr wrap="square" lIns="0" tIns="0" rIns="0" bIns="0" rtlCol="0" anchor="ctr"/>
          <a:lstStyle/>
          <a:p>
            <a:pPr indent="0" marL="0">
              <a:buNone/>
            </a:pPr>
            <a:r>
              <a:rPr lang="en-US" sz="1400" b="1" dirty="0">
                <a:solidFill>
                  <a:srgbClr val="0E2233"/>
                </a:solidFill>
                <a:latin typeface="Calibri" pitchFamily="34" charset="0"/>
                <a:ea typeface="Calibri" pitchFamily="34" charset="-122"/>
                <a:cs typeface="Calibri" pitchFamily="34" charset="-120"/>
              </a:rPr>
              <a:t>Here's the data</a:t>
            </a:r>
            <a:endParaRPr lang="en-US" sz="1400" dirty="0"/>
          </a:p>
        </p:txBody>
      </p:sp>
      <p:sp>
        <p:nvSpPr>
          <p:cNvPr id="25" name="Text 23"/>
          <p:cNvSpPr txBox="1"/>
          <p:nvPr/>
        </p:nvSpPr>
        <p:spPr>
          <a:xfrm>
            <a:off x="8641080" y="3995928"/>
            <a:ext cx="2651760" cy="457200"/>
          </a:xfrm>
          <a:prstGeom prst="rect">
            <a:avLst/>
          </a:prstGeom>
          <a:noFill/>
          <a:ln/>
        </p:spPr>
        <p:txBody>
          <a:bodyPr wrap="square" lIns="0" tIns="0" rIns="0" bIns="0" rtlCol="0" anchor="ctr"/>
          <a:lstStyle/>
          <a:p>
            <a:pPr indent="0" marL="0">
              <a:buNone/>
            </a:pPr>
            <a:r>
              <a:rPr lang="en-US" sz="1250" dirty="0">
                <a:solidFill>
                  <a:srgbClr val="6B8394"/>
                </a:solidFill>
                <a:latin typeface="Calibri" pitchFamily="34" charset="0"/>
                <a:ea typeface="Calibri" pitchFamily="34" charset="-122"/>
                <a:cs typeface="Calibri" pitchFamily="34" charset="-120"/>
              </a:rPr>
              <a:t>The page, the list, the answer</a:t>
            </a:r>
            <a:endParaRPr lang="en-US" sz="1250" dirty="0"/>
          </a:p>
        </p:txBody>
      </p:sp>
      <p:sp>
        <p:nvSpPr>
          <p:cNvPr id="26" name="Shape 24"/>
          <p:cNvSpPr/>
          <p:nvPr/>
        </p:nvSpPr>
        <p:spPr>
          <a:xfrm>
            <a:off x="6839712" y="4645152"/>
            <a:ext cx="118872" cy="118872"/>
          </a:xfrm>
          <a:prstGeom prst="ellipse">
            <a:avLst/>
          </a:prstGeom>
          <a:solidFill>
            <a:srgbClr val="0E9594"/>
          </a:solidFill>
          <a:ln/>
        </p:spPr>
      </p:sp>
      <p:sp>
        <p:nvSpPr>
          <p:cNvPr id="27" name="Text 25"/>
          <p:cNvSpPr txBox="1"/>
          <p:nvPr/>
        </p:nvSpPr>
        <p:spPr>
          <a:xfrm>
            <a:off x="7114032" y="4562856"/>
            <a:ext cx="1600200" cy="274320"/>
          </a:xfrm>
          <a:prstGeom prst="rect">
            <a:avLst/>
          </a:prstGeom>
          <a:noFill/>
          <a:ln/>
        </p:spPr>
        <p:txBody>
          <a:bodyPr wrap="square" lIns="0" tIns="0" rIns="0" bIns="0" rtlCol="0" anchor="ctr"/>
          <a:lstStyle/>
          <a:p>
            <a:pPr indent="0" marL="0">
              <a:buNone/>
            </a:pPr>
            <a:r>
              <a:rPr lang="en-US" sz="1400" b="1" dirty="0">
                <a:solidFill>
                  <a:srgbClr val="0E2233"/>
                </a:solidFill>
                <a:latin typeface="Calibri" pitchFamily="34" charset="0"/>
                <a:ea typeface="Calibri" pitchFamily="34" charset="-122"/>
                <a:cs typeface="Calibri" pitchFamily="34" charset="-120"/>
              </a:rPr>
              <a:t>Or here's why not</a:t>
            </a:r>
            <a:endParaRPr lang="en-US" sz="1400" dirty="0"/>
          </a:p>
        </p:txBody>
      </p:sp>
      <p:sp>
        <p:nvSpPr>
          <p:cNvPr id="28" name="Text 26"/>
          <p:cNvSpPr txBox="1"/>
          <p:nvPr/>
        </p:nvSpPr>
        <p:spPr>
          <a:xfrm>
            <a:off x="8641080" y="4562856"/>
            <a:ext cx="2651760" cy="457200"/>
          </a:xfrm>
          <a:prstGeom prst="rect">
            <a:avLst/>
          </a:prstGeom>
          <a:noFill/>
          <a:ln/>
        </p:spPr>
        <p:txBody>
          <a:bodyPr wrap="square" lIns="0" tIns="0" rIns="0" bIns="0" rtlCol="0" anchor="ctr"/>
          <a:lstStyle/>
          <a:p>
            <a:pPr indent="0" marL="0">
              <a:buNone/>
            </a:pPr>
            <a:r>
              <a:rPr lang="en-US" sz="1250" dirty="0">
                <a:solidFill>
                  <a:srgbClr val="6B8394"/>
                </a:solidFill>
                <a:latin typeface="Calibri" pitchFamily="34" charset="0"/>
                <a:ea typeface="Calibri" pitchFamily="34" charset="-122"/>
                <a:cs typeface="Calibri" pitchFamily="34" charset="-120"/>
              </a:rPr>
              <a:t>A clear message explaining the refusal</a:t>
            </a:r>
            <a:endParaRPr lang="en-US" sz="1250" dirty="0"/>
          </a:p>
        </p:txBody>
      </p:sp>
      <p:sp>
        <p:nvSpPr>
          <p:cNvPr id="29" name="Shape 27"/>
          <p:cNvSpPr/>
          <p:nvPr/>
        </p:nvSpPr>
        <p:spPr>
          <a:xfrm>
            <a:off x="594360" y="5532120"/>
            <a:ext cx="11018520" cy="777240"/>
          </a:xfrm>
          <a:prstGeom prst="roundRect">
            <a:avLst>
              <a:gd name="adj" fmla="val 10588"/>
            </a:avLst>
          </a:prstGeom>
          <a:solidFill>
            <a:srgbClr val="E4EDF0"/>
          </a:solidFill>
          <a:ln/>
        </p:spPr>
      </p:sp>
      <p:sp>
        <p:nvSpPr>
          <p:cNvPr id="30" name="Text 28"/>
          <p:cNvSpPr txBox="1"/>
          <p:nvPr/>
        </p:nvSpPr>
        <p:spPr>
          <a:xfrm>
            <a:off x="960120" y="5532120"/>
            <a:ext cx="10287000" cy="777240"/>
          </a:xfrm>
          <a:prstGeom prst="rect">
            <a:avLst/>
          </a:prstGeom>
          <a:noFill/>
          <a:ln/>
        </p:spPr>
        <p:txBody>
          <a:bodyPr wrap="square" lIns="0" tIns="0" rIns="0" bIns="0" rtlCol="0" anchor="ctr"/>
          <a:lstStyle/>
          <a:p>
            <a:pPr indent="0" marL="0">
              <a:buNone/>
            </a:pPr>
            <a:r>
              <a:rPr lang="en-US" sz="1550" b="1" dirty="0">
                <a:solidFill>
                  <a:srgbClr val="17364D"/>
                </a:solidFill>
                <a:latin typeface="Calibri" pitchFamily="34" charset="0"/>
                <a:ea typeface="Calibri" pitchFamily="34" charset="-122"/>
                <a:cs typeface="Calibri" pitchFamily="34" charset="-120"/>
              </a:rPr>
              <a:t>Stateless  —  the server forgets you the moment it answers. Every request must carry everything it needs, all over again.</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058400" cy="256032"/>
          </a:xfrm>
          <a:prstGeom prst="rect">
            <a:avLst/>
          </a:prstGeom>
          <a:noFill/>
          <a:ln/>
        </p:spPr>
        <p:txBody>
          <a:bodyPr wrap="square" lIns="0" tIns="0" rIns="0" bIns="0" rtlCol="0" anchor="ctr"/>
          <a:lstStyle/>
          <a:p>
            <a:pPr indent="0" marL="0">
              <a:buNone/>
            </a:pPr>
            <a:r>
              <a:rPr lang="en-US" sz="1100" b="1" spc="220" kern="0" dirty="0">
                <a:solidFill>
                  <a:srgbClr val="D97B29"/>
                </a:solidFill>
                <a:latin typeface="Calibri" pitchFamily="34" charset="0"/>
                <a:ea typeface="Calibri" pitchFamily="34" charset="-122"/>
                <a:cs typeface="Calibri" pitchFamily="34" charset="-120"/>
              </a:rPr>
              <a:t>TWO WORDS YOU WILL USE DAILY</a:t>
            </a:r>
            <a:endParaRPr lang="en-US" sz="1100" dirty="0"/>
          </a:p>
        </p:txBody>
      </p:sp>
      <p:sp>
        <p:nvSpPr>
          <p:cNvPr id="3" name="Text 1"/>
          <p:cNvSpPr txBox="1"/>
          <p:nvPr/>
        </p:nvSpPr>
        <p:spPr>
          <a:xfrm>
            <a:off x="594360" y="658368"/>
            <a:ext cx="10972800" cy="777240"/>
          </a:xfrm>
          <a:prstGeom prst="rect">
            <a:avLst/>
          </a:prstGeom>
          <a:noFill/>
          <a:ln/>
        </p:spPr>
        <p:txBody>
          <a:bodyPr wrap="square" lIns="0" tIns="0" rIns="0" bIns="0" rtlCol="0" anchor="t"/>
          <a:lstStyle/>
          <a:p>
            <a:pPr indent="0" marL="0">
              <a:buNone/>
            </a:pPr>
            <a:r>
              <a:rPr lang="en-US" sz="3400" b="1" dirty="0">
                <a:solidFill>
                  <a:srgbClr val="0E2233"/>
                </a:solidFill>
                <a:latin typeface="Cambria" pitchFamily="34" charset="0"/>
                <a:ea typeface="Cambria" pitchFamily="34" charset="-122"/>
                <a:cs typeface="Cambria" pitchFamily="34" charset="-120"/>
              </a:rPr>
              <a:t>GET  vs  POST</a:t>
            </a:r>
            <a:endParaRPr lang="en-US" sz="3400" dirty="0"/>
          </a:p>
        </p:txBody>
      </p:sp>
      <p:sp>
        <p:nvSpPr>
          <p:cNvPr id="4" name="Shape 2"/>
          <p:cNvSpPr/>
          <p:nvPr/>
        </p:nvSpPr>
        <p:spPr>
          <a:xfrm>
            <a:off x="685800" y="1783080"/>
            <a:ext cx="5440680" cy="3977640"/>
          </a:xfrm>
          <a:prstGeom prst="roundRect">
            <a:avLst>
              <a:gd name="adj" fmla="val 2069"/>
            </a:avLst>
          </a:prstGeom>
          <a:solidFill>
            <a:srgbClr val="E2EDF9"/>
          </a:solidFill>
          <a:ln w="15875">
            <a:solidFill>
              <a:srgbClr val="2E7DD1"/>
            </a:solidFill>
            <a:prstDash val="solid"/>
          </a:ln>
        </p:spPr>
      </p:sp>
      <p:sp>
        <p:nvSpPr>
          <p:cNvPr id="5" name="Text 3"/>
          <p:cNvSpPr txBox="1"/>
          <p:nvPr/>
        </p:nvSpPr>
        <p:spPr>
          <a:xfrm>
            <a:off x="1097280" y="2057400"/>
            <a:ext cx="4617720" cy="548640"/>
          </a:xfrm>
          <a:prstGeom prst="rect">
            <a:avLst/>
          </a:prstGeom>
          <a:noFill/>
          <a:ln/>
        </p:spPr>
        <p:txBody>
          <a:bodyPr wrap="square" lIns="0" tIns="0" rIns="0" bIns="0" rtlCol="0" anchor="ctr"/>
          <a:lstStyle/>
          <a:p>
            <a:pPr indent="0" marL="0">
              <a:buNone/>
            </a:pPr>
            <a:r>
              <a:rPr lang="en-US" sz="3400" b="1" dirty="0">
                <a:solidFill>
                  <a:srgbClr val="2E7DD1"/>
                </a:solidFill>
                <a:latin typeface="Courier New" pitchFamily="34" charset="0"/>
                <a:ea typeface="Courier New" pitchFamily="34" charset="-122"/>
                <a:cs typeface="Courier New" pitchFamily="34" charset="-120"/>
              </a:rPr>
              <a:t>GET</a:t>
            </a:r>
            <a:endParaRPr lang="en-US" sz="3400" dirty="0"/>
          </a:p>
        </p:txBody>
      </p:sp>
      <p:sp>
        <p:nvSpPr>
          <p:cNvPr id="6" name="Text 4"/>
          <p:cNvSpPr txBox="1"/>
          <p:nvPr/>
        </p:nvSpPr>
        <p:spPr>
          <a:xfrm>
            <a:off x="1097280" y="2633472"/>
            <a:ext cx="4617720" cy="320040"/>
          </a:xfrm>
          <a:prstGeom prst="rect">
            <a:avLst/>
          </a:prstGeom>
          <a:noFill/>
          <a:ln/>
        </p:spPr>
        <p:txBody>
          <a:bodyPr wrap="square" lIns="0" tIns="0" rIns="0" bIns="0" rtlCol="0" anchor="ctr"/>
          <a:lstStyle/>
          <a:p>
            <a:pPr indent="0" marL="0">
              <a:buNone/>
            </a:pPr>
            <a:r>
              <a:rPr lang="en-US" sz="1550" b="1" dirty="0">
                <a:solidFill>
                  <a:srgbClr val="0E2233"/>
                </a:solidFill>
                <a:latin typeface="Calibri" pitchFamily="34" charset="0"/>
                <a:ea typeface="Calibri" pitchFamily="34" charset="-122"/>
                <a:cs typeface="Calibri" pitchFamily="34" charset="-120"/>
              </a:rPr>
              <a:t>Fetch data</a:t>
            </a:r>
            <a:endParaRPr lang="en-US" sz="1550" dirty="0"/>
          </a:p>
        </p:txBody>
      </p:sp>
      <p:sp>
        <p:nvSpPr>
          <p:cNvPr id="7" name="Shape 5"/>
          <p:cNvSpPr/>
          <p:nvPr/>
        </p:nvSpPr>
        <p:spPr>
          <a:xfrm>
            <a:off x="1097280" y="3090672"/>
            <a:ext cx="4617720" cy="0"/>
          </a:xfrm>
          <a:prstGeom prst="line">
            <a:avLst/>
          </a:prstGeom>
          <a:noFill/>
          <a:ln w="15875">
            <a:solidFill>
              <a:srgbClr val="2E7DD1"/>
            </a:solidFill>
            <a:prstDash val="solid"/>
          </a:ln>
        </p:spPr>
      </p:sp>
      <p:sp>
        <p:nvSpPr>
          <p:cNvPr id="8" name="Text 6"/>
          <p:cNvSpPr txBox="1"/>
          <p:nvPr/>
        </p:nvSpPr>
        <p:spPr>
          <a:xfrm>
            <a:off x="1097280" y="3273552"/>
            <a:ext cx="1965960" cy="502920"/>
          </a:xfrm>
          <a:prstGeom prst="rect">
            <a:avLst/>
          </a:prstGeom>
          <a:noFill/>
          <a:ln/>
        </p:spPr>
        <p:txBody>
          <a:bodyPr wrap="square" lIns="0" tIns="0" rIns="0" bIns="0" rtlCol="0" anchor="t"/>
          <a:lstStyle/>
          <a:p>
            <a:pPr indent="0" marL="0">
              <a:buNone/>
            </a:pPr>
            <a:r>
              <a:rPr lang="en-US" sz="1250" b="1" dirty="0">
                <a:solidFill>
                  <a:srgbClr val="6B8394"/>
                </a:solidFill>
                <a:latin typeface="Calibri" pitchFamily="34" charset="0"/>
                <a:ea typeface="Calibri" pitchFamily="34" charset="-122"/>
                <a:cs typeface="Calibri" pitchFamily="34" charset="-120"/>
              </a:rPr>
              <a:t>What it does</a:t>
            </a:r>
            <a:endParaRPr lang="en-US" sz="1250" dirty="0"/>
          </a:p>
        </p:txBody>
      </p:sp>
      <p:sp>
        <p:nvSpPr>
          <p:cNvPr id="9" name="Text 7"/>
          <p:cNvSpPr txBox="1"/>
          <p:nvPr/>
        </p:nvSpPr>
        <p:spPr>
          <a:xfrm>
            <a:off x="3063240" y="3273552"/>
            <a:ext cx="2651760" cy="502920"/>
          </a:xfrm>
          <a:prstGeom prst="rect">
            <a:avLst/>
          </a:prstGeom>
          <a:noFill/>
          <a:ln/>
        </p:spPr>
        <p:txBody>
          <a:bodyPr wrap="square" lIns="0" tIns="0" rIns="0" bIns="0" rtlCol="0" anchor="t"/>
          <a:lstStyle/>
          <a:p>
            <a:pPr indent="0" marL="0">
              <a:buNone/>
            </a:pPr>
            <a:r>
              <a:rPr lang="en-US" sz="1300" dirty="0">
                <a:solidFill>
                  <a:srgbClr val="0E2233"/>
                </a:solidFill>
                <a:latin typeface="Calibri" pitchFamily="34" charset="0"/>
                <a:ea typeface="Calibri" pitchFamily="34" charset="-122"/>
                <a:cs typeface="Calibri" pitchFamily="34" charset="-120"/>
              </a:rPr>
              <a:t>Asks the server to send something back</a:t>
            </a:r>
            <a:endParaRPr lang="en-US" sz="1300" dirty="0"/>
          </a:p>
        </p:txBody>
      </p:sp>
      <p:sp>
        <p:nvSpPr>
          <p:cNvPr id="10" name="Text 8"/>
          <p:cNvSpPr txBox="1"/>
          <p:nvPr/>
        </p:nvSpPr>
        <p:spPr>
          <a:xfrm>
            <a:off x="1097280" y="3895344"/>
            <a:ext cx="1965960" cy="502920"/>
          </a:xfrm>
          <a:prstGeom prst="rect">
            <a:avLst/>
          </a:prstGeom>
          <a:noFill/>
          <a:ln/>
        </p:spPr>
        <p:txBody>
          <a:bodyPr wrap="square" lIns="0" tIns="0" rIns="0" bIns="0" rtlCol="0" anchor="t"/>
          <a:lstStyle/>
          <a:p>
            <a:pPr indent="0" marL="0">
              <a:buNone/>
            </a:pPr>
            <a:r>
              <a:rPr lang="en-US" sz="1250" b="1" dirty="0">
                <a:solidFill>
                  <a:srgbClr val="6B8394"/>
                </a:solidFill>
                <a:latin typeface="Calibri" pitchFamily="34" charset="0"/>
                <a:ea typeface="Calibri" pitchFamily="34" charset="-122"/>
                <a:cs typeface="Calibri" pitchFamily="34" charset="-120"/>
              </a:rPr>
              <a:t>Changes anything?</a:t>
            </a:r>
            <a:endParaRPr lang="en-US" sz="1250" dirty="0"/>
          </a:p>
        </p:txBody>
      </p:sp>
      <p:sp>
        <p:nvSpPr>
          <p:cNvPr id="11" name="Text 9"/>
          <p:cNvSpPr txBox="1"/>
          <p:nvPr/>
        </p:nvSpPr>
        <p:spPr>
          <a:xfrm>
            <a:off x="3063240" y="3895344"/>
            <a:ext cx="2651760" cy="502920"/>
          </a:xfrm>
          <a:prstGeom prst="rect">
            <a:avLst/>
          </a:prstGeom>
          <a:noFill/>
          <a:ln/>
        </p:spPr>
        <p:txBody>
          <a:bodyPr wrap="square" lIns="0" tIns="0" rIns="0" bIns="0" rtlCol="0" anchor="t"/>
          <a:lstStyle/>
          <a:p>
            <a:pPr indent="0" marL="0">
              <a:buNone/>
            </a:pPr>
            <a:r>
              <a:rPr lang="en-US" sz="1300" dirty="0">
                <a:solidFill>
                  <a:srgbClr val="0E2233"/>
                </a:solidFill>
                <a:latin typeface="Calibri" pitchFamily="34" charset="0"/>
                <a:ea typeface="Calibri" pitchFamily="34" charset="-122"/>
                <a:cs typeface="Calibri" pitchFamily="34" charset="-120"/>
              </a:rPr>
              <a:t>No — it only reads</a:t>
            </a:r>
            <a:endParaRPr lang="en-US" sz="1300" dirty="0"/>
          </a:p>
        </p:txBody>
      </p:sp>
      <p:sp>
        <p:nvSpPr>
          <p:cNvPr id="12" name="Text 10"/>
          <p:cNvSpPr txBox="1"/>
          <p:nvPr/>
        </p:nvSpPr>
        <p:spPr>
          <a:xfrm>
            <a:off x="1097280" y="4517136"/>
            <a:ext cx="1965960" cy="502920"/>
          </a:xfrm>
          <a:prstGeom prst="rect">
            <a:avLst/>
          </a:prstGeom>
          <a:noFill/>
          <a:ln/>
        </p:spPr>
        <p:txBody>
          <a:bodyPr wrap="square" lIns="0" tIns="0" rIns="0" bIns="0" rtlCol="0" anchor="t"/>
          <a:lstStyle/>
          <a:p>
            <a:pPr indent="0" marL="0">
              <a:buNone/>
            </a:pPr>
            <a:r>
              <a:rPr lang="en-US" sz="1250" b="1" dirty="0">
                <a:solidFill>
                  <a:srgbClr val="6B8394"/>
                </a:solidFill>
                <a:latin typeface="Calibri" pitchFamily="34" charset="0"/>
                <a:ea typeface="Calibri" pitchFamily="34" charset="-122"/>
                <a:cs typeface="Calibri" pitchFamily="34" charset="-120"/>
              </a:rPr>
              <a:t>Where you see it</a:t>
            </a:r>
            <a:endParaRPr lang="en-US" sz="1250" dirty="0"/>
          </a:p>
        </p:txBody>
      </p:sp>
      <p:sp>
        <p:nvSpPr>
          <p:cNvPr id="13" name="Text 11"/>
          <p:cNvSpPr txBox="1"/>
          <p:nvPr/>
        </p:nvSpPr>
        <p:spPr>
          <a:xfrm>
            <a:off x="3063240" y="4517136"/>
            <a:ext cx="2651760" cy="502920"/>
          </a:xfrm>
          <a:prstGeom prst="rect">
            <a:avLst/>
          </a:prstGeom>
          <a:noFill/>
          <a:ln/>
        </p:spPr>
        <p:txBody>
          <a:bodyPr wrap="square" lIns="0" tIns="0" rIns="0" bIns="0" rtlCol="0" anchor="t"/>
          <a:lstStyle/>
          <a:p>
            <a:pPr indent="0" marL="0">
              <a:buNone/>
            </a:pPr>
            <a:r>
              <a:rPr lang="en-US" sz="1300" dirty="0">
                <a:solidFill>
                  <a:srgbClr val="0E2233"/>
                </a:solidFill>
                <a:latin typeface="Calibri" pitchFamily="34" charset="0"/>
                <a:ea typeface="Calibri" pitchFamily="34" charset="-122"/>
                <a:cs typeface="Calibri" pitchFamily="34" charset="-120"/>
              </a:rPr>
              <a:t>Opening a page, loading a list, a search</a:t>
            </a:r>
            <a:endParaRPr lang="en-US" sz="1300" dirty="0"/>
          </a:p>
        </p:txBody>
      </p:sp>
      <p:sp>
        <p:nvSpPr>
          <p:cNvPr id="14" name="Text 12"/>
          <p:cNvSpPr txBox="1"/>
          <p:nvPr/>
        </p:nvSpPr>
        <p:spPr>
          <a:xfrm>
            <a:off x="1097280" y="5138928"/>
            <a:ext cx="1965960" cy="502920"/>
          </a:xfrm>
          <a:prstGeom prst="rect">
            <a:avLst/>
          </a:prstGeom>
          <a:noFill/>
          <a:ln/>
        </p:spPr>
        <p:txBody>
          <a:bodyPr wrap="square" lIns="0" tIns="0" rIns="0" bIns="0" rtlCol="0" anchor="t"/>
          <a:lstStyle/>
          <a:p>
            <a:pPr indent="0" marL="0">
              <a:buNone/>
            </a:pPr>
            <a:r>
              <a:rPr lang="en-US" sz="1250" b="1" dirty="0">
                <a:solidFill>
                  <a:srgbClr val="6B8394"/>
                </a:solidFill>
                <a:latin typeface="Calibri" pitchFamily="34" charset="0"/>
                <a:ea typeface="Calibri" pitchFamily="34" charset="-122"/>
                <a:cs typeface="Calibri" pitchFamily="34" charset="-120"/>
              </a:rPr>
              <a:t>Safe to repeat?</a:t>
            </a:r>
            <a:endParaRPr lang="en-US" sz="1250" dirty="0"/>
          </a:p>
        </p:txBody>
      </p:sp>
      <p:sp>
        <p:nvSpPr>
          <p:cNvPr id="15" name="Text 13"/>
          <p:cNvSpPr txBox="1"/>
          <p:nvPr/>
        </p:nvSpPr>
        <p:spPr>
          <a:xfrm>
            <a:off x="3063240" y="5138928"/>
            <a:ext cx="2651760" cy="502920"/>
          </a:xfrm>
          <a:prstGeom prst="rect">
            <a:avLst/>
          </a:prstGeom>
          <a:noFill/>
          <a:ln/>
        </p:spPr>
        <p:txBody>
          <a:bodyPr wrap="square" lIns="0" tIns="0" rIns="0" bIns="0" rtlCol="0" anchor="t"/>
          <a:lstStyle/>
          <a:p>
            <a:pPr indent="0" marL="0">
              <a:buNone/>
            </a:pPr>
            <a:r>
              <a:rPr lang="en-US" sz="1300" dirty="0">
                <a:solidFill>
                  <a:srgbClr val="0E2233"/>
                </a:solidFill>
                <a:latin typeface="Calibri" pitchFamily="34" charset="0"/>
                <a:ea typeface="Calibri" pitchFamily="34" charset="-122"/>
                <a:cs typeface="Calibri" pitchFamily="34" charset="-120"/>
              </a:rPr>
              <a:t>Yes — reload as often as you like</a:t>
            </a:r>
            <a:endParaRPr lang="en-US" sz="1300" dirty="0"/>
          </a:p>
        </p:txBody>
      </p:sp>
      <p:sp>
        <p:nvSpPr>
          <p:cNvPr id="16" name="Shape 14"/>
          <p:cNvSpPr/>
          <p:nvPr/>
        </p:nvSpPr>
        <p:spPr>
          <a:xfrm>
            <a:off x="6446520" y="1783080"/>
            <a:ext cx="5440680" cy="3977640"/>
          </a:xfrm>
          <a:prstGeom prst="roundRect">
            <a:avLst>
              <a:gd name="adj" fmla="val 2069"/>
            </a:avLst>
          </a:prstGeom>
          <a:solidFill>
            <a:srgbClr val="DDF0EF"/>
          </a:solidFill>
          <a:ln w="15875">
            <a:solidFill>
              <a:srgbClr val="0E9594"/>
            </a:solidFill>
            <a:prstDash val="solid"/>
          </a:ln>
        </p:spPr>
      </p:sp>
      <p:sp>
        <p:nvSpPr>
          <p:cNvPr id="17" name="Text 15"/>
          <p:cNvSpPr txBox="1"/>
          <p:nvPr/>
        </p:nvSpPr>
        <p:spPr>
          <a:xfrm>
            <a:off x="6858000" y="2057400"/>
            <a:ext cx="4617720" cy="548640"/>
          </a:xfrm>
          <a:prstGeom prst="rect">
            <a:avLst/>
          </a:prstGeom>
          <a:noFill/>
          <a:ln/>
        </p:spPr>
        <p:txBody>
          <a:bodyPr wrap="square" lIns="0" tIns="0" rIns="0" bIns="0" rtlCol="0" anchor="ctr"/>
          <a:lstStyle/>
          <a:p>
            <a:pPr indent="0" marL="0">
              <a:buNone/>
            </a:pPr>
            <a:r>
              <a:rPr lang="en-US" sz="3400" b="1" dirty="0">
                <a:solidFill>
                  <a:srgbClr val="0E9594"/>
                </a:solidFill>
                <a:latin typeface="Courier New" pitchFamily="34" charset="0"/>
                <a:ea typeface="Courier New" pitchFamily="34" charset="-122"/>
                <a:cs typeface="Courier New" pitchFamily="34" charset="-120"/>
              </a:rPr>
              <a:t>POST</a:t>
            </a:r>
            <a:endParaRPr lang="en-US" sz="3400" dirty="0"/>
          </a:p>
        </p:txBody>
      </p:sp>
      <p:sp>
        <p:nvSpPr>
          <p:cNvPr id="18" name="Text 16"/>
          <p:cNvSpPr txBox="1"/>
          <p:nvPr/>
        </p:nvSpPr>
        <p:spPr>
          <a:xfrm>
            <a:off x="6858000" y="2633472"/>
            <a:ext cx="4617720" cy="320040"/>
          </a:xfrm>
          <a:prstGeom prst="rect">
            <a:avLst/>
          </a:prstGeom>
          <a:noFill/>
          <a:ln/>
        </p:spPr>
        <p:txBody>
          <a:bodyPr wrap="square" lIns="0" tIns="0" rIns="0" bIns="0" rtlCol="0" anchor="ctr"/>
          <a:lstStyle/>
          <a:p>
            <a:pPr indent="0" marL="0">
              <a:buNone/>
            </a:pPr>
            <a:r>
              <a:rPr lang="en-US" sz="1550" b="1" dirty="0">
                <a:solidFill>
                  <a:srgbClr val="0E2233"/>
                </a:solidFill>
                <a:latin typeface="Calibri" pitchFamily="34" charset="0"/>
                <a:ea typeface="Calibri" pitchFamily="34" charset="-122"/>
                <a:cs typeface="Calibri" pitchFamily="34" charset="-120"/>
              </a:rPr>
              <a:t>Send data</a:t>
            </a:r>
            <a:endParaRPr lang="en-US" sz="1550" dirty="0"/>
          </a:p>
        </p:txBody>
      </p:sp>
      <p:sp>
        <p:nvSpPr>
          <p:cNvPr id="19" name="Shape 17"/>
          <p:cNvSpPr/>
          <p:nvPr/>
        </p:nvSpPr>
        <p:spPr>
          <a:xfrm>
            <a:off x="6858000" y="3090672"/>
            <a:ext cx="4617720" cy="0"/>
          </a:xfrm>
          <a:prstGeom prst="line">
            <a:avLst/>
          </a:prstGeom>
          <a:noFill/>
          <a:ln w="15875">
            <a:solidFill>
              <a:srgbClr val="0E9594"/>
            </a:solidFill>
            <a:prstDash val="solid"/>
          </a:ln>
        </p:spPr>
      </p:sp>
      <p:sp>
        <p:nvSpPr>
          <p:cNvPr id="20" name="Text 18"/>
          <p:cNvSpPr txBox="1"/>
          <p:nvPr/>
        </p:nvSpPr>
        <p:spPr>
          <a:xfrm>
            <a:off x="6858000" y="3273552"/>
            <a:ext cx="1965960" cy="502920"/>
          </a:xfrm>
          <a:prstGeom prst="rect">
            <a:avLst/>
          </a:prstGeom>
          <a:noFill/>
          <a:ln/>
        </p:spPr>
        <p:txBody>
          <a:bodyPr wrap="square" lIns="0" tIns="0" rIns="0" bIns="0" rtlCol="0" anchor="t"/>
          <a:lstStyle/>
          <a:p>
            <a:pPr indent="0" marL="0">
              <a:buNone/>
            </a:pPr>
            <a:r>
              <a:rPr lang="en-US" sz="1250" b="1" dirty="0">
                <a:solidFill>
                  <a:srgbClr val="6B8394"/>
                </a:solidFill>
                <a:latin typeface="Calibri" pitchFamily="34" charset="0"/>
                <a:ea typeface="Calibri" pitchFamily="34" charset="-122"/>
                <a:cs typeface="Calibri" pitchFamily="34" charset="-120"/>
              </a:rPr>
              <a:t>What it does</a:t>
            </a:r>
            <a:endParaRPr lang="en-US" sz="1250" dirty="0"/>
          </a:p>
        </p:txBody>
      </p:sp>
      <p:sp>
        <p:nvSpPr>
          <p:cNvPr id="21" name="Text 19"/>
          <p:cNvSpPr txBox="1"/>
          <p:nvPr/>
        </p:nvSpPr>
        <p:spPr>
          <a:xfrm>
            <a:off x="8823960" y="3273552"/>
            <a:ext cx="2651760" cy="502920"/>
          </a:xfrm>
          <a:prstGeom prst="rect">
            <a:avLst/>
          </a:prstGeom>
          <a:noFill/>
          <a:ln/>
        </p:spPr>
        <p:txBody>
          <a:bodyPr wrap="square" lIns="0" tIns="0" rIns="0" bIns="0" rtlCol="0" anchor="t"/>
          <a:lstStyle/>
          <a:p>
            <a:pPr indent="0" marL="0">
              <a:buNone/>
            </a:pPr>
            <a:r>
              <a:rPr lang="en-US" sz="1300" dirty="0">
                <a:solidFill>
                  <a:srgbClr val="0E2233"/>
                </a:solidFill>
                <a:latin typeface="Calibri" pitchFamily="34" charset="0"/>
                <a:ea typeface="Calibri" pitchFamily="34" charset="-122"/>
                <a:cs typeface="Calibri" pitchFamily="34" charset="-120"/>
              </a:rPr>
              <a:t>Sends new information to the server</a:t>
            </a:r>
            <a:endParaRPr lang="en-US" sz="1300" dirty="0"/>
          </a:p>
        </p:txBody>
      </p:sp>
      <p:sp>
        <p:nvSpPr>
          <p:cNvPr id="22" name="Text 20"/>
          <p:cNvSpPr txBox="1"/>
          <p:nvPr/>
        </p:nvSpPr>
        <p:spPr>
          <a:xfrm>
            <a:off x="6858000" y="3895344"/>
            <a:ext cx="1965960" cy="502920"/>
          </a:xfrm>
          <a:prstGeom prst="rect">
            <a:avLst/>
          </a:prstGeom>
          <a:noFill/>
          <a:ln/>
        </p:spPr>
        <p:txBody>
          <a:bodyPr wrap="square" lIns="0" tIns="0" rIns="0" bIns="0" rtlCol="0" anchor="t"/>
          <a:lstStyle/>
          <a:p>
            <a:pPr indent="0" marL="0">
              <a:buNone/>
            </a:pPr>
            <a:r>
              <a:rPr lang="en-US" sz="1250" b="1" dirty="0">
                <a:solidFill>
                  <a:srgbClr val="6B8394"/>
                </a:solidFill>
                <a:latin typeface="Calibri" pitchFamily="34" charset="0"/>
                <a:ea typeface="Calibri" pitchFamily="34" charset="-122"/>
                <a:cs typeface="Calibri" pitchFamily="34" charset="-120"/>
              </a:rPr>
              <a:t>Changes anything?</a:t>
            </a:r>
            <a:endParaRPr lang="en-US" sz="1250" dirty="0"/>
          </a:p>
        </p:txBody>
      </p:sp>
      <p:sp>
        <p:nvSpPr>
          <p:cNvPr id="23" name="Text 21"/>
          <p:cNvSpPr txBox="1"/>
          <p:nvPr/>
        </p:nvSpPr>
        <p:spPr>
          <a:xfrm>
            <a:off x="8823960" y="3895344"/>
            <a:ext cx="2651760" cy="502920"/>
          </a:xfrm>
          <a:prstGeom prst="rect">
            <a:avLst/>
          </a:prstGeom>
          <a:noFill/>
          <a:ln/>
        </p:spPr>
        <p:txBody>
          <a:bodyPr wrap="square" lIns="0" tIns="0" rIns="0" bIns="0" rtlCol="0" anchor="t"/>
          <a:lstStyle/>
          <a:p>
            <a:pPr indent="0" marL="0">
              <a:buNone/>
            </a:pPr>
            <a:r>
              <a:rPr lang="en-US" sz="1300" dirty="0">
                <a:solidFill>
                  <a:srgbClr val="0E2233"/>
                </a:solidFill>
                <a:latin typeface="Calibri" pitchFamily="34" charset="0"/>
                <a:ea typeface="Calibri" pitchFamily="34" charset="-122"/>
                <a:cs typeface="Calibri" pitchFamily="34" charset="-120"/>
              </a:rPr>
              <a:t>Yes — it creates or changes something</a:t>
            </a:r>
            <a:endParaRPr lang="en-US" sz="1300" dirty="0"/>
          </a:p>
        </p:txBody>
      </p:sp>
      <p:sp>
        <p:nvSpPr>
          <p:cNvPr id="24" name="Text 22"/>
          <p:cNvSpPr txBox="1"/>
          <p:nvPr/>
        </p:nvSpPr>
        <p:spPr>
          <a:xfrm>
            <a:off x="6858000" y="4517136"/>
            <a:ext cx="1965960" cy="502920"/>
          </a:xfrm>
          <a:prstGeom prst="rect">
            <a:avLst/>
          </a:prstGeom>
          <a:noFill/>
          <a:ln/>
        </p:spPr>
        <p:txBody>
          <a:bodyPr wrap="square" lIns="0" tIns="0" rIns="0" bIns="0" rtlCol="0" anchor="t"/>
          <a:lstStyle/>
          <a:p>
            <a:pPr indent="0" marL="0">
              <a:buNone/>
            </a:pPr>
            <a:r>
              <a:rPr lang="en-US" sz="1250" b="1" dirty="0">
                <a:solidFill>
                  <a:srgbClr val="6B8394"/>
                </a:solidFill>
                <a:latin typeface="Calibri" pitchFamily="34" charset="0"/>
                <a:ea typeface="Calibri" pitchFamily="34" charset="-122"/>
                <a:cs typeface="Calibri" pitchFamily="34" charset="-120"/>
              </a:rPr>
              <a:t>Where you see it</a:t>
            </a:r>
            <a:endParaRPr lang="en-US" sz="1250" dirty="0"/>
          </a:p>
        </p:txBody>
      </p:sp>
      <p:sp>
        <p:nvSpPr>
          <p:cNvPr id="25" name="Text 23"/>
          <p:cNvSpPr txBox="1"/>
          <p:nvPr/>
        </p:nvSpPr>
        <p:spPr>
          <a:xfrm>
            <a:off x="8823960" y="4517136"/>
            <a:ext cx="2651760" cy="502920"/>
          </a:xfrm>
          <a:prstGeom prst="rect">
            <a:avLst/>
          </a:prstGeom>
          <a:noFill/>
          <a:ln/>
        </p:spPr>
        <p:txBody>
          <a:bodyPr wrap="square" lIns="0" tIns="0" rIns="0" bIns="0" rtlCol="0" anchor="t"/>
          <a:lstStyle/>
          <a:p>
            <a:pPr indent="0" marL="0">
              <a:buNone/>
            </a:pPr>
            <a:r>
              <a:rPr lang="en-US" sz="1300" dirty="0">
                <a:solidFill>
                  <a:srgbClr val="0E2233"/>
                </a:solidFill>
                <a:latin typeface="Calibri" pitchFamily="34" charset="0"/>
                <a:ea typeface="Calibri" pitchFamily="34" charset="-122"/>
                <a:cs typeface="Calibri" pitchFamily="34" charset="-120"/>
              </a:rPr>
              <a:t>Signing up, placing an order, uploading</a:t>
            </a:r>
            <a:endParaRPr lang="en-US" sz="1300" dirty="0"/>
          </a:p>
        </p:txBody>
      </p:sp>
      <p:sp>
        <p:nvSpPr>
          <p:cNvPr id="26" name="Text 24"/>
          <p:cNvSpPr txBox="1"/>
          <p:nvPr/>
        </p:nvSpPr>
        <p:spPr>
          <a:xfrm>
            <a:off x="6858000" y="5138928"/>
            <a:ext cx="1965960" cy="502920"/>
          </a:xfrm>
          <a:prstGeom prst="rect">
            <a:avLst/>
          </a:prstGeom>
          <a:noFill/>
          <a:ln/>
        </p:spPr>
        <p:txBody>
          <a:bodyPr wrap="square" lIns="0" tIns="0" rIns="0" bIns="0" rtlCol="0" anchor="t"/>
          <a:lstStyle/>
          <a:p>
            <a:pPr indent="0" marL="0">
              <a:buNone/>
            </a:pPr>
            <a:r>
              <a:rPr lang="en-US" sz="1250" b="1" dirty="0">
                <a:solidFill>
                  <a:srgbClr val="6B8394"/>
                </a:solidFill>
                <a:latin typeface="Calibri" pitchFamily="34" charset="0"/>
                <a:ea typeface="Calibri" pitchFamily="34" charset="-122"/>
                <a:cs typeface="Calibri" pitchFamily="34" charset="-120"/>
              </a:rPr>
              <a:t>Safe to repeat?</a:t>
            </a:r>
            <a:endParaRPr lang="en-US" sz="1250" dirty="0"/>
          </a:p>
        </p:txBody>
      </p:sp>
      <p:sp>
        <p:nvSpPr>
          <p:cNvPr id="27" name="Text 25"/>
          <p:cNvSpPr txBox="1"/>
          <p:nvPr/>
        </p:nvSpPr>
        <p:spPr>
          <a:xfrm>
            <a:off x="8823960" y="5138928"/>
            <a:ext cx="2651760" cy="502920"/>
          </a:xfrm>
          <a:prstGeom prst="rect">
            <a:avLst/>
          </a:prstGeom>
          <a:noFill/>
          <a:ln/>
        </p:spPr>
        <p:txBody>
          <a:bodyPr wrap="square" lIns="0" tIns="0" rIns="0" bIns="0" rtlCol="0" anchor="t"/>
          <a:lstStyle/>
          <a:p>
            <a:pPr indent="0" marL="0">
              <a:buNone/>
            </a:pPr>
            <a:r>
              <a:rPr lang="en-US" sz="1300" dirty="0">
                <a:solidFill>
                  <a:srgbClr val="0E2233"/>
                </a:solidFill>
                <a:latin typeface="Calibri" pitchFamily="34" charset="0"/>
                <a:ea typeface="Calibri" pitchFamily="34" charset="-122"/>
                <a:cs typeface="Calibri" pitchFamily="34" charset="-120"/>
              </a:rPr>
              <a:t>No — twice may mean two orders</a:t>
            </a:r>
            <a:endParaRPr lang="en-US" sz="1300" dirty="0"/>
          </a:p>
        </p:txBody>
      </p:sp>
      <p:sp>
        <p:nvSpPr>
          <p:cNvPr id="28" name="Text 26"/>
          <p:cNvSpPr txBox="1"/>
          <p:nvPr/>
        </p:nvSpPr>
        <p:spPr>
          <a:xfrm>
            <a:off x="594360" y="5989320"/>
            <a:ext cx="11018520" cy="365760"/>
          </a:xfrm>
          <a:prstGeom prst="rect">
            <a:avLst/>
          </a:prstGeom>
          <a:noFill/>
          <a:ln/>
        </p:spPr>
        <p:txBody>
          <a:bodyPr wrap="square" lIns="0" tIns="0" rIns="0" bIns="0" rtlCol="0" anchor="ctr"/>
          <a:lstStyle/>
          <a:p>
            <a:pPr algn="ctr" indent="0" marL="0">
              <a:buNone/>
            </a:pPr>
            <a:r>
              <a:rPr lang="en-US" sz="1600" b="1" i="1" dirty="0">
                <a:solidFill>
                  <a:srgbClr val="0E2233"/>
                </a:solidFill>
                <a:latin typeface="Calibri" pitchFamily="34" charset="0"/>
                <a:ea typeface="Calibri" pitchFamily="34" charset="-122"/>
                <a:cs typeface="Calibri" pitchFamily="34" charset="-120"/>
              </a:rPr>
              <a:t>A useful test: if pressing the button twice would be a problem, it is a POST.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058400" cy="256032"/>
          </a:xfrm>
          <a:prstGeom prst="rect">
            <a:avLst/>
          </a:prstGeom>
          <a:noFill/>
          <a:ln/>
        </p:spPr>
        <p:txBody>
          <a:bodyPr wrap="square" lIns="0" tIns="0" rIns="0" bIns="0" rtlCol="0" anchor="ctr"/>
          <a:lstStyle/>
          <a:p>
            <a:pPr indent="0" marL="0">
              <a:buNone/>
            </a:pPr>
            <a:r>
              <a:rPr lang="en-US" sz="1100" b="1" spc="220" kern="0" dirty="0">
                <a:solidFill>
                  <a:srgbClr val="D97B29"/>
                </a:solidFill>
                <a:latin typeface="Calibri" pitchFamily="34" charset="0"/>
                <a:ea typeface="Calibri" pitchFamily="34" charset="-122"/>
                <a:cs typeface="Calibri" pitchFamily="34" charset="-120"/>
              </a:rPr>
              <a:t>READING THE ANSWER</a:t>
            </a:r>
            <a:endParaRPr lang="en-US" sz="1100" dirty="0"/>
          </a:p>
        </p:txBody>
      </p:sp>
      <p:sp>
        <p:nvSpPr>
          <p:cNvPr id="3" name="Text 1"/>
          <p:cNvSpPr txBox="1"/>
          <p:nvPr/>
        </p:nvSpPr>
        <p:spPr>
          <a:xfrm>
            <a:off x="594360" y="658368"/>
            <a:ext cx="10972800" cy="777240"/>
          </a:xfrm>
          <a:prstGeom prst="rect">
            <a:avLst/>
          </a:prstGeom>
          <a:noFill/>
          <a:ln/>
        </p:spPr>
        <p:txBody>
          <a:bodyPr wrap="square" lIns="0" tIns="0" rIns="0" bIns="0" rtlCol="0" anchor="t"/>
          <a:lstStyle/>
          <a:p>
            <a:pPr indent="0" marL="0">
              <a:buNone/>
            </a:pPr>
            <a:r>
              <a:rPr lang="en-US" sz="3400" b="1" dirty="0">
                <a:solidFill>
                  <a:srgbClr val="0E2233"/>
                </a:solidFill>
                <a:latin typeface="Cambria" pitchFamily="34" charset="0"/>
                <a:ea typeface="Cambria" pitchFamily="34" charset="-122"/>
                <a:cs typeface="Cambria" pitchFamily="34" charset="-120"/>
              </a:rPr>
              <a:t>Status codes tell you whose problem it is</a:t>
            </a:r>
            <a:endParaRPr lang="en-US" sz="3400" dirty="0"/>
          </a:p>
        </p:txBody>
      </p:sp>
      <p:sp>
        <p:nvSpPr>
          <p:cNvPr id="4" name="Shape 2"/>
          <p:cNvSpPr/>
          <p:nvPr/>
        </p:nvSpPr>
        <p:spPr>
          <a:xfrm>
            <a:off x="685800" y="1874520"/>
            <a:ext cx="3520440" cy="2971800"/>
          </a:xfrm>
          <a:prstGeom prst="roundRect">
            <a:avLst>
              <a:gd name="adj" fmla="val 2769"/>
            </a:avLst>
          </a:prstGeom>
          <a:solidFill>
            <a:srgbClr val="E1F3E8"/>
          </a:solidFill>
          <a:ln w="15875">
            <a:solidFill>
              <a:srgbClr val="1E8A4C"/>
            </a:solidFill>
            <a:prstDash val="solid"/>
          </a:ln>
        </p:spPr>
      </p:sp>
      <p:sp>
        <p:nvSpPr>
          <p:cNvPr id="5" name="Text 3"/>
          <p:cNvSpPr txBox="1"/>
          <p:nvPr/>
        </p:nvSpPr>
        <p:spPr>
          <a:xfrm>
            <a:off x="685800" y="2194560"/>
            <a:ext cx="3520440" cy="914400"/>
          </a:xfrm>
          <a:prstGeom prst="rect">
            <a:avLst/>
          </a:prstGeom>
          <a:noFill/>
          <a:ln/>
        </p:spPr>
        <p:txBody>
          <a:bodyPr wrap="square" lIns="0" tIns="0" rIns="0" bIns="0" rtlCol="0" anchor="ctr"/>
          <a:lstStyle/>
          <a:p>
            <a:pPr algn="ctr" indent="0" marL="0">
              <a:buNone/>
            </a:pPr>
            <a:r>
              <a:rPr lang="en-US" sz="6400" b="1" dirty="0">
                <a:solidFill>
                  <a:srgbClr val="1E8A4C"/>
                </a:solidFill>
                <a:latin typeface="Cambria" pitchFamily="34" charset="0"/>
                <a:ea typeface="Cambria" pitchFamily="34" charset="-122"/>
                <a:cs typeface="Cambria" pitchFamily="34" charset="-120"/>
              </a:rPr>
              <a:t>200</a:t>
            </a:r>
            <a:endParaRPr lang="en-US" sz="6400" dirty="0"/>
          </a:p>
        </p:txBody>
      </p:sp>
      <p:sp>
        <p:nvSpPr>
          <p:cNvPr id="6" name="Text 4"/>
          <p:cNvSpPr txBox="1"/>
          <p:nvPr/>
        </p:nvSpPr>
        <p:spPr>
          <a:xfrm>
            <a:off x="685800" y="3200400"/>
            <a:ext cx="3520440" cy="365760"/>
          </a:xfrm>
          <a:prstGeom prst="rect">
            <a:avLst/>
          </a:prstGeom>
          <a:noFill/>
          <a:ln/>
        </p:spPr>
        <p:txBody>
          <a:bodyPr wrap="square" lIns="0" tIns="0" rIns="0" bIns="0" rtlCol="0" anchor="ctr"/>
          <a:lstStyle/>
          <a:p>
            <a:pPr algn="ctr" indent="0" marL="0">
              <a:buNone/>
            </a:pPr>
            <a:r>
              <a:rPr lang="en-US" sz="2100" b="1" dirty="0">
                <a:solidFill>
                  <a:srgbClr val="0E2233"/>
                </a:solidFill>
                <a:latin typeface="Cambria" pitchFamily="34" charset="0"/>
                <a:ea typeface="Cambria" pitchFamily="34" charset="-122"/>
                <a:cs typeface="Cambria" pitchFamily="34" charset="-120"/>
              </a:rPr>
              <a:t>Success</a:t>
            </a:r>
            <a:endParaRPr lang="en-US" sz="2100" dirty="0"/>
          </a:p>
        </p:txBody>
      </p:sp>
      <p:sp>
        <p:nvSpPr>
          <p:cNvPr id="7" name="Text 5"/>
          <p:cNvSpPr txBox="1"/>
          <p:nvPr/>
        </p:nvSpPr>
        <p:spPr>
          <a:xfrm>
            <a:off x="1051560" y="3703320"/>
            <a:ext cx="2788920" cy="914400"/>
          </a:xfrm>
          <a:prstGeom prst="rect">
            <a:avLst/>
          </a:prstGeom>
          <a:noFill/>
          <a:ln/>
        </p:spPr>
        <p:txBody>
          <a:bodyPr wrap="square" lIns="0" tIns="0" rIns="0" bIns="0" rtlCol="0" anchor="ctr"/>
          <a:lstStyle/>
          <a:p>
            <a:pPr algn="ctr" indent="0" marL="0">
              <a:lnSpc>
                <a:spcPts val="2000"/>
              </a:lnSpc>
              <a:buNone/>
            </a:pPr>
            <a:r>
              <a:rPr lang="en-US" sz="1400" dirty="0">
                <a:solidFill>
                  <a:srgbClr val="17364D"/>
                </a:solidFill>
                <a:latin typeface="Calibri" pitchFamily="34" charset="0"/>
                <a:ea typeface="Calibri" pitchFamily="34" charset="-122"/>
                <a:cs typeface="Calibri" pitchFamily="34" charset="-120"/>
              </a:rPr>
              <a:t>Everything worked. Here is what you asked for.</a:t>
            </a:r>
            <a:endParaRPr lang="en-US" sz="1400" dirty="0"/>
          </a:p>
        </p:txBody>
      </p:sp>
      <p:sp>
        <p:nvSpPr>
          <p:cNvPr id="8" name="Shape 6"/>
          <p:cNvSpPr/>
          <p:nvPr/>
        </p:nvSpPr>
        <p:spPr>
          <a:xfrm>
            <a:off x="4462272" y="1874520"/>
            <a:ext cx="3520440" cy="2971800"/>
          </a:xfrm>
          <a:prstGeom prst="roundRect">
            <a:avLst>
              <a:gd name="adj" fmla="val 2769"/>
            </a:avLst>
          </a:prstGeom>
          <a:solidFill>
            <a:srgbClr val="FBEBDB"/>
          </a:solidFill>
          <a:ln w="15875">
            <a:solidFill>
              <a:srgbClr val="D97B29"/>
            </a:solidFill>
            <a:prstDash val="solid"/>
          </a:ln>
        </p:spPr>
      </p:sp>
      <p:sp>
        <p:nvSpPr>
          <p:cNvPr id="9" name="Text 7"/>
          <p:cNvSpPr txBox="1"/>
          <p:nvPr/>
        </p:nvSpPr>
        <p:spPr>
          <a:xfrm>
            <a:off x="4462272" y="2194560"/>
            <a:ext cx="3520440" cy="914400"/>
          </a:xfrm>
          <a:prstGeom prst="rect">
            <a:avLst/>
          </a:prstGeom>
          <a:noFill/>
          <a:ln/>
        </p:spPr>
        <p:txBody>
          <a:bodyPr wrap="square" lIns="0" tIns="0" rIns="0" bIns="0" rtlCol="0" anchor="ctr"/>
          <a:lstStyle/>
          <a:p>
            <a:pPr algn="ctr" indent="0" marL="0">
              <a:buNone/>
            </a:pPr>
            <a:r>
              <a:rPr lang="en-US" sz="6400" b="1" dirty="0">
                <a:solidFill>
                  <a:srgbClr val="D97B29"/>
                </a:solidFill>
                <a:latin typeface="Cambria" pitchFamily="34" charset="0"/>
                <a:ea typeface="Cambria" pitchFamily="34" charset="-122"/>
                <a:cs typeface="Cambria" pitchFamily="34" charset="-120"/>
              </a:rPr>
              <a:t>404</a:t>
            </a:r>
            <a:endParaRPr lang="en-US" sz="6400" dirty="0"/>
          </a:p>
        </p:txBody>
      </p:sp>
      <p:sp>
        <p:nvSpPr>
          <p:cNvPr id="10" name="Text 8"/>
          <p:cNvSpPr txBox="1"/>
          <p:nvPr/>
        </p:nvSpPr>
        <p:spPr>
          <a:xfrm>
            <a:off x="4462272" y="3200400"/>
            <a:ext cx="3520440" cy="365760"/>
          </a:xfrm>
          <a:prstGeom prst="rect">
            <a:avLst/>
          </a:prstGeom>
          <a:noFill/>
          <a:ln/>
        </p:spPr>
        <p:txBody>
          <a:bodyPr wrap="square" lIns="0" tIns="0" rIns="0" bIns="0" rtlCol="0" anchor="ctr"/>
          <a:lstStyle/>
          <a:p>
            <a:pPr algn="ctr" indent="0" marL="0">
              <a:buNone/>
            </a:pPr>
            <a:r>
              <a:rPr lang="en-US" sz="2100" b="1" dirty="0">
                <a:solidFill>
                  <a:srgbClr val="0E2233"/>
                </a:solidFill>
                <a:latin typeface="Cambria" pitchFamily="34" charset="0"/>
                <a:ea typeface="Cambria" pitchFamily="34" charset="-122"/>
                <a:cs typeface="Cambria" pitchFamily="34" charset="-120"/>
              </a:rPr>
              <a:t>Not Found</a:t>
            </a:r>
            <a:endParaRPr lang="en-US" sz="2100" dirty="0"/>
          </a:p>
        </p:txBody>
      </p:sp>
      <p:sp>
        <p:nvSpPr>
          <p:cNvPr id="11" name="Text 9"/>
          <p:cNvSpPr txBox="1"/>
          <p:nvPr/>
        </p:nvSpPr>
        <p:spPr>
          <a:xfrm>
            <a:off x="4828032" y="3703320"/>
            <a:ext cx="2788920" cy="914400"/>
          </a:xfrm>
          <a:prstGeom prst="rect">
            <a:avLst/>
          </a:prstGeom>
          <a:noFill/>
          <a:ln/>
        </p:spPr>
        <p:txBody>
          <a:bodyPr wrap="square" lIns="0" tIns="0" rIns="0" bIns="0" rtlCol="0" anchor="ctr"/>
          <a:lstStyle/>
          <a:p>
            <a:pPr algn="ctr" indent="0" marL="0">
              <a:lnSpc>
                <a:spcPts val="2000"/>
              </a:lnSpc>
              <a:buNone/>
            </a:pPr>
            <a:r>
              <a:rPr lang="en-US" sz="1400" dirty="0">
                <a:solidFill>
                  <a:srgbClr val="17364D"/>
                </a:solidFill>
                <a:latin typeface="Calibri" pitchFamily="34" charset="0"/>
                <a:ea typeface="Calibri" pitchFamily="34" charset="-122"/>
                <a:cs typeface="Calibri" pitchFamily="34" charset="-120"/>
              </a:rPr>
              <a:t>The address you asked for does not exist here.</a:t>
            </a:r>
            <a:endParaRPr lang="en-US" sz="1400" dirty="0"/>
          </a:p>
        </p:txBody>
      </p:sp>
      <p:sp>
        <p:nvSpPr>
          <p:cNvPr id="12" name="Shape 10"/>
          <p:cNvSpPr/>
          <p:nvPr/>
        </p:nvSpPr>
        <p:spPr>
          <a:xfrm>
            <a:off x="8238744" y="1874520"/>
            <a:ext cx="3520440" cy="2971800"/>
          </a:xfrm>
          <a:prstGeom prst="roundRect">
            <a:avLst>
              <a:gd name="adj" fmla="val 2769"/>
            </a:avLst>
          </a:prstGeom>
          <a:solidFill>
            <a:srgbClr val="FBE6E3"/>
          </a:solidFill>
          <a:ln w="15875">
            <a:solidFill>
              <a:srgbClr val="B03A2E"/>
            </a:solidFill>
            <a:prstDash val="solid"/>
          </a:ln>
        </p:spPr>
      </p:sp>
      <p:sp>
        <p:nvSpPr>
          <p:cNvPr id="13" name="Text 11"/>
          <p:cNvSpPr txBox="1"/>
          <p:nvPr/>
        </p:nvSpPr>
        <p:spPr>
          <a:xfrm>
            <a:off x="8238744" y="2194560"/>
            <a:ext cx="3520440" cy="914400"/>
          </a:xfrm>
          <a:prstGeom prst="rect">
            <a:avLst/>
          </a:prstGeom>
          <a:noFill/>
          <a:ln/>
        </p:spPr>
        <p:txBody>
          <a:bodyPr wrap="square" lIns="0" tIns="0" rIns="0" bIns="0" rtlCol="0" anchor="ctr"/>
          <a:lstStyle/>
          <a:p>
            <a:pPr algn="ctr" indent="0" marL="0">
              <a:buNone/>
            </a:pPr>
            <a:r>
              <a:rPr lang="en-US" sz="6400" b="1" dirty="0">
                <a:solidFill>
                  <a:srgbClr val="B03A2E"/>
                </a:solidFill>
                <a:latin typeface="Cambria" pitchFamily="34" charset="0"/>
                <a:ea typeface="Cambria" pitchFamily="34" charset="-122"/>
                <a:cs typeface="Cambria" pitchFamily="34" charset="-120"/>
              </a:rPr>
              <a:t>500</a:t>
            </a:r>
            <a:endParaRPr lang="en-US" sz="6400" dirty="0"/>
          </a:p>
        </p:txBody>
      </p:sp>
      <p:sp>
        <p:nvSpPr>
          <p:cNvPr id="14" name="Text 12"/>
          <p:cNvSpPr txBox="1"/>
          <p:nvPr/>
        </p:nvSpPr>
        <p:spPr>
          <a:xfrm>
            <a:off x="8238744" y="3200400"/>
            <a:ext cx="3520440" cy="365760"/>
          </a:xfrm>
          <a:prstGeom prst="rect">
            <a:avLst/>
          </a:prstGeom>
          <a:noFill/>
          <a:ln/>
        </p:spPr>
        <p:txBody>
          <a:bodyPr wrap="square" lIns="0" tIns="0" rIns="0" bIns="0" rtlCol="0" anchor="ctr"/>
          <a:lstStyle/>
          <a:p>
            <a:pPr algn="ctr" indent="0" marL="0">
              <a:buNone/>
            </a:pPr>
            <a:r>
              <a:rPr lang="en-US" sz="2100" b="1" dirty="0">
                <a:solidFill>
                  <a:srgbClr val="0E2233"/>
                </a:solidFill>
                <a:latin typeface="Cambria" pitchFamily="34" charset="0"/>
                <a:ea typeface="Cambria" pitchFamily="34" charset="-122"/>
                <a:cs typeface="Cambria" pitchFamily="34" charset="-120"/>
              </a:rPr>
              <a:t>Server Error</a:t>
            </a:r>
            <a:endParaRPr lang="en-US" sz="2100" dirty="0"/>
          </a:p>
        </p:txBody>
      </p:sp>
      <p:sp>
        <p:nvSpPr>
          <p:cNvPr id="15" name="Text 13"/>
          <p:cNvSpPr txBox="1"/>
          <p:nvPr/>
        </p:nvSpPr>
        <p:spPr>
          <a:xfrm>
            <a:off x="8604504" y="3703320"/>
            <a:ext cx="2788920" cy="914400"/>
          </a:xfrm>
          <a:prstGeom prst="rect">
            <a:avLst/>
          </a:prstGeom>
          <a:noFill/>
          <a:ln/>
        </p:spPr>
        <p:txBody>
          <a:bodyPr wrap="square" lIns="0" tIns="0" rIns="0" bIns="0" rtlCol="0" anchor="ctr"/>
          <a:lstStyle/>
          <a:p>
            <a:pPr algn="ctr" indent="0" marL="0">
              <a:lnSpc>
                <a:spcPts val="2000"/>
              </a:lnSpc>
              <a:buNone/>
            </a:pPr>
            <a:r>
              <a:rPr lang="en-US" sz="1400" dirty="0">
                <a:solidFill>
                  <a:srgbClr val="17364D"/>
                </a:solidFill>
                <a:latin typeface="Calibri" pitchFamily="34" charset="0"/>
                <a:ea typeface="Calibri" pitchFamily="34" charset="-122"/>
                <a:cs typeface="Calibri" pitchFamily="34" charset="-120"/>
              </a:rPr>
              <a:t>The server broke while trying to answer you.</a:t>
            </a:r>
            <a:endParaRPr lang="en-US" sz="1400" dirty="0"/>
          </a:p>
        </p:txBody>
      </p:sp>
      <p:sp>
        <p:nvSpPr>
          <p:cNvPr id="16" name="Shape 14"/>
          <p:cNvSpPr/>
          <p:nvPr/>
        </p:nvSpPr>
        <p:spPr>
          <a:xfrm>
            <a:off x="594360" y="5166360"/>
            <a:ext cx="11018520" cy="1051560"/>
          </a:xfrm>
          <a:prstGeom prst="roundRect">
            <a:avLst>
              <a:gd name="adj" fmla="val 7826"/>
            </a:avLst>
          </a:prstGeom>
          <a:solidFill>
            <a:srgbClr val="0E2233"/>
          </a:solidFill>
          <a:ln/>
        </p:spPr>
      </p:sp>
      <p:sp>
        <p:nvSpPr>
          <p:cNvPr id="17" name="Text 15"/>
          <p:cNvSpPr txBox="1"/>
          <p:nvPr/>
        </p:nvSpPr>
        <p:spPr>
          <a:xfrm>
            <a:off x="1051560" y="5285232"/>
            <a:ext cx="10058400" cy="320040"/>
          </a:xfrm>
          <a:prstGeom prst="rect">
            <a:avLst/>
          </a:prstGeom>
          <a:noFill/>
          <a:ln/>
        </p:spPr>
        <p:txBody>
          <a:bodyPr wrap="square" lIns="0" tIns="0" rIns="0" bIns="0" rtlCol="0" anchor="ctr"/>
          <a:lstStyle/>
          <a:p>
            <a:pPr indent="0" marL="0">
              <a:buNone/>
            </a:pPr>
            <a:r>
              <a:rPr lang="en-US" sz="1300" b="1" spc="140" kern="0" dirty="0">
                <a:solidFill>
                  <a:srgbClr val="D97B29"/>
                </a:solidFill>
                <a:latin typeface="Calibri" pitchFamily="34" charset="0"/>
                <a:ea typeface="Calibri" pitchFamily="34" charset="-122"/>
                <a:cs typeface="Calibri" pitchFamily="34" charset="-120"/>
              </a:rPr>
              <a:t>The first digit is the whole trick</a:t>
            </a:r>
            <a:endParaRPr lang="en-US" sz="1300" dirty="0"/>
          </a:p>
        </p:txBody>
      </p:sp>
      <p:sp>
        <p:nvSpPr>
          <p:cNvPr id="18" name="Text 16"/>
          <p:cNvSpPr txBox="1"/>
          <p:nvPr/>
        </p:nvSpPr>
        <p:spPr>
          <a:xfrm>
            <a:off x="1051560" y="5614416"/>
            <a:ext cx="1005840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2xx  it worked        ·        4xx  you asked wrongly        ·        5xx  the server broke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058400" cy="256032"/>
          </a:xfrm>
          <a:prstGeom prst="rect">
            <a:avLst/>
          </a:prstGeom>
          <a:noFill/>
          <a:ln/>
        </p:spPr>
        <p:txBody>
          <a:bodyPr wrap="square" lIns="0" tIns="0" rIns="0" bIns="0" rtlCol="0" anchor="ctr"/>
          <a:lstStyle/>
          <a:p>
            <a:pPr indent="0" marL="0">
              <a:buNone/>
            </a:pPr>
            <a:r>
              <a:rPr lang="en-US" sz="1100" b="1" spc="220" kern="0" dirty="0">
                <a:solidFill>
                  <a:srgbClr val="D97B29"/>
                </a:solidFill>
                <a:latin typeface="Calibri" pitchFamily="34" charset="0"/>
                <a:ea typeface="Calibri" pitchFamily="34" charset="-122"/>
                <a:cs typeface="Calibri" pitchFamily="34" charset="-120"/>
              </a:rPr>
              <a:t>WHO DOES WHAT</a:t>
            </a:r>
            <a:endParaRPr lang="en-US" sz="1100" dirty="0"/>
          </a:p>
        </p:txBody>
      </p:sp>
      <p:sp>
        <p:nvSpPr>
          <p:cNvPr id="3" name="Text 1"/>
          <p:cNvSpPr txBox="1"/>
          <p:nvPr/>
        </p:nvSpPr>
        <p:spPr>
          <a:xfrm>
            <a:off x="594360" y="658368"/>
            <a:ext cx="10972800" cy="777240"/>
          </a:xfrm>
          <a:prstGeom prst="rect">
            <a:avLst/>
          </a:prstGeom>
          <a:noFill/>
          <a:ln/>
        </p:spPr>
        <p:txBody>
          <a:bodyPr wrap="square" lIns="0" tIns="0" rIns="0" bIns="0" rtlCol="0" anchor="t"/>
          <a:lstStyle/>
          <a:p>
            <a:pPr indent="0" marL="0">
              <a:buNone/>
            </a:pPr>
            <a:r>
              <a:rPr lang="en-US" sz="3400" b="1" dirty="0">
                <a:solidFill>
                  <a:srgbClr val="0E2233"/>
                </a:solidFill>
                <a:latin typeface="Cambria" pitchFamily="34" charset="0"/>
                <a:ea typeface="Cambria" pitchFamily="34" charset="-122"/>
                <a:cs typeface="Cambria" pitchFamily="34" charset="-120"/>
              </a:rPr>
              <a:t>Frontend and Backend responsibilities</a:t>
            </a:r>
            <a:endParaRPr lang="en-US" sz="3400" dirty="0"/>
          </a:p>
        </p:txBody>
      </p:sp>
      <p:sp>
        <p:nvSpPr>
          <p:cNvPr id="4" name="Shape 2"/>
          <p:cNvSpPr/>
          <p:nvPr/>
        </p:nvSpPr>
        <p:spPr>
          <a:xfrm>
            <a:off x="685800" y="1737360"/>
            <a:ext cx="5440680" cy="3703320"/>
          </a:xfrm>
          <a:prstGeom prst="roundRect">
            <a:avLst>
              <a:gd name="adj" fmla="val 2222"/>
            </a:avLst>
          </a:prstGeom>
          <a:solidFill>
            <a:srgbClr val="E2EDF9"/>
          </a:solidFill>
          <a:ln w="15875">
            <a:solidFill>
              <a:srgbClr val="2E7DD1"/>
            </a:solidFill>
            <a:prstDash val="solid"/>
          </a:ln>
        </p:spPr>
      </p:sp>
      <p:sp>
        <p:nvSpPr>
          <p:cNvPr id="5" name="Text 3"/>
          <p:cNvSpPr txBox="1"/>
          <p:nvPr/>
        </p:nvSpPr>
        <p:spPr>
          <a:xfrm>
            <a:off x="1097280" y="2011680"/>
            <a:ext cx="4617720" cy="320040"/>
          </a:xfrm>
          <a:prstGeom prst="rect">
            <a:avLst/>
          </a:prstGeom>
          <a:noFill/>
          <a:ln/>
        </p:spPr>
        <p:txBody>
          <a:bodyPr wrap="square" lIns="0" tIns="0" rIns="0" bIns="0" rtlCol="0" anchor="ctr"/>
          <a:lstStyle/>
          <a:p>
            <a:pPr indent="0" marL="0">
              <a:buNone/>
            </a:pPr>
            <a:r>
              <a:rPr lang="en-US" sz="1150" b="1" spc="220" kern="0" dirty="0">
                <a:solidFill>
                  <a:srgbClr val="2E7DD1"/>
                </a:solidFill>
                <a:latin typeface="Calibri" pitchFamily="34" charset="0"/>
                <a:ea typeface="Calibri" pitchFamily="34" charset="-122"/>
                <a:cs typeface="Calibri" pitchFamily="34" charset="-120"/>
              </a:rPr>
              <a:t>FRONTEND</a:t>
            </a:r>
            <a:endParaRPr lang="en-US" sz="1150" dirty="0"/>
          </a:p>
        </p:txBody>
      </p:sp>
      <p:sp>
        <p:nvSpPr>
          <p:cNvPr id="6" name="Text 4"/>
          <p:cNvSpPr txBox="1"/>
          <p:nvPr/>
        </p:nvSpPr>
        <p:spPr>
          <a:xfrm>
            <a:off x="1097280" y="2331720"/>
            <a:ext cx="4617720" cy="411480"/>
          </a:xfrm>
          <a:prstGeom prst="rect">
            <a:avLst/>
          </a:prstGeom>
          <a:noFill/>
          <a:ln/>
        </p:spPr>
        <p:txBody>
          <a:bodyPr wrap="square" lIns="0" tIns="0" rIns="0" bIns="0" rtlCol="0" anchor="ctr"/>
          <a:lstStyle/>
          <a:p>
            <a:pPr indent="0" marL="0">
              <a:buNone/>
            </a:pPr>
            <a:r>
              <a:rPr lang="en-US" sz="2300" b="1" dirty="0">
                <a:solidFill>
                  <a:srgbClr val="0E2233"/>
                </a:solidFill>
                <a:latin typeface="Cambria" pitchFamily="34" charset="0"/>
                <a:ea typeface="Cambria" pitchFamily="34" charset="-122"/>
                <a:cs typeface="Cambria" pitchFamily="34" charset="-120"/>
              </a:rPr>
              <a:t>What the user sees</a:t>
            </a:r>
            <a:endParaRPr lang="en-US" sz="2300" dirty="0"/>
          </a:p>
        </p:txBody>
      </p:sp>
      <p:sp>
        <p:nvSpPr>
          <p:cNvPr id="7" name="Shape 5"/>
          <p:cNvSpPr/>
          <p:nvPr/>
        </p:nvSpPr>
        <p:spPr>
          <a:xfrm>
            <a:off x="1124712" y="3072384"/>
            <a:ext cx="137160" cy="137160"/>
          </a:xfrm>
          <a:prstGeom prst="ellipse">
            <a:avLst/>
          </a:prstGeom>
          <a:solidFill>
            <a:srgbClr val="2E7DD1"/>
          </a:solidFill>
          <a:ln/>
        </p:spPr>
      </p:sp>
      <p:sp>
        <p:nvSpPr>
          <p:cNvPr id="8" name="Text 6"/>
          <p:cNvSpPr txBox="1"/>
          <p:nvPr/>
        </p:nvSpPr>
        <p:spPr>
          <a:xfrm>
            <a:off x="1444752" y="2971800"/>
            <a:ext cx="4251960" cy="502920"/>
          </a:xfrm>
          <a:prstGeom prst="rect">
            <a:avLst/>
          </a:prstGeom>
          <a:noFill/>
          <a:ln/>
        </p:spPr>
        <p:txBody>
          <a:bodyPr wrap="square" lIns="0" tIns="0" rIns="0" bIns="0" rtlCol="0" anchor="ctr"/>
          <a:lstStyle/>
          <a:p>
            <a:pPr indent="0" marL="0">
              <a:buNone/>
            </a:pPr>
            <a:r>
              <a:rPr lang="en-US" sz="1400" dirty="0">
                <a:solidFill>
                  <a:srgbClr val="17364D"/>
                </a:solidFill>
                <a:latin typeface="Calibri" pitchFamily="34" charset="0"/>
                <a:ea typeface="Calibri" pitchFamily="34" charset="-122"/>
                <a:cs typeface="Calibri" pitchFamily="34" charset="-120"/>
              </a:rPr>
              <a:t>Layout, colours and everything on screen</a:t>
            </a:r>
            <a:endParaRPr lang="en-US" sz="1400" dirty="0"/>
          </a:p>
        </p:txBody>
      </p:sp>
      <p:sp>
        <p:nvSpPr>
          <p:cNvPr id="9" name="Shape 7"/>
          <p:cNvSpPr/>
          <p:nvPr/>
        </p:nvSpPr>
        <p:spPr>
          <a:xfrm>
            <a:off x="1124712" y="3648456"/>
            <a:ext cx="137160" cy="137160"/>
          </a:xfrm>
          <a:prstGeom prst="ellipse">
            <a:avLst/>
          </a:prstGeom>
          <a:solidFill>
            <a:srgbClr val="2E7DD1"/>
          </a:solidFill>
          <a:ln/>
        </p:spPr>
      </p:sp>
      <p:sp>
        <p:nvSpPr>
          <p:cNvPr id="10" name="Text 8"/>
          <p:cNvSpPr txBox="1"/>
          <p:nvPr/>
        </p:nvSpPr>
        <p:spPr>
          <a:xfrm>
            <a:off x="1444752" y="3547872"/>
            <a:ext cx="4251960" cy="502920"/>
          </a:xfrm>
          <a:prstGeom prst="rect">
            <a:avLst/>
          </a:prstGeom>
          <a:noFill/>
          <a:ln/>
        </p:spPr>
        <p:txBody>
          <a:bodyPr wrap="square" lIns="0" tIns="0" rIns="0" bIns="0" rtlCol="0" anchor="ctr"/>
          <a:lstStyle/>
          <a:p>
            <a:pPr indent="0" marL="0">
              <a:buNone/>
            </a:pPr>
            <a:r>
              <a:rPr lang="en-US" sz="1400" dirty="0">
                <a:solidFill>
                  <a:srgbClr val="17364D"/>
                </a:solidFill>
                <a:latin typeface="Calibri" pitchFamily="34" charset="0"/>
                <a:ea typeface="Calibri" pitchFamily="34" charset="-122"/>
                <a:cs typeface="Calibri" pitchFamily="34" charset="-120"/>
              </a:rPr>
              <a:t>Reacting to clicks, typing and scrolling</a:t>
            </a:r>
            <a:endParaRPr lang="en-US" sz="1400" dirty="0"/>
          </a:p>
        </p:txBody>
      </p:sp>
      <p:sp>
        <p:nvSpPr>
          <p:cNvPr id="11" name="Shape 9"/>
          <p:cNvSpPr/>
          <p:nvPr/>
        </p:nvSpPr>
        <p:spPr>
          <a:xfrm>
            <a:off x="1124712" y="4224528"/>
            <a:ext cx="137160" cy="137160"/>
          </a:xfrm>
          <a:prstGeom prst="ellipse">
            <a:avLst/>
          </a:prstGeom>
          <a:solidFill>
            <a:srgbClr val="2E7DD1"/>
          </a:solidFill>
          <a:ln/>
        </p:spPr>
      </p:sp>
      <p:sp>
        <p:nvSpPr>
          <p:cNvPr id="12" name="Text 10"/>
          <p:cNvSpPr txBox="1"/>
          <p:nvPr/>
        </p:nvSpPr>
        <p:spPr>
          <a:xfrm>
            <a:off x="1444752" y="4123944"/>
            <a:ext cx="4251960" cy="502920"/>
          </a:xfrm>
          <a:prstGeom prst="rect">
            <a:avLst/>
          </a:prstGeom>
          <a:noFill/>
          <a:ln/>
        </p:spPr>
        <p:txBody>
          <a:bodyPr wrap="square" lIns="0" tIns="0" rIns="0" bIns="0" rtlCol="0" anchor="ctr"/>
          <a:lstStyle/>
          <a:p>
            <a:pPr indent="0" marL="0">
              <a:buNone/>
            </a:pPr>
            <a:r>
              <a:rPr lang="en-US" sz="1400" dirty="0">
                <a:solidFill>
                  <a:srgbClr val="17364D"/>
                </a:solidFill>
                <a:latin typeface="Calibri" pitchFamily="34" charset="0"/>
                <a:ea typeface="Calibri" pitchFamily="34" charset="-122"/>
                <a:cs typeface="Calibri" pitchFamily="34" charset="-120"/>
              </a:rPr>
              <a:t>Sending requests and showing what comes back</a:t>
            </a:r>
            <a:endParaRPr lang="en-US" sz="1400" dirty="0"/>
          </a:p>
        </p:txBody>
      </p:sp>
      <p:sp>
        <p:nvSpPr>
          <p:cNvPr id="13" name="Shape 11"/>
          <p:cNvSpPr/>
          <p:nvPr/>
        </p:nvSpPr>
        <p:spPr>
          <a:xfrm>
            <a:off x="1124712" y="4800600"/>
            <a:ext cx="137160" cy="137160"/>
          </a:xfrm>
          <a:prstGeom prst="ellipse">
            <a:avLst/>
          </a:prstGeom>
          <a:solidFill>
            <a:srgbClr val="2E7DD1"/>
          </a:solidFill>
          <a:ln/>
        </p:spPr>
      </p:sp>
      <p:sp>
        <p:nvSpPr>
          <p:cNvPr id="14" name="Text 12"/>
          <p:cNvSpPr txBox="1"/>
          <p:nvPr/>
        </p:nvSpPr>
        <p:spPr>
          <a:xfrm>
            <a:off x="1444752" y="4700016"/>
            <a:ext cx="4251960" cy="502920"/>
          </a:xfrm>
          <a:prstGeom prst="rect">
            <a:avLst/>
          </a:prstGeom>
          <a:noFill/>
          <a:ln/>
        </p:spPr>
        <p:txBody>
          <a:bodyPr wrap="square" lIns="0" tIns="0" rIns="0" bIns="0" rtlCol="0" anchor="ctr"/>
          <a:lstStyle/>
          <a:p>
            <a:pPr indent="0" marL="0">
              <a:buNone/>
            </a:pPr>
            <a:r>
              <a:rPr lang="en-US" sz="1400" dirty="0">
                <a:solidFill>
                  <a:srgbClr val="17364D"/>
                </a:solidFill>
                <a:latin typeface="Calibri" pitchFamily="34" charset="0"/>
                <a:ea typeface="Calibri" pitchFamily="34" charset="-122"/>
                <a:cs typeface="Calibri" pitchFamily="34" charset="-120"/>
              </a:rPr>
              <a:t>Making the wait feel short — loading states</a:t>
            </a:r>
            <a:endParaRPr lang="en-US" sz="1400" dirty="0"/>
          </a:p>
        </p:txBody>
      </p:sp>
      <p:sp>
        <p:nvSpPr>
          <p:cNvPr id="15" name="Shape 13"/>
          <p:cNvSpPr/>
          <p:nvPr/>
        </p:nvSpPr>
        <p:spPr>
          <a:xfrm>
            <a:off x="6446520" y="1737360"/>
            <a:ext cx="5440680" cy="3703320"/>
          </a:xfrm>
          <a:prstGeom prst="roundRect">
            <a:avLst>
              <a:gd name="adj" fmla="val 2222"/>
            </a:avLst>
          </a:prstGeom>
          <a:solidFill>
            <a:srgbClr val="DDF0EF"/>
          </a:solidFill>
          <a:ln w="15875">
            <a:solidFill>
              <a:srgbClr val="0E9594"/>
            </a:solidFill>
            <a:prstDash val="solid"/>
          </a:ln>
        </p:spPr>
      </p:sp>
      <p:sp>
        <p:nvSpPr>
          <p:cNvPr id="16" name="Text 14"/>
          <p:cNvSpPr txBox="1"/>
          <p:nvPr/>
        </p:nvSpPr>
        <p:spPr>
          <a:xfrm>
            <a:off x="6858000" y="2011680"/>
            <a:ext cx="4617720" cy="320040"/>
          </a:xfrm>
          <a:prstGeom prst="rect">
            <a:avLst/>
          </a:prstGeom>
          <a:noFill/>
          <a:ln/>
        </p:spPr>
        <p:txBody>
          <a:bodyPr wrap="square" lIns="0" tIns="0" rIns="0" bIns="0" rtlCol="0" anchor="ctr"/>
          <a:lstStyle/>
          <a:p>
            <a:pPr indent="0" marL="0">
              <a:buNone/>
            </a:pPr>
            <a:r>
              <a:rPr lang="en-US" sz="1150" b="1" spc="220" kern="0" dirty="0">
                <a:solidFill>
                  <a:srgbClr val="0E9594"/>
                </a:solidFill>
                <a:latin typeface="Calibri" pitchFamily="34" charset="0"/>
                <a:ea typeface="Calibri" pitchFamily="34" charset="-122"/>
                <a:cs typeface="Calibri" pitchFamily="34" charset="-120"/>
              </a:rPr>
              <a:t>BACKEND</a:t>
            </a:r>
            <a:endParaRPr lang="en-US" sz="1150" dirty="0"/>
          </a:p>
        </p:txBody>
      </p:sp>
      <p:sp>
        <p:nvSpPr>
          <p:cNvPr id="17" name="Text 15"/>
          <p:cNvSpPr txBox="1"/>
          <p:nvPr/>
        </p:nvSpPr>
        <p:spPr>
          <a:xfrm>
            <a:off x="6858000" y="2331720"/>
            <a:ext cx="4617720" cy="411480"/>
          </a:xfrm>
          <a:prstGeom prst="rect">
            <a:avLst/>
          </a:prstGeom>
          <a:noFill/>
          <a:ln/>
        </p:spPr>
        <p:txBody>
          <a:bodyPr wrap="square" lIns="0" tIns="0" rIns="0" bIns="0" rtlCol="0" anchor="ctr"/>
          <a:lstStyle/>
          <a:p>
            <a:pPr indent="0" marL="0">
              <a:buNone/>
            </a:pPr>
            <a:r>
              <a:rPr lang="en-US" sz="2300" b="1" dirty="0">
                <a:solidFill>
                  <a:srgbClr val="0E2233"/>
                </a:solidFill>
                <a:latin typeface="Cambria" pitchFamily="34" charset="0"/>
                <a:ea typeface="Cambria" pitchFamily="34" charset="-122"/>
                <a:cs typeface="Cambria" pitchFamily="34" charset="-120"/>
              </a:rPr>
              <a:t>What the user trusts</a:t>
            </a:r>
            <a:endParaRPr lang="en-US" sz="2300" dirty="0"/>
          </a:p>
        </p:txBody>
      </p:sp>
      <p:sp>
        <p:nvSpPr>
          <p:cNvPr id="18" name="Shape 16"/>
          <p:cNvSpPr/>
          <p:nvPr/>
        </p:nvSpPr>
        <p:spPr>
          <a:xfrm>
            <a:off x="6885432" y="3072384"/>
            <a:ext cx="137160" cy="137160"/>
          </a:xfrm>
          <a:prstGeom prst="ellipse">
            <a:avLst/>
          </a:prstGeom>
          <a:solidFill>
            <a:srgbClr val="0E9594"/>
          </a:solidFill>
          <a:ln/>
        </p:spPr>
      </p:sp>
      <p:sp>
        <p:nvSpPr>
          <p:cNvPr id="19" name="Text 17"/>
          <p:cNvSpPr txBox="1"/>
          <p:nvPr/>
        </p:nvSpPr>
        <p:spPr>
          <a:xfrm>
            <a:off x="7205472" y="2971800"/>
            <a:ext cx="4251960" cy="502920"/>
          </a:xfrm>
          <a:prstGeom prst="rect">
            <a:avLst/>
          </a:prstGeom>
          <a:noFill/>
          <a:ln/>
        </p:spPr>
        <p:txBody>
          <a:bodyPr wrap="square" lIns="0" tIns="0" rIns="0" bIns="0" rtlCol="0" anchor="ctr"/>
          <a:lstStyle/>
          <a:p>
            <a:pPr indent="0" marL="0">
              <a:buNone/>
            </a:pPr>
            <a:r>
              <a:rPr lang="en-US" sz="1400" dirty="0">
                <a:solidFill>
                  <a:srgbClr val="17364D"/>
                </a:solidFill>
                <a:latin typeface="Calibri" pitchFamily="34" charset="0"/>
                <a:ea typeface="Calibri" pitchFamily="34" charset="-122"/>
                <a:cs typeface="Calibri" pitchFamily="34" charset="-120"/>
              </a:rPr>
              <a:t>The business rules — what is and isn't allowed</a:t>
            </a:r>
            <a:endParaRPr lang="en-US" sz="1400" dirty="0"/>
          </a:p>
        </p:txBody>
      </p:sp>
      <p:sp>
        <p:nvSpPr>
          <p:cNvPr id="20" name="Shape 18"/>
          <p:cNvSpPr/>
          <p:nvPr/>
        </p:nvSpPr>
        <p:spPr>
          <a:xfrm>
            <a:off x="6885432" y="3648456"/>
            <a:ext cx="137160" cy="137160"/>
          </a:xfrm>
          <a:prstGeom prst="ellipse">
            <a:avLst/>
          </a:prstGeom>
          <a:solidFill>
            <a:srgbClr val="0E9594"/>
          </a:solidFill>
          <a:ln/>
        </p:spPr>
      </p:sp>
      <p:sp>
        <p:nvSpPr>
          <p:cNvPr id="21" name="Text 19"/>
          <p:cNvSpPr txBox="1"/>
          <p:nvPr/>
        </p:nvSpPr>
        <p:spPr>
          <a:xfrm>
            <a:off x="7205472" y="3547872"/>
            <a:ext cx="4251960" cy="502920"/>
          </a:xfrm>
          <a:prstGeom prst="rect">
            <a:avLst/>
          </a:prstGeom>
          <a:noFill/>
          <a:ln/>
        </p:spPr>
        <p:txBody>
          <a:bodyPr wrap="square" lIns="0" tIns="0" rIns="0" bIns="0" rtlCol="0" anchor="ctr"/>
          <a:lstStyle/>
          <a:p>
            <a:pPr indent="0" marL="0">
              <a:buNone/>
            </a:pPr>
            <a:r>
              <a:rPr lang="en-US" sz="1400" dirty="0">
                <a:solidFill>
                  <a:srgbClr val="17364D"/>
                </a:solidFill>
                <a:latin typeface="Calibri" pitchFamily="34" charset="0"/>
                <a:ea typeface="Calibri" pitchFamily="34" charset="-122"/>
                <a:cs typeface="Calibri" pitchFamily="34" charset="-120"/>
              </a:rPr>
              <a:t>Talking to the database, safely</a:t>
            </a:r>
            <a:endParaRPr lang="en-US" sz="1400" dirty="0"/>
          </a:p>
        </p:txBody>
      </p:sp>
      <p:sp>
        <p:nvSpPr>
          <p:cNvPr id="22" name="Shape 20"/>
          <p:cNvSpPr/>
          <p:nvPr/>
        </p:nvSpPr>
        <p:spPr>
          <a:xfrm>
            <a:off x="6885432" y="4224528"/>
            <a:ext cx="137160" cy="137160"/>
          </a:xfrm>
          <a:prstGeom prst="ellipse">
            <a:avLst/>
          </a:prstGeom>
          <a:solidFill>
            <a:srgbClr val="0E9594"/>
          </a:solidFill>
          <a:ln/>
        </p:spPr>
      </p:sp>
      <p:sp>
        <p:nvSpPr>
          <p:cNvPr id="23" name="Text 21"/>
          <p:cNvSpPr txBox="1"/>
          <p:nvPr/>
        </p:nvSpPr>
        <p:spPr>
          <a:xfrm>
            <a:off x="7205472" y="4123944"/>
            <a:ext cx="4251960" cy="502920"/>
          </a:xfrm>
          <a:prstGeom prst="rect">
            <a:avLst/>
          </a:prstGeom>
          <a:noFill/>
          <a:ln/>
        </p:spPr>
        <p:txBody>
          <a:bodyPr wrap="square" lIns="0" tIns="0" rIns="0" bIns="0" rtlCol="0" anchor="ctr"/>
          <a:lstStyle/>
          <a:p>
            <a:pPr indent="0" marL="0">
              <a:buNone/>
            </a:pPr>
            <a:r>
              <a:rPr lang="en-US" sz="1400" dirty="0">
                <a:solidFill>
                  <a:srgbClr val="17364D"/>
                </a:solidFill>
                <a:latin typeface="Calibri" pitchFamily="34" charset="0"/>
                <a:ea typeface="Calibri" pitchFamily="34" charset="-122"/>
                <a:cs typeface="Calibri" pitchFamily="34" charset="-120"/>
              </a:rPr>
              <a:t>Checking who is asking, and what they may see</a:t>
            </a:r>
            <a:endParaRPr lang="en-US" sz="1400" dirty="0"/>
          </a:p>
        </p:txBody>
      </p:sp>
      <p:sp>
        <p:nvSpPr>
          <p:cNvPr id="24" name="Shape 22"/>
          <p:cNvSpPr/>
          <p:nvPr/>
        </p:nvSpPr>
        <p:spPr>
          <a:xfrm>
            <a:off x="6885432" y="4800600"/>
            <a:ext cx="137160" cy="137160"/>
          </a:xfrm>
          <a:prstGeom prst="ellipse">
            <a:avLst/>
          </a:prstGeom>
          <a:solidFill>
            <a:srgbClr val="0E9594"/>
          </a:solidFill>
          <a:ln/>
        </p:spPr>
      </p:sp>
      <p:sp>
        <p:nvSpPr>
          <p:cNvPr id="25" name="Text 23"/>
          <p:cNvSpPr txBox="1"/>
          <p:nvPr/>
        </p:nvSpPr>
        <p:spPr>
          <a:xfrm>
            <a:off x="7205472" y="4700016"/>
            <a:ext cx="4251960" cy="502920"/>
          </a:xfrm>
          <a:prstGeom prst="rect">
            <a:avLst/>
          </a:prstGeom>
          <a:noFill/>
          <a:ln/>
        </p:spPr>
        <p:txBody>
          <a:bodyPr wrap="square" lIns="0" tIns="0" rIns="0" bIns="0" rtlCol="0" anchor="ctr"/>
          <a:lstStyle/>
          <a:p>
            <a:pPr indent="0" marL="0">
              <a:buNone/>
            </a:pPr>
            <a:r>
              <a:rPr lang="en-US" sz="1400" dirty="0">
                <a:solidFill>
                  <a:srgbClr val="17364D"/>
                </a:solidFill>
                <a:latin typeface="Calibri" pitchFamily="34" charset="0"/>
                <a:ea typeface="Calibri" pitchFamily="34" charset="-122"/>
                <a:cs typeface="Calibri" pitchFamily="34" charset="-120"/>
              </a:rPr>
              <a:t>Keeping every secret the app depends on</a:t>
            </a:r>
            <a:endParaRPr lang="en-US" sz="1400" dirty="0"/>
          </a:p>
        </p:txBody>
      </p:sp>
      <p:sp>
        <p:nvSpPr>
          <p:cNvPr id="26" name="Shape 24"/>
          <p:cNvSpPr/>
          <p:nvPr/>
        </p:nvSpPr>
        <p:spPr>
          <a:xfrm>
            <a:off x="594360" y="5669280"/>
            <a:ext cx="11018520" cy="777240"/>
          </a:xfrm>
          <a:prstGeom prst="roundRect">
            <a:avLst>
              <a:gd name="adj" fmla="val 10588"/>
            </a:avLst>
          </a:prstGeom>
          <a:solidFill>
            <a:srgbClr val="FBEBDB"/>
          </a:solidFill>
          <a:ln/>
        </p:spPr>
      </p:sp>
      <p:sp>
        <p:nvSpPr>
          <p:cNvPr id="27" name="Text 25"/>
          <p:cNvSpPr txBox="1"/>
          <p:nvPr/>
        </p:nvSpPr>
        <p:spPr>
          <a:xfrm>
            <a:off x="960120" y="5669280"/>
            <a:ext cx="10287000" cy="777240"/>
          </a:xfrm>
          <a:prstGeom prst="rect">
            <a:avLst/>
          </a:prstGeom>
          <a:noFill/>
          <a:ln/>
        </p:spPr>
        <p:txBody>
          <a:bodyPr wrap="square" lIns="0" tIns="0" rIns="0" bIns="0" rtlCol="0" anchor="ctr"/>
          <a:lstStyle/>
          <a:p>
            <a:pPr indent="0" marL="0">
              <a:buNone/>
            </a:pPr>
            <a:r>
              <a:rPr lang="en-US" sz="1550" b="1" dirty="0">
                <a:solidFill>
                  <a:srgbClr val="8A4E15"/>
                </a:solidFill>
                <a:latin typeface="Calibri" pitchFamily="34" charset="0"/>
                <a:ea typeface="Calibri" pitchFamily="34" charset="-122"/>
                <a:cs typeface="Calibri" pitchFamily="34" charset="-120"/>
              </a:rPr>
              <a:t>Why the split? Because the frontend runs on the user's device — and anything on their device, they can change.</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058400" cy="256032"/>
          </a:xfrm>
          <a:prstGeom prst="rect">
            <a:avLst/>
          </a:prstGeom>
          <a:noFill/>
          <a:ln/>
        </p:spPr>
        <p:txBody>
          <a:bodyPr wrap="square" lIns="0" tIns="0" rIns="0" bIns="0" rtlCol="0" anchor="ctr"/>
          <a:lstStyle/>
          <a:p>
            <a:pPr indent="0" marL="0">
              <a:buNone/>
            </a:pPr>
            <a:r>
              <a:rPr lang="en-US" sz="1100" b="1" spc="220" kern="0" dirty="0">
                <a:solidFill>
                  <a:srgbClr val="D97B29"/>
                </a:solidFill>
                <a:latin typeface="Calibri" pitchFamily="34" charset="0"/>
                <a:ea typeface="Calibri" pitchFamily="34" charset="-122"/>
                <a:cs typeface="Calibri" pitchFamily="34" charset="-120"/>
              </a:rPr>
              <a:t>PUTTING IT TOGETHER</a:t>
            </a:r>
            <a:endParaRPr lang="en-US" sz="1100" dirty="0"/>
          </a:p>
        </p:txBody>
      </p:sp>
      <p:sp>
        <p:nvSpPr>
          <p:cNvPr id="3" name="Text 1"/>
          <p:cNvSpPr txBox="1"/>
          <p:nvPr/>
        </p:nvSpPr>
        <p:spPr>
          <a:xfrm>
            <a:off x="594360" y="658368"/>
            <a:ext cx="10972800" cy="777240"/>
          </a:xfrm>
          <a:prstGeom prst="rect">
            <a:avLst/>
          </a:prstGeom>
          <a:noFill/>
          <a:ln/>
        </p:spPr>
        <p:txBody>
          <a:bodyPr wrap="square" lIns="0" tIns="0" rIns="0" bIns="0" rtlCol="0" anchor="t"/>
          <a:lstStyle/>
          <a:p>
            <a:pPr indent="0" marL="0">
              <a:buNone/>
            </a:pPr>
            <a:r>
              <a:rPr lang="en-US" sz="3400" b="1" dirty="0">
                <a:solidFill>
                  <a:srgbClr val="0E2233"/>
                </a:solidFill>
                <a:latin typeface="Cambria" pitchFamily="34" charset="0"/>
                <a:ea typeface="Cambria" pitchFamily="34" charset="-122"/>
                <a:cs typeface="Cambria" pitchFamily="34" charset="-120"/>
              </a:rPr>
              <a:t>The complete journey</a:t>
            </a:r>
            <a:endParaRPr lang="en-US" sz="3400" dirty="0"/>
          </a:p>
        </p:txBody>
      </p:sp>
      <p:sp>
        <p:nvSpPr>
          <p:cNvPr id="4" name="Shape 2"/>
          <p:cNvSpPr/>
          <p:nvPr/>
        </p:nvSpPr>
        <p:spPr>
          <a:xfrm>
            <a:off x="640080" y="2103120"/>
            <a:ext cx="2377440" cy="1965960"/>
          </a:xfrm>
          <a:prstGeom prst="roundRect">
            <a:avLst>
              <a:gd name="adj" fmla="val 4186"/>
            </a:avLst>
          </a:prstGeom>
          <a:solidFill>
            <a:srgbClr val="E2EDF9"/>
          </a:solidFill>
          <a:ln w="15875">
            <a:solidFill>
              <a:srgbClr val="2E7DD1"/>
            </a:solidFill>
            <a:prstDash val="solid"/>
          </a:ln>
        </p:spPr>
      </p:sp>
      <p:sp>
        <p:nvSpPr>
          <p:cNvPr id="5" name="Text 3"/>
          <p:cNvSpPr txBox="1"/>
          <p:nvPr/>
        </p:nvSpPr>
        <p:spPr>
          <a:xfrm>
            <a:off x="640080" y="2395728"/>
            <a:ext cx="2377440" cy="274320"/>
          </a:xfrm>
          <a:prstGeom prst="rect">
            <a:avLst/>
          </a:prstGeom>
          <a:noFill/>
          <a:ln/>
        </p:spPr>
        <p:txBody>
          <a:bodyPr wrap="square" lIns="0" tIns="0" rIns="0" bIns="0" rtlCol="0" anchor="ctr"/>
          <a:lstStyle/>
          <a:p>
            <a:pPr algn="ctr" indent="0" marL="0">
              <a:buNone/>
            </a:pPr>
            <a:r>
              <a:rPr lang="en-US" sz="1100" b="1" spc="180" kern="0" dirty="0">
                <a:solidFill>
                  <a:srgbClr val="2E7DD1"/>
                </a:solidFill>
                <a:latin typeface="Calibri" pitchFamily="34" charset="0"/>
                <a:ea typeface="Calibri" pitchFamily="34" charset="-122"/>
                <a:cs typeface="Calibri" pitchFamily="34" charset="-120"/>
              </a:rPr>
              <a:t>CLIENT</a:t>
            </a:r>
            <a:endParaRPr lang="en-US" sz="1100" dirty="0"/>
          </a:p>
        </p:txBody>
      </p:sp>
      <p:sp>
        <p:nvSpPr>
          <p:cNvPr id="6" name="Text 4"/>
          <p:cNvSpPr txBox="1"/>
          <p:nvPr/>
        </p:nvSpPr>
        <p:spPr>
          <a:xfrm>
            <a:off x="841248" y="2788920"/>
            <a:ext cx="1975104" cy="1005840"/>
          </a:xfrm>
          <a:prstGeom prst="rect">
            <a:avLst/>
          </a:prstGeom>
          <a:noFill/>
          <a:ln/>
        </p:spPr>
        <p:txBody>
          <a:bodyPr wrap="square" lIns="0" tIns="0" rIns="0" bIns="0" rtlCol="0" anchor="ctr"/>
          <a:lstStyle/>
          <a:p>
            <a:pPr algn="ctr" indent="0" marL="0">
              <a:lnSpc>
                <a:spcPts val="2200"/>
              </a:lnSpc>
              <a:buNone/>
            </a:pPr>
            <a:r>
              <a:rPr lang="en-US" sz="1600" b="1" dirty="0">
                <a:solidFill>
                  <a:srgbClr val="0E2233"/>
                </a:solidFill>
                <a:latin typeface="Cambria" pitchFamily="34" charset="0"/>
                <a:ea typeface="Cambria" pitchFamily="34" charset="-122"/>
                <a:cs typeface="Cambria" pitchFamily="34" charset="-120"/>
              </a:rPr>
              <a:t>You tap a button</a:t>
            </a:r>
            <a:endParaRPr lang="en-US" sz="1600" dirty="0"/>
          </a:p>
        </p:txBody>
      </p:sp>
      <p:sp>
        <p:nvSpPr>
          <p:cNvPr id="7" name="Shape 5"/>
          <p:cNvSpPr/>
          <p:nvPr/>
        </p:nvSpPr>
        <p:spPr>
          <a:xfrm>
            <a:off x="3127248" y="2944368"/>
            <a:ext cx="329184" cy="274320"/>
          </a:xfrm>
          <a:prstGeom prst="rightArrow">
            <a:avLst/>
          </a:prstGeom>
          <a:solidFill>
            <a:srgbClr val="CBD9DF"/>
          </a:solidFill>
          <a:ln/>
        </p:spPr>
      </p:sp>
      <p:sp>
        <p:nvSpPr>
          <p:cNvPr id="8" name="Shape 6"/>
          <p:cNvSpPr/>
          <p:nvPr/>
        </p:nvSpPr>
        <p:spPr>
          <a:xfrm>
            <a:off x="3520440" y="2103120"/>
            <a:ext cx="2377440" cy="1965960"/>
          </a:xfrm>
          <a:prstGeom prst="roundRect">
            <a:avLst>
              <a:gd name="adj" fmla="val 4186"/>
            </a:avLst>
          </a:prstGeom>
          <a:solidFill>
            <a:srgbClr val="FBEBDB"/>
          </a:solidFill>
          <a:ln w="15875">
            <a:solidFill>
              <a:srgbClr val="D97B29"/>
            </a:solidFill>
            <a:prstDash val="solid"/>
          </a:ln>
        </p:spPr>
      </p:sp>
      <p:sp>
        <p:nvSpPr>
          <p:cNvPr id="9" name="Text 7"/>
          <p:cNvSpPr txBox="1"/>
          <p:nvPr/>
        </p:nvSpPr>
        <p:spPr>
          <a:xfrm>
            <a:off x="3520440" y="2395728"/>
            <a:ext cx="2377440" cy="274320"/>
          </a:xfrm>
          <a:prstGeom prst="rect">
            <a:avLst/>
          </a:prstGeom>
          <a:noFill/>
          <a:ln/>
        </p:spPr>
        <p:txBody>
          <a:bodyPr wrap="square" lIns="0" tIns="0" rIns="0" bIns="0" rtlCol="0" anchor="ctr"/>
          <a:lstStyle/>
          <a:p>
            <a:pPr algn="ctr" indent="0" marL="0">
              <a:buNone/>
            </a:pPr>
            <a:r>
              <a:rPr lang="en-US" sz="1100" b="1" spc="180" kern="0" dirty="0">
                <a:solidFill>
                  <a:srgbClr val="D97B29"/>
                </a:solidFill>
                <a:latin typeface="Calibri" pitchFamily="34" charset="0"/>
                <a:ea typeface="Calibri" pitchFamily="34" charset="-122"/>
                <a:cs typeface="Calibri" pitchFamily="34" charset="-120"/>
              </a:rPr>
              <a:t>REQUEST</a:t>
            </a:r>
            <a:endParaRPr lang="en-US" sz="1100" dirty="0"/>
          </a:p>
        </p:txBody>
      </p:sp>
      <p:sp>
        <p:nvSpPr>
          <p:cNvPr id="10" name="Text 8"/>
          <p:cNvSpPr txBox="1"/>
          <p:nvPr/>
        </p:nvSpPr>
        <p:spPr>
          <a:xfrm>
            <a:off x="3721608" y="2788920"/>
            <a:ext cx="1975104" cy="1005840"/>
          </a:xfrm>
          <a:prstGeom prst="rect">
            <a:avLst/>
          </a:prstGeom>
          <a:noFill/>
          <a:ln/>
        </p:spPr>
        <p:txBody>
          <a:bodyPr wrap="square" lIns="0" tIns="0" rIns="0" bIns="0" rtlCol="0" anchor="ctr"/>
          <a:lstStyle/>
          <a:p>
            <a:pPr algn="ctr" indent="0" marL="0">
              <a:lnSpc>
                <a:spcPts val="2200"/>
              </a:lnSpc>
              <a:buNone/>
            </a:pPr>
            <a:r>
              <a:rPr lang="en-US" sz="1600" b="1" dirty="0">
                <a:solidFill>
                  <a:srgbClr val="0E2233"/>
                </a:solidFill>
                <a:latin typeface="Cambria" pitchFamily="34" charset="0"/>
                <a:ea typeface="Cambria" pitchFamily="34" charset="-122"/>
                <a:cs typeface="Cambria" pitchFamily="34" charset="-120"/>
              </a:rPr>
              <a:t>The ask travels out</a:t>
            </a:r>
            <a:endParaRPr lang="en-US" sz="1600" dirty="0"/>
          </a:p>
        </p:txBody>
      </p:sp>
      <p:sp>
        <p:nvSpPr>
          <p:cNvPr id="11" name="Shape 9"/>
          <p:cNvSpPr/>
          <p:nvPr/>
        </p:nvSpPr>
        <p:spPr>
          <a:xfrm>
            <a:off x="6007608" y="2944368"/>
            <a:ext cx="329184" cy="274320"/>
          </a:xfrm>
          <a:prstGeom prst="rightArrow">
            <a:avLst/>
          </a:prstGeom>
          <a:solidFill>
            <a:srgbClr val="CBD9DF"/>
          </a:solidFill>
          <a:ln/>
        </p:spPr>
      </p:sp>
      <p:sp>
        <p:nvSpPr>
          <p:cNvPr id="12" name="Shape 10"/>
          <p:cNvSpPr/>
          <p:nvPr/>
        </p:nvSpPr>
        <p:spPr>
          <a:xfrm>
            <a:off x="6400800" y="2103120"/>
            <a:ext cx="2377440" cy="1965960"/>
          </a:xfrm>
          <a:prstGeom prst="roundRect">
            <a:avLst>
              <a:gd name="adj" fmla="val 4186"/>
            </a:avLst>
          </a:prstGeom>
          <a:solidFill>
            <a:srgbClr val="DDF0EF"/>
          </a:solidFill>
          <a:ln w="15875">
            <a:solidFill>
              <a:srgbClr val="0E9594"/>
            </a:solidFill>
            <a:prstDash val="solid"/>
          </a:ln>
        </p:spPr>
      </p:sp>
      <p:sp>
        <p:nvSpPr>
          <p:cNvPr id="13" name="Text 11"/>
          <p:cNvSpPr txBox="1"/>
          <p:nvPr/>
        </p:nvSpPr>
        <p:spPr>
          <a:xfrm>
            <a:off x="6400800" y="2395728"/>
            <a:ext cx="2377440" cy="274320"/>
          </a:xfrm>
          <a:prstGeom prst="rect">
            <a:avLst/>
          </a:prstGeom>
          <a:noFill/>
          <a:ln/>
        </p:spPr>
        <p:txBody>
          <a:bodyPr wrap="square" lIns="0" tIns="0" rIns="0" bIns="0" rtlCol="0" anchor="ctr"/>
          <a:lstStyle/>
          <a:p>
            <a:pPr algn="ctr" indent="0" marL="0">
              <a:buNone/>
            </a:pPr>
            <a:r>
              <a:rPr lang="en-US" sz="1100" b="1" spc="180" kern="0" dirty="0">
                <a:solidFill>
                  <a:srgbClr val="0E9594"/>
                </a:solidFill>
                <a:latin typeface="Calibri" pitchFamily="34" charset="0"/>
                <a:ea typeface="Calibri" pitchFamily="34" charset="-122"/>
                <a:cs typeface="Calibri" pitchFamily="34" charset="-120"/>
              </a:rPr>
              <a:t>SERVER</a:t>
            </a:r>
            <a:endParaRPr lang="en-US" sz="1100" dirty="0"/>
          </a:p>
        </p:txBody>
      </p:sp>
      <p:sp>
        <p:nvSpPr>
          <p:cNvPr id="14" name="Text 12"/>
          <p:cNvSpPr txBox="1"/>
          <p:nvPr/>
        </p:nvSpPr>
        <p:spPr>
          <a:xfrm>
            <a:off x="6601968" y="2788920"/>
            <a:ext cx="1975104" cy="1005840"/>
          </a:xfrm>
          <a:prstGeom prst="rect">
            <a:avLst/>
          </a:prstGeom>
          <a:noFill/>
          <a:ln/>
        </p:spPr>
        <p:txBody>
          <a:bodyPr wrap="square" lIns="0" tIns="0" rIns="0" bIns="0" rtlCol="0" anchor="ctr"/>
          <a:lstStyle/>
          <a:p>
            <a:pPr algn="ctr" indent="0" marL="0">
              <a:lnSpc>
                <a:spcPts val="2200"/>
              </a:lnSpc>
              <a:buNone/>
            </a:pPr>
            <a:r>
              <a:rPr lang="en-US" sz="1600" b="1" dirty="0">
                <a:solidFill>
                  <a:srgbClr val="0E2233"/>
                </a:solidFill>
                <a:latin typeface="Cambria" pitchFamily="34" charset="0"/>
                <a:ea typeface="Cambria" pitchFamily="34" charset="-122"/>
                <a:cs typeface="Cambria" pitchFamily="34" charset="-120"/>
              </a:rPr>
              <a:t>Rules applied, data fetched</a:t>
            </a:r>
            <a:endParaRPr lang="en-US" sz="1600" dirty="0"/>
          </a:p>
        </p:txBody>
      </p:sp>
      <p:sp>
        <p:nvSpPr>
          <p:cNvPr id="15" name="Shape 13"/>
          <p:cNvSpPr/>
          <p:nvPr/>
        </p:nvSpPr>
        <p:spPr>
          <a:xfrm>
            <a:off x="8887968" y="2944368"/>
            <a:ext cx="329184" cy="274320"/>
          </a:xfrm>
          <a:prstGeom prst="rightArrow">
            <a:avLst/>
          </a:prstGeom>
          <a:solidFill>
            <a:srgbClr val="CBD9DF"/>
          </a:solidFill>
          <a:ln/>
        </p:spPr>
      </p:sp>
      <p:sp>
        <p:nvSpPr>
          <p:cNvPr id="16" name="Shape 14"/>
          <p:cNvSpPr/>
          <p:nvPr/>
        </p:nvSpPr>
        <p:spPr>
          <a:xfrm>
            <a:off x="9281160" y="2103120"/>
            <a:ext cx="2377440" cy="1965960"/>
          </a:xfrm>
          <a:prstGeom prst="roundRect">
            <a:avLst>
              <a:gd name="adj" fmla="val 4186"/>
            </a:avLst>
          </a:prstGeom>
          <a:solidFill>
            <a:srgbClr val="FBEBDB"/>
          </a:solidFill>
          <a:ln w="15875">
            <a:solidFill>
              <a:srgbClr val="D97B29"/>
            </a:solidFill>
            <a:prstDash val="solid"/>
          </a:ln>
        </p:spPr>
      </p:sp>
      <p:sp>
        <p:nvSpPr>
          <p:cNvPr id="17" name="Text 15"/>
          <p:cNvSpPr txBox="1"/>
          <p:nvPr/>
        </p:nvSpPr>
        <p:spPr>
          <a:xfrm>
            <a:off x="9281160" y="2395728"/>
            <a:ext cx="2377440" cy="274320"/>
          </a:xfrm>
          <a:prstGeom prst="rect">
            <a:avLst/>
          </a:prstGeom>
          <a:noFill/>
          <a:ln/>
        </p:spPr>
        <p:txBody>
          <a:bodyPr wrap="square" lIns="0" tIns="0" rIns="0" bIns="0" rtlCol="0" anchor="ctr"/>
          <a:lstStyle/>
          <a:p>
            <a:pPr algn="ctr" indent="0" marL="0">
              <a:buNone/>
            </a:pPr>
            <a:r>
              <a:rPr lang="en-US" sz="1100" b="1" spc="180" kern="0" dirty="0">
                <a:solidFill>
                  <a:srgbClr val="D97B29"/>
                </a:solidFill>
                <a:latin typeface="Calibri" pitchFamily="34" charset="0"/>
                <a:ea typeface="Calibri" pitchFamily="34" charset="-122"/>
                <a:cs typeface="Calibri" pitchFamily="34" charset="-120"/>
              </a:rPr>
              <a:t>RESPONSE</a:t>
            </a:r>
            <a:endParaRPr lang="en-US" sz="1100" dirty="0"/>
          </a:p>
        </p:txBody>
      </p:sp>
      <p:sp>
        <p:nvSpPr>
          <p:cNvPr id="18" name="Text 16"/>
          <p:cNvSpPr txBox="1"/>
          <p:nvPr/>
        </p:nvSpPr>
        <p:spPr>
          <a:xfrm>
            <a:off x="9482328" y="2788920"/>
            <a:ext cx="1975104" cy="1005840"/>
          </a:xfrm>
          <a:prstGeom prst="rect">
            <a:avLst/>
          </a:prstGeom>
          <a:noFill/>
          <a:ln/>
        </p:spPr>
        <p:txBody>
          <a:bodyPr wrap="square" lIns="0" tIns="0" rIns="0" bIns="0" rtlCol="0" anchor="ctr"/>
          <a:lstStyle/>
          <a:p>
            <a:pPr algn="ctr" indent="0" marL="0">
              <a:lnSpc>
                <a:spcPts val="2200"/>
              </a:lnSpc>
              <a:buNone/>
            </a:pPr>
            <a:r>
              <a:rPr lang="en-US" sz="1600" b="1" dirty="0">
                <a:solidFill>
                  <a:srgbClr val="0E2233"/>
                </a:solidFill>
                <a:latin typeface="Cambria" pitchFamily="34" charset="0"/>
                <a:ea typeface="Cambria" pitchFamily="34" charset="-122"/>
                <a:cs typeface="Cambria" pitchFamily="34" charset="-120"/>
              </a:rPr>
              <a:t>The answer comes back</a:t>
            </a:r>
            <a:endParaRPr lang="en-US" sz="1600" dirty="0"/>
          </a:p>
        </p:txBody>
      </p:sp>
      <p:sp>
        <p:nvSpPr>
          <p:cNvPr id="19" name="Shape 17"/>
          <p:cNvSpPr/>
          <p:nvPr/>
        </p:nvSpPr>
        <p:spPr>
          <a:xfrm>
            <a:off x="10469880" y="4069080"/>
            <a:ext cx="0" cy="566928"/>
          </a:xfrm>
          <a:prstGeom prst="line">
            <a:avLst/>
          </a:prstGeom>
          <a:noFill/>
          <a:ln w="25400">
            <a:solidFill>
              <a:srgbClr val="2E7DD1"/>
            </a:solidFill>
            <a:prstDash val="solid"/>
          </a:ln>
        </p:spPr>
      </p:sp>
      <p:sp>
        <p:nvSpPr>
          <p:cNvPr id="20" name="Shape 18"/>
          <p:cNvSpPr/>
          <p:nvPr/>
        </p:nvSpPr>
        <p:spPr>
          <a:xfrm>
            <a:off x="1828800" y="4636008"/>
            <a:ext cx="8641080" cy="0"/>
          </a:xfrm>
          <a:prstGeom prst="line">
            <a:avLst/>
          </a:prstGeom>
          <a:noFill/>
          <a:ln w="25400">
            <a:solidFill>
              <a:srgbClr val="2E7DD1"/>
            </a:solidFill>
            <a:prstDash val="solid"/>
          </a:ln>
        </p:spPr>
      </p:sp>
      <p:sp>
        <p:nvSpPr>
          <p:cNvPr id="21" name="Shape 19"/>
          <p:cNvSpPr/>
          <p:nvPr/>
        </p:nvSpPr>
        <p:spPr>
          <a:xfrm>
            <a:off x="1709928" y="4069080"/>
            <a:ext cx="237744" cy="566928"/>
          </a:xfrm>
          <a:prstGeom prst="upArrow">
            <a:avLst/>
          </a:prstGeom>
          <a:solidFill>
            <a:srgbClr val="2E7DD1"/>
          </a:solidFill>
          <a:ln/>
        </p:spPr>
      </p:sp>
      <p:sp>
        <p:nvSpPr>
          <p:cNvPr id="22" name="Shape 20"/>
          <p:cNvSpPr/>
          <p:nvPr/>
        </p:nvSpPr>
        <p:spPr>
          <a:xfrm>
            <a:off x="4983480" y="4370832"/>
            <a:ext cx="2651760" cy="530352"/>
          </a:xfrm>
          <a:prstGeom prst="roundRect">
            <a:avLst>
              <a:gd name="adj" fmla="val 15517"/>
            </a:avLst>
          </a:prstGeom>
          <a:solidFill>
            <a:srgbClr val="FFFFFF"/>
          </a:solidFill>
          <a:ln/>
        </p:spPr>
      </p:sp>
      <p:sp>
        <p:nvSpPr>
          <p:cNvPr id="23" name="Text 21"/>
          <p:cNvSpPr txBox="1"/>
          <p:nvPr/>
        </p:nvSpPr>
        <p:spPr>
          <a:xfrm>
            <a:off x="4983480" y="4370832"/>
            <a:ext cx="2651760" cy="530352"/>
          </a:xfrm>
          <a:prstGeom prst="rect">
            <a:avLst/>
          </a:prstGeom>
          <a:noFill/>
          <a:ln/>
        </p:spPr>
        <p:txBody>
          <a:bodyPr wrap="square" lIns="0" tIns="0" rIns="0" bIns="0" rtlCol="0" anchor="ctr"/>
          <a:lstStyle/>
          <a:p>
            <a:pPr algn="ctr" indent="0" marL="0">
              <a:buNone/>
            </a:pPr>
            <a:r>
              <a:rPr lang="en-US" sz="1350" b="1" dirty="0">
                <a:solidFill>
                  <a:srgbClr val="2E7DD1"/>
                </a:solidFill>
                <a:latin typeface="Calibri" pitchFamily="34" charset="0"/>
                <a:ea typeface="Calibri" pitchFamily="34" charset="-122"/>
                <a:cs typeface="Calibri" pitchFamily="34" charset="-120"/>
              </a:rPr>
              <a:t>the screen updates</a:t>
            </a:r>
            <a:endParaRPr lang="en-US" sz="1350" dirty="0"/>
          </a:p>
        </p:txBody>
      </p:sp>
      <p:sp>
        <p:nvSpPr>
          <p:cNvPr id="24" name="Shape 22"/>
          <p:cNvSpPr/>
          <p:nvPr/>
        </p:nvSpPr>
        <p:spPr>
          <a:xfrm>
            <a:off x="594360" y="5257800"/>
            <a:ext cx="11018520" cy="960120"/>
          </a:xfrm>
          <a:prstGeom prst="roundRect">
            <a:avLst>
              <a:gd name="adj" fmla="val 8571"/>
            </a:avLst>
          </a:prstGeom>
          <a:solidFill>
            <a:srgbClr val="0E2233"/>
          </a:solidFill>
          <a:ln/>
        </p:spPr>
      </p:sp>
      <p:sp>
        <p:nvSpPr>
          <p:cNvPr id="25" name="Text 23"/>
          <p:cNvSpPr txBox="1"/>
          <p:nvPr/>
        </p:nvSpPr>
        <p:spPr>
          <a:xfrm>
            <a:off x="594360" y="5257800"/>
            <a:ext cx="11018520"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Client  →  Request  →  Server  →  Response  →  Client</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2233"/>
        </a:solidFill>
      </p:bgPr>
    </p:bg>
    <p:spTree>
      <p:nvGrpSpPr>
        <p:cNvPr id="1" name=""/>
        <p:cNvGrpSpPr/>
        <p:nvPr/>
      </p:nvGrpSpPr>
      <p:grpSpPr>
        <a:xfrm>
          <a:off x="0" y="0"/>
          <a:ext cx="0" cy="0"/>
          <a:chOff x="0" y="0"/>
          <a:chExt cx="0" cy="0"/>
        </a:xfrm>
      </p:grpSpPr>
      <p:sp>
        <p:nvSpPr>
          <p:cNvPr id="2" name="Shape 0"/>
          <p:cNvSpPr/>
          <p:nvPr/>
        </p:nvSpPr>
        <p:spPr>
          <a:xfrm>
            <a:off x="-1463040" y="4023360"/>
            <a:ext cx="4206240" cy="4206240"/>
          </a:xfrm>
          <a:prstGeom prst="ellipse">
            <a:avLst/>
          </a:prstGeom>
          <a:solidFill>
            <a:srgbClr val="17364D"/>
          </a:solidFill>
          <a:ln/>
        </p:spPr>
      </p:sp>
      <p:sp>
        <p:nvSpPr>
          <p:cNvPr id="3" name="Shape 1"/>
          <p:cNvSpPr/>
          <p:nvPr/>
        </p:nvSpPr>
        <p:spPr>
          <a:xfrm>
            <a:off x="10607040" y="-1097280"/>
            <a:ext cx="3657600" cy="3657600"/>
          </a:xfrm>
          <a:prstGeom prst="ellipse">
            <a:avLst/>
          </a:prstGeom>
          <a:solidFill>
            <a:srgbClr val="17364D"/>
          </a:solidFill>
          <a:ln/>
        </p:spPr>
      </p:sp>
      <p:sp>
        <p:nvSpPr>
          <p:cNvPr id="4" name="Text 2"/>
          <p:cNvSpPr txBox="1"/>
          <p:nvPr/>
        </p:nvSpPr>
        <p:spPr>
          <a:xfrm>
            <a:off x="594360" y="1051560"/>
            <a:ext cx="7315200" cy="274320"/>
          </a:xfrm>
          <a:prstGeom prst="rect">
            <a:avLst/>
          </a:prstGeom>
          <a:noFill/>
          <a:ln/>
        </p:spPr>
        <p:txBody>
          <a:bodyPr wrap="square" lIns="0" tIns="0" rIns="0" bIns="0" rtlCol="0" anchor="ctr"/>
          <a:lstStyle/>
          <a:p>
            <a:pPr indent="0" marL="0">
              <a:buNone/>
            </a:pPr>
            <a:r>
              <a:rPr lang="en-US" sz="1200" b="1" spc="260" kern="0" dirty="0">
                <a:solidFill>
                  <a:srgbClr val="D97B29"/>
                </a:solidFill>
                <a:latin typeface="Calibri" pitchFamily="34" charset="0"/>
                <a:ea typeface="Calibri" pitchFamily="34" charset="-122"/>
                <a:cs typeface="Calibri" pitchFamily="34" charset="-120"/>
              </a:rPr>
              <a:t>DAY 1  ·  OUTCOME</a:t>
            </a:r>
            <a:endParaRPr lang="en-US" sz="1200" dirty="0"/>
          </a:p>
        </p:txBody>
      </p:sp>
      <p:sp>
        <p:nvSpPr>
          <p:cNvPr id="5" name="Text 3"/>
          <p:cNvSpPr txBox="1"/>
          <p:nvPr/>
        </p:nvSpPr>
        <p:spPr>
          <a:xfrm>
            <a:off x="594360" y="1463040"/>
            <a:ext cx="10515600" cy="1463040"/>
          </a:xfrm>
          <a:prstGeom prst="rect">
            <a:avLst/>
          </a:prstGeom>
          <a:noFill/>
          <a:ln/>
        </p:spPr>
        <p:txBody>
          <a:bodyPr wrap="square" lIns="0" tIns="0" rIns="0" bIns="0" rtlCol="0" anchor="ctr"/>
          <a:lstStyle/>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You now know what every</a:t>
            </a:r>
            <a:endParaRPr lang="en-US" sz="4200" dirty="0"/>
          </a:p>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web application does.</a:t>
            </a:r>
            <a:endParaRPr lang="en-US" sz="4200" dirty="0"/>
          </a:p>
        </p:txBody>
      </p:sp>
      <p:sp>
        <p:nvSpPr>
          <p:cNvPr id="6" name="Shape 4"/>
          <p:cNvSpPr/>
          <p:nvPr/>
        </p:nvSpPr>
        <p:spPr>
          <a:xfrm>
            <a:off x="594360" y="3383280"/>
            <a:ext cx="3520440" cy="1691640"/>
          </a:xfrm>
          <a:prstGeom prst="roundRect">
            <a:avLst>
              <a:gd name="adj" fmla="val 4865"/>
            </a:avLst>
          </a:prstGeom>
          <a:solidFill>
            <a:srgbClr val="17364D"/>
          </a:solidFill>
          <a:ln w="12700">
            <a:solidFill>
              <a:srgbClr val="2C4A61"/>
            </a:solidFill>
            <a:prstDash val="solid"/>
          </a:ln>
        </p:spPr>
      </p:sp>
      <p:sp>
        <p:nvSpPr>
          <p:cNvPr id="7" name="Text 5"/>
          <p:cNvSpPr txBox="1"/>
          <p:nvPr/>
        </p:nvSpPr>
        <p:spPr>
          <a:xfrm>
            <a:off x="914400" y="3657600"/>
            <a:ext cx="2880360" cy="365760"/>
          </a:xfrm>
          <a:prstGeom prst="rect">
            <a:avLst/>
          </a:prstGeom>
          <a:noFill/>
          <a:ln/>
        </p:spPr>
        <p:txBody>
          <a:bodyPr wrap="square" lIns="0" tIns="0" rIns="0" bIns="0" rtlCol="0" anchor="ctr"/>
          <a:lstStyle/>
          <a:p>
            <a:pPr indent="0" marL="0">
              <a:buNone/>
            </a:pPr>
            <a:r>
              <a:rPr lang="en-US" sz="1900" b="1" dirty="0">
                <a:solidFill>
                  <a:srgbClr val="D97B29"/>
                </a:solidFill>
                <a:latin typeface="Cambria" pitchFamily="34" charset="0"/>
                <a:ea typeface="Cambria" pitchFamily="34" charset="-122"/>
                <a:cs typeface="Cambria" pitchFamily="34" charset="-120"/>
              </a:rPr>
              <a:t>The journey</a:t>
            </a:r>
            <a:endParaRPr lang="en-US" sz="1900" dirty="0"/>
          </a:p>
        </p:txBody>
      </p:sp>
      <p:sp>
        <p:nvSpPr>
          <p:cNvPr id="8" name="Text 6"/>
          <p:cNvSpPr txBox="1"/>
          <p:nvPr/>
        </p:nvSpPr>
        <p:spPr>
          <a:xfrm>
            <a:off x="914400" y="4114800"/>
            <a:ext cx="2880360" cy="777240"/>
          </a:xfrm>
          <a:prstGeom prst="rect">
            <a:avLst/>
          </a:prstGeom>
          <a:noFill/>
          <a:ln/>
        </p:spPr>
        <p:txBody>
          <a:bodyPr wrap="square" lIns="0" tIns="0" rIns="0" bIns="0" rtlCol="0" anchor="ctr"/>
          <a:lstStyle/>
          <a:p>
            <a:pPr indent="0" marL="0">
              <a:lnSpc>
                <a:spcPts val="1900"/>
              </a:lnSpc>
              <a:buNone/>
            </a:pPr>
            <a:r>
              <a:rPr lang="en-US" sz="1350" dirty="0">
                <a:solidFill>
                  <a:srgbClr val="AEC4D1"/>
                </a:solidFill>
                <a:latin typeface="Calibri" pitchFamily="34" charset="0"/>
                <a:ea typeface="Calibri" pitchFamily="34" charset="-122"/>
                <a:cs typeface="Calibri" pitchFamily="34" charset="-120"/>
              </a:rPr>
              <a:t>Client, internet, server — and the road back.</a:t>
            </a:r>
            <a:endParaRPr lang="en-US" sz="1350" dirty="0"/>
          </a:p>
        </p:txBody>
      </p:sp>
      <p:sp>
        <p:nvSpPr>
          <p:cNvPr id="9" name="Shape 7"/>
          <p:cNvSpPr/>
          <p:nvPr/>
        </p:nvSpPr>
        <p:spPr>
          <a:xfrm>
            <a:off x="4370832" y="3383280"/>
            <a:ext cx="3520440" cy="1691640"/>
          </a:xfrm>
          <a:prstGeom prst="roundRect">
            <a:avLst>
              <a:gd name="adj" fmla="val 4865"/>
            </a:avLst>
          </a:prstGeom>
          <a:solidFill>
            <a:srgbClr val="17364D"/>
          </a:solidFill>
          <a:ln w="12700">
            <a:solidFill>
              <a:srgbClr val="2C4A61"/>
            </a:solidFill>
            <a:prstDash val="solid"/>
          </a:ln>
        </p:spPr>
      </p:sp>
      <p:sp>
        <p:nvSpPr>
          <p:cNvPr id="10" name="Text 8"/>
          <p:cNvSpPr txBox="1"/>
          <p:nvPr/>
        </p:nvSpPr>
        <p:spPr>
          <a:xfrm>
            <a:off x="4690872" y="3657600"/>
            <a:ext cx="2880360" cy="365760"/>
          </a:xfrm>
          <a:prstGeom prst="rect">
            <a:avLst/>
          </a:prstGeom>
          <a:noFill/>
          <a:ln/>
        </p:spPr>
        <p:txBody>
          <a:bodyPr wrap="square" lIns="0" tIns="0" rIns="0" bIns="0" rtlCol="0" anchor="ctr"/>
          <a:lstStyle/>
          <a:p>
            <a:pPr indent="0" marL="0">
              <a:buNone/>
            </a:pPr>
            <a:r>
              <a:rPr lang="en-US" sz="1900" b="1" dirty="0">
                <a:solidFill>
                  <a:srgbClr val="D97B29"/>
                </a:solidFill>
                <a:latin typeface="Cambria" pitchFamily="34" charset="0"/>
                <a:ea typeface="Cambria" pitchFamily="34" charset="-122"/>
                <a:cs typeface="Cambria" pitchFamily="34" charset="-120"/>
              </a:rPr>
              <a:t>The vocabulary</a:t>
            </a:r>
            <a:endParaRPr lang="en-US" sz="1900" dirty="0"/>
          </a:p>
        </p:txBody>
      </p:sp>
      <p:sp>
        <p:nvSpPr>
          <p:cNvPr id="11" name="Text 9"/>
          <p:cNvSpPr txBox="1"/>
          <p:nvPr/>
        </p:nvSpPr>
        <p:spPr>
          <a:xfrm>
            <a:off x="4690872" y="4114800"/>
            <a:ext cx="2880360" cy="777240"/>
          </a:xfrm>
          <a:prstGeom prst="rect">
            <a:avLst/>
          </a:prstGeom>
          <a:noFill/>
          <a:ln/>
        </p:spPr>
        <p:txBody>
          <a:bodyPr wrap="square" lIns="0" tIns="0" rIns="0" bIns="0" rtlCol="0" anchor="ctr"/>
          <a:lstStyle/>
          <a:p>
            <a:pPr indent="0" marL="0">
              <a:lnSpc>
                <a:spcPts val="1900"/>
              </a:lnSpc>
              <a:buNone/>
            </a:pPr>
            <a:r>
              <a:rPr lang="en-US" sz="1350" dirty="0">
                <a:solidFill>
                  <a:srgbClr val="AEC4D1"/>
                </a:solidFill>
                <a:latin typeface="Calibri" pitchFamily="34" charset="0"/>
                <a:ea typeface="Calibri" pitchFamily="34" charset="-122"/>
                <a:cs typeface="Calibri" pitchFamily="34" charset="-120"/>
              </a:rPr>
              <a:t>Request, response, DNS, GET, POST, status codes.</a:t>
            </a:r>
            <a:endParaRPr lang="en-US" sz="1350" dirty="0"/>
          </a:p>
        </p:txBody>
      </p:sp>
      <p:sp>
        <p:nvSpPr>
          <p:cNvPr id="12" name="Shape 10"/>
          <p:cNvSpPr/>
          <p:nvPr/>
        </p:nvSpPr>
        <p:spPr>
          <a:xfrm>
            <a:off x="8147304" y="3383280"/>
            <a:ext cx="3520440" cy="1691640"/>
          </a:xfrm>
          <a:prstGeom prst="roundRect">
            <a:avLst>
              <a:gd name="adj" fmla="val 4865"/>
            </a:avLst>
          </a:prstGeom>
          <a:solidFill>
            <a:srgbClr val="17364D"/>
          </a:solidFill>
          <a:ln w="12700">
            <a:solidFill>
              <a:srgbClr val="2C4A61"/>
            </a:solidFill>
            <a:prstDash val="solid"/>
          </a:ln>
        </p:spPr>
      </p:sp>
      <p:sp>
        <p:nvSpPr>
          <p:cNvPr id="13" name="Text 11"/>
          <p:cNvSpPr txBox="1"/>
          <p:nvPr/>
        </p:nvSpPr>
        <p:spPr>
          <a:xfrm>
            <a:off x="8467344" y="3657600"/>
            <a:ext cx="2880360" cy="365760"/>
          </a:xfrm>
          <a:prstGeom prst="rect">
            <a:avLst/>
          </a:prstGeom>
          <a:noFill/>
          <a:ln/>
        </p:spPr>
        <p:txBody>
          <a:bodyPr wrap="square" lIns="0" tIns="0" rIns="0" bIns="0" rtlCol="0" anchor="ctr"/>
          <a:lstStyle/>
          <a:p>
            <a:pPr indent="0" marL="0">
              <a:buNone/>
            </a:pPr>
            <a:r>
              <a:rPr lang="en-US" sz="1900" b="1" dirty="0">
                <a:solidFill>
                  <a:srgbClr val="D97B29"/>
                </a:solidFill>
                <a:latin typeface="Cambria" pitchFamily="34" charset="0"/>
                <a:ea typeface="Cambria" pitchFamily="34" charset="-122"/>
                <a:cs typeface="Cambria" pitchFamily="34" charset="-120"/>
              </a:rPr>
              <a:t>The division of work</a:t>
            </a:r>
            <a:endParaRPr lang="en-US" sz="1900" dirty="0"/>
          </a:p>
        </p:txBody>
      </p:sp>
      <p:sp>
        <p:nvSpPr>
          <p:cNvPr id="14" name="Text 12"/>
          <p:cNvSpPr txBox="1"/>
          <p:nvPr/>
        </p:nvSpPr>
        <p:spPr>
          <a:xfrm>
            <a:off x="8467344" y="4114800"/>
            <a:ext cx="2880360" cy="777240"/>
          </a:xfrm>
          <a:prstGeom prst="rect">
            <a:avLst/>
          </a:prstGeom>
          <a:noFill/>
          <a:ln/>
        </p:spPr>
        <p:txBody>
          <a:bodyPr wrap="square" lIns="0" tIns="0" rIns="0" bIns="0" rtlCol="0" anchor="ctr"/>
          <a:lstStyle/>
          <a:p>
            <a:pPr indent="0" marL="0">
              <a:lnSpc>
                <a:spcPts val="1900"/>
              </a:lnSpc>
              <a:buNone/>
            </a:pPr>
            <a:r>
              <a:rPr lang="en-US" sz="1350" dirty="0">
                <a:solidFill>
                  <a:srgbClr val="AEC4D1"/>
                </a:solidFill>
                <a:latin typeface="Calibri" pitchFamily="34" charset="0"/>
                <a:ea typeface="Calibri" pitchFamily="34" charset="-122"/>
                <a:cs typeface="Calibri" pitchFamily="34" charset="-120"/>
              </a:rPr>
              <a:t>What belongs to the frontend, and what must not.</a:t>
            </a:r>
            <a:endParaRPr lang="en-US" sz="1350" dirty="0"/>
          </a:p>
        </p:txBody>
      </p:sp>
      <p:sp>
        <p:nvSpPr>
          <p:cNvPr id="15" name="Text 13"/>
          <p:cNvSpPr txBox="1"/>
          <p:nvPr/>
        </p:nvSpPr>
        <p:spPr>
          <a:xfrm>
            <a:off x="594360" y="5577840"/>
            <a:ext cx="1078992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Next session  —  we build the kitchen. Your first server, running on your own machine.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 — How the Web Works</dc:title>
  <dc:subject>PptxGenJS Presentation</dc:subject>
  <dc:creator>Dr. Reddy's Foundation — Indore</dc:creator>
  <cp:lastModifiedBy>Dr. Reddy's Foundation — Indore</cp:lastModifiedBy>
  <cp:revision>1</cp:revision>
  <dcterms:created xsi:type="dcterms:W3CDTF">2026-09-03T05:15:45Z</dcterms:created>
  <dcterms:modified xsi:type="dcterms:W3CDTF">2026-09-03T05:15:45Z</dcterms:modified>
</cp:coreProperties>
</file>